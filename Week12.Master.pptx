
<file path=[Content_Types].xml><?xml version="1.0" encoding="utf-8"?>
<Types xmlns="http://schemas.openxmlformats.org/package/2006/content-types">
  <Default Extension="bmp" ContentType="image/bmp"/>
  <Default Extension="gif" ContentType="image/gif"/>
  <Default Extension="jpeg" ContentType="image/jpg"/>
  <Default Extension="mov" ContentType="application/movie"/>
  <Default Extension="pdf" ContentType="application/pdf"/>
  <Default Extension="png" ContentType="image/png"/>
  <Default Extension="rels" ContentType="application/vnd.openxmlformats-package.relationships+xml"/>
  <Default Extension="tif" ContentType="image/tif"/>
  <Default Extension="vml" ContentType="application/vnd.openxmlformats-officedocument.vmlDrawing"/>
  <Default Extension="xlsx" ContentType="application/vnd.openxmlformats-officedocument.spreadsheetml.sheet"/>
  <Default Extension="xml" ContentType="application/xml"/>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slideMasters/slideMaster1.xml" ContentType="application/vnd.openxmlformats-officedocument.presentationml.slideMaster+xml"/>
  <Override PartName="/ppt/theme/theme1.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Masters/notesMaster1.xml" ContentType="application/vnd.openxmlformats-officedocument.presentationml.notesMaster+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tableStyles.xml" ContentType="application/vnd.openxmlformats-officedocument.presentationml.tableStyles+xml"/>
  <Override PartName="/ppt/media/image1.jpeg" ContentType="image/jpeg"/>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officeDocument" Target="ppt/presentation.xml"/><Relationship Id="rId2" Type="http://schemas.openxmlformats.org/officeDocument/2006/relationships/extended-properties" Target="docProps/app.xml"/><Relationship Id="rId1"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Lst>
  <p:sldSz cx="13004800" cy="97536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ctr" defTabSz="5842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1E407C"/>
        </a:solidFill>
        <a:effectLst/>
        <a:uFillTx/>
        <a:latin typeface="Rockwell Bold"/>
        <a:ea typeface="Rockwell Bold"/>
        <a:cs typeface="Rockwell Bold"/>
        <a:sym typeface="Rockwell Bold"/>
      </a:defRPr>
    </a:lvl1pPr>
    <a:lvl2pPr marL="0" marR="0" indent="228600" algn="ctr" defTabSz="5842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1E407C"/>
        </a:solidFill>
        <a:effectLst/>
        <a:uFillTx/>
        <a:latin typeface="Rockwell Bold"/>
        <a:ea typeface="Rockwell Bold"/>
        <a:cs typeface="Rockwell Bold"/>
        <a:sym typeface="Rockwell Bold"/>
      </a:defRPr>
    </a:lvl2pPr>
    <a:lvl3pPr marL="0" marR="0" indent="457200" algn="ctr" defTabSz="5842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1E407C"/>
        </a:solidFill>
        <a:effectLst/>
        <a:uFillTx/>
        <a:latin typeface="Rockwell Bold"/>
        <a:ea typeface="Rockwell Bold"/>
        <a:cs typeface="Rockwell Bold"/>
        <a:sym typeface="Rockwell Bold"/>
      </a:defRPr>
    </a:lvl3pPr>
    <a:lvl4pPr marL="0" marR="0" indent="685800" algn="ctr" defTabSz="5842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1E407C"/>
        </a:solidFill>
        <a:effectLst/>
        <a:uFillTx/>
        <a:latin typeface="Rockwell Bold"/>
        <a:ea typeface="Rockwell Bold"/>
        <a:cs typeface="Rockwell Bold"/>
        <a:sym typeface="Rockwell Bold"/>
      </a:defRPr>
    </a:lvl4pPr>
    <a:lvl5pPr marL="0" marR="0" indent="914400" algn="ctr" defTabSz="5842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1E407C"/>
        </a:solidFill>
        <a:effectLst/>
        <a:uFillTx/>
        <a:latin typeface="Rockwell Bold"/>
        <a:ea typeface="Rockwell Bold"/>
        <a:cs typeface="Rockwell Bold"/>
        <a:sym typeface="Rockwell Bold"/>
      </a:defRPr>
    </a:lvl5pPr>
    <a:lvl6pPr marL="0" marR="0" indent="1143000" algn="ctr" defTabSz="5842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1E407C"/>
        </a:solidFill>
        <a:effectLst/>
        <a:uFillTx/>
        <a:latin typeface="Rockwell Bold"/>
        <a:ea typeface="Rockwell Bold"/>
        <a:cs typeface="Rockwell Bold"/>
        <a:sym typeface="Rockwell Bold"/>
      </a:defRPr>
    </a:lvl6pPr>
    <a:lvl7pPr marL="0" marR="0" indent="1371600" algn="ctr" defTabSz="5842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1E407C"/>
        </a:solidFill>
        <a:effectLst/>
        <a:uFillTx/>
        <a:latin typeface="Rockwell Bold"/>
        <a:ea typeface="Rockwell Bold"/>
        <a:cs typeface="Rockwell Bold"/>
        <a:sym typeface="Rockwell Bold"/>
      </a:defRPr>
    </a:lvl7pPr>
    <a:lvl8pPr marL="0" marR="0" indent="1600200" algn="ctr" defTabSz="5842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1E407C"/>
        </a:solidFill>
        <a:effectLst/>
        <a:uFillTx/>
        <a:latin typeface="Rockwell Bold"/>
        <a:ea typeface="Rockwell Bold"/>
        <a:cs typeface="Rockwell Bold"/>
        <a:sym typeface="Rockwell Bold"/>
      </a:defRPr>
    </a:lvl8pPr>
    <a:lvl9pPr marL="0" marR="0" indent="1828800" algn="ctr" defTabSz="5842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1E407C"/>
        </a:solidFill>
        <a:effectLst/>
        <a:uFillTx/>
        <a:latin typeface="Rockwell Bold"/>
        <a:ea typeface="Rockwell Bold"/>
        <a:cs typeface="Rockwell Bold"/>
        <a:sym typeface="Rockwell Bold"/>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8F44A2F1-9E1F-4B54-A3A2-5F16C0AD49E2}" styleName="">
    <a:tblBg/>
    <a:wholeTbl>
      <a:tcTxStyle b="off" i="off">
        <a:font>
          <a:latin typeface="Times New Roman"/>
          <a:ea typeface="Times New Roman"/>
          <a:cs typeface="Times New Roman"/>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wholeTbl>
    <a:band2H>
      <a:tcTxStyle b="def" i="def"/>
      <a:tcStyle>
        <a:tcBdr/>
        <a:fill>
          <a:solidFill>
            <a:srgbClr val="C5C7C9">
              <a:alpha val="30000"/>
            </a:srgbClr>
          </a:solidFill>
        </a:fill>
      </a:tcStyle>
    </a:band2H>
    <a:firstCol>
      <a:tcTxStyle b="off" i="off">
        <a:font>
          <a:latin typeface="Gill Sans"/>
          <a:ea typeface="Gill Sans"/>
          <a:cs typeface="Gill Sans"/>
        </a:font>
        <a:srgbClr val="FFFFFF"/>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Col>
    <a:lastRow>
      <a:tcTxStyle b="off" i="off">
        <a:font>
          <a:latin typeface="Gill Sans"/>
          <a:ea typeface="Gill Sans"/>
          <a:cs typeface="Gill Sans"/>
        </a:font>
        <a:srgbClr val="FFFFFF"/>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ff" i="off">
        <a:font>
          <a:latin typeface="Gill Sans"/>
          <a:ea typeface="Gill Sans"/>
          <a:cs typeface="Gill Sans"/>
        </a:font>
        <a:srgbClr val="FFFFFF"/>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Row>
  </a:tblStyle>
  <a:tblStyle styleId="{C7B018BB-80A7-4F77-B60F-C8B233D01FF8}" styleName="">
    <a:tblBg/>
    <a:wholeTbl>
      <a:tcTxStyle b="def" i="def">
        <a:font>
          <a:latin typeface="Helvetica Light"/>
          <a:ea typeface="Helvetica Light"/>
          <a:cs typeface="Helvetica Light"/>
        </a:font>
        <a:srgbClr val="000000"/>
      </a:tcTxStyle>
      <a:tcStyle>
        <a:tcBdr>
          <a:left>
            <a:ln w="3175" cap="flat">
              <a:solidFill>
                <a:srgbClr val="B8B8B8"/>
              </a:solidFill>
              <a:prstDash val="solid"/>
              <a:miter lim="400000"/>
            </a:ln>
          </a:left>
          <a:right>
            <a:ln w="3175" cap="flat">
              <a:solidFill>
                <a:srgbClr val="B8B8B8"/>
              </a:solidFill>
              <a:prstDash val="solid"/>
              <a:miter lim="400000"/>
            </a:ln>
          </a:right>
          <a:top>
            <a:ln w="3175" cap="flat">
              <a:solidFill>
                <a:srgbClr val="B8B8B8"/>
              </a:solidFill>
              <a:prstDash val="solid"/>
              <a:miter lim="400000"/>
            </a:ln>
          </a:top>
          <a:bottom>
            <a:ln w="3175" cap="flat">
              <a:solidFill>
                <a:srgbClr val="B8B8B8"/>
              </a:solidFill>
              <a:prstDash val="solid"/>
              <a:miter lim="400000"/>
            </a:ln>
          </a:bottom>
          <a:insideH>
            <a:ln w="3175" cap="flat">
              <a:solidFill>
                <a:srgbClr val="B8B8B8"/>
              </a:solidFill>
              <a:prstDash val="solid"/>
              <a:miter lim="400000"/>
            </a:ln>
          </a:insideH>
          <a:insideV>
            <a:ln w="3175" cap="flat">
              <a:solidFill>
                <a:srgbClr val="B8B8B8"/>
              </a:solidFill>
              <a:prstDash val="solid"/>
              <a:miter lim="400000"/>
            </a:ln>
          </a:insideV>
        </a:tcBdr>
        <a:fill>
          <a:solidFill>
            <a:srgbClr val="EBEBEB"/>
          </a:solidFill>
        </a:fill>
      </a:tcStyle>
    </a:wholeTbl>
    <a:band2H>
      <a:tcTxStyle b="def" i="def"/>
      <a:tcStyle>
        <a:tcBdr/>
        <a:fill>
          <a:solidFill>
            <a:srgbClr val="E1E0DA"/>
          </a:solidFill>
        </a:fill>
      </a:tcStyle>
    </a:band2H>
    <a:firstCol>
      <a:tcTxStyle b="on" i="def">
        <a:font>
          <a:latin typeface="Helvetica"/>
          <a:ea typeface="Helvetica"/>
          <a:cs typeface="Helvetica"/>
        </a:font>
        <a:srgbClr val="FFFFFF"/>
      </a:tcTxStyle>
      <a:tcStyle>
        <a:tcBdr>
          <a:left>
            <a:ln w="3175" cap="flat">
              <a:solidFill>
                <a:srgbClr val="606060"/>
              </a:solidFill>
              <a:prstDash val="solid"/>
              <a:miter lim="400000"/>
            </a:ln>
          </a:left>
          <a:right>
            <a:ln w="3175" cap="flat">
              <a:solidFill>
                <a:srgbClr val="606060"/>
              </a:solidFill>
              <a:prstDash val="solid"/>
              <a:miter lim="400000"/>
            </a:ln>
          </a:right>
          <a:top>
            <a:ln w="3175" cap="flat">
              <a:solidFill>
                <a:srgbClr val="606060"/>
              </a:solidFill>
              <a:prstDash val="solid"/>
              <a:miter lim="400000"/>
            </a:ln>
          </a:top>
          <a:bottom>
            <a:ln w="3175" cap="flat">
              <a:solidFill>
                <a:srgbClr val="606060"/>
              </a:solidFill>
              <a:prstDash val="solid"/>
              <a:miter lim="400000"/>
            </a:ln>
          </a:bottom>
          <a:insideH>
            <a:ln w="3175" cap="flat">
              <a:solidFill>
                <a:srgbClr val="606060"/>
              </a:solidFill>
              <a:prstDash val="solid"/>
              <a:miter lim="400000"/>
            </a:ln>
          </a:insideH>
          <a:insideV>
            <a:ln w="3175" cap="flat">
              <a:solidFill>
                <a:srgbClr val="606060"/>
              </a:solidFill>
              <a:prstDash val="solid"/>
              <a:miter lim="400000"/>
            </a:ln>
          </a:insideV>
        </a:tcBdr>
        <a:fill>
          <a:solidFill>
            <a:srgbClr val="5AC831"/>
          </a:solidFill>
        </a:fill>
      </a:tcStyle>
    </a:firstCol>
    <a:lastRow>
      <a:tcTxStyle b="def" i="def">
        <a:font>
          <a:latin typeface="Helvetica Light"/>
          <a:ea typeface="Helvetica Light"/>
          <a:cs typeface="Helvetica Light"/>
        </a:font>
        <a:srgbClr val="000000"/>
      </a:tcTxStyle>
      <a:tcStyle>
        <a:tcBdr>
          <a:left>
            <a:ln w="3175" cap="flat">
              <a:solidFill>
                <a:srgbClr val="B8B8B8"/>
              </a:solidFill>
              <a:prstDash val="solid"/>
              <a:miter lim="400000"/>
            </a:ln>
          </a:left>
          <a:right>
            <a:ln w="3175" cap="flat">
              <a:solidFill>
                <a:srgbClr val="B8B8B8"/>
              </a:solidFill>
              <a:prstDash val="solid"/>
              <a:miter lim="400000"/>
            </a:ln>
          </a:right>
          <a:top>
            <a:ln w="12700" cap="flat">
              <a:solidFill>
                <a:srgbClr val="606060"/>
              </a:solidFill>
              <a:prstDash val="solid"/>
              <a:miter lim="400000"/>
            </a:ln>
          </a:top>
          <a:bottom>
            <a:ln w="3175" cap="flat">
              <a:solidFill>
                <a:srgbClr val="606060"/>
              </a:solidFill>
              <a:prstDash val="solid"/>
              <a:miter lim="400000"/>
            </a:ln>
          </a:bottom>
          <a:insideH>
            <a:ln w="3175" cap="flat">
              <a:solidFill>
                <a:srgbClr val="B8B8B8"/>
              </a:solidFill>
              <a:prstDash val="solid"/>
              <a:miter lim="400000"/>
            </a:ln>
          </a:insideH>
          <a:insideV>
            <a:ln w="3175" cap="flat">
              <a:solidFill>
                <a:srgbClr val="B8B8B8"/>
              </a:solidFill>
              <a:prstDash val="solid"/>
              <a:miter lim="400000"/>
            </a:ln>
          </a:insideV>
        </a:tcBdr>
        <a:fill>
          <a:solidFill>
            <a:srgbClr val="EBEBEB"/>
          </a:solidFill>
        </a:fill>
      </a:tcStyle>
    </a:lastRow>
    <a:firstRow>
      <a:tcTxStyle b="on" i="def">
        <a:font>
          <a:latin typeface="Helvetica"/>
          <a:ea typeface="Helvetica"/>
          <a:cs typeface="Helvetica"/>
        </a:font>
        <a:srgbClr val="FFFFFF"/>
      </a:tcTxStyle>
      <a:tcStyle>
        <a:tcBdr>
          <a:left>
            <a:ln w="3175" cap="flat">
              <a:solidFill>
                <a:srgbClr val="606060"/>
              </a:solidFill>
              <a:prstDash val="solid"/>
              <a:miter lim="400000"/>
            </a:ln>
          </a:left>
          <a:right>
            <a:ln w="3175" cap="flat">
              <a:solidFill>
                <a:srgbClr val="606060"/>
              </a:solidFill>
              <a:prstDash val="solid"/>
              <a:miter lim="400000"/>
            </a:ln>
          </a:right>
          <a:top>
            <a:ln w="3175" cap="flat">
              <a:solidFill>
                <a:srgbClr val="606060"/>
              </a:solidFill>
              <a:prstDash val="solid"/>
              <a:miter lim="400000"/>
            </a:ln>
          </a:top>
          <a:bottom>
            <a:ln w="3175" cap="flat">
              <a:solidFill>
                <a:srgbClr val="606060"/>
              </a:solidFill>
              <a:prstDash val="solid"/>
              <a:miter lim="400000"/>
            </a:ln>
          </a:bottom>
          <a:insideH>
            <a:ln w="3175" cap="flat">
              <a:solidFill>
                <a:srgbClr val="606060"/>
              </a:solidFill>
              <a:prstDash val="solid"/>
              <a:miter lim="400000"/>
            </a:ln>
          </a:insideH>
          <a:insideV>
            <a:ln w="3175" cap="flat">
              <a:solidFill>
                <a:srgbClr val="606060"/>
              </a:solidFill>
              <a:prstDash val="solid"/>
              <a:miter lim="400000"/>
            </a:ln>
          </a:insideV>
        </a:tcBdr>
        <a:fill>
          <a:solidFill>
            <a:schemeClr val="accent2"/>
          </a:solidFill>
        </a:fill>
      </a:tcStyle>
    </a:firstRow>
  </a:tblStyle>
  <a:tblStyle styleId="{EEE7283C-3CF3-47DC-8721-378D4A62B228}" styleName="">
    <a:tblBg/>
    <a:wholeTbl>
      <a:tcTxStyle b="def" i="def">
        <a:font>
          <a:latin typeface="Helvetica Light"/>
          <a:ea typeface="Helvetica Light"/>
          <a:cs typeface="Helvetica Light"/>
        </a:font>
        <a:srgbClr val="000000"/>
      </a:tcTxStyle>
      <a:tcStyle>
        <a:tcBdr>
          <a:left>
            <a:ln w="3175" cap="flat">
              <a:solidFill>
                <a:srgbClr val="5D5D5D"/>
              </a:solidFill>
              <a:custDash>
                <a:ds d="200000" sp="200000"/>
              </a:custDash>
              <a:miter lim="400000"/>
            </a:ln>
          </a:left>
          <a:right>
            <a:ln w="3175" cap="flat">
              <a:solidFill>
                <a:srgbClr val="5D5D5D"/>
              </a:solidFill>
              <a:custDash>
                <a:ds d="200000" sp="200000"/>
              </a:custDash>
              <a:miter lim="400000"/>
            </a:ln>
          </a:right>
          <a:top>
            <a:ln w="3175" cap="flat">
              <a:solidFill>
                <a:srgbClr val="5D5D5D"/>
              </a:solidFill>
              <a:custDash>
                <a:ds d="200000" sp="200000"/>
              </a:custDash>
              <a:miter lim="400000"/>
            </a:ln>
          </a:top>
          <a:bottom>
            <a:ln w="3175" cap="flat">
              <a:solidFill>
                <a:srgbClr val="5D5D5D"/>
              </a:solidFill>
              <a:custDash>
                <a:ds d="200000" sp="200000"/>
              </a:custDash>
              <a:miter lim="400000"/>
            </a:ln>
          </a:bottom>
          <a:insideH>
            <a:ln w="3175" cap="flat">
              <a:solidFill>
                <a:srgbClr val="5D5D5D"/>
              </a:solidFill>
              <a:custDash>
                <a:ds d="200000" sp="200000"/>
              </a:custDash>
              <a:miter lim="400000"/>
            </a:ln>
          </a:insideH>
          <a:insideV>
            <a:ln w="3175" cap="flat">
              <a:solidFill>
                <a:srgbClr val="5D5D5D"/>
              </a:solidFill>
              <a:custDash>
                <a:ds d="200000" sp="200000"/>
              </a:custDash>
              <a:miter lim="400000"/>
            </a:ln>
          </a:insideV>
        </a:tcBdr>
        <a:fill>
          <a:solidFill>
            <a:srgbClr val="E6E3D7"/>
          </a:solidFill>
        </a:fill>
      </a:tcStyle>
    </a:wholeTbl>
    <a:band2H>
      <a:tcTxStyle b="def" i="def"/>
      <a:tcStyle>
        <a:tcBdr/>
        <a:fill>
          <a:solidFill>
            <a:srgbClr val="C3C2C2"/>
          </a:solidFill>
        </a:fill>
      </a:tcStyle>
    </a:band2H>
    <a:firstCol>
      <a:tcTxStyle b="on" i="def">
        <a:font>
          <a:latin typeface="Helvetica"/>
          <a:ea typeface="Helvetica"/>
          <a:cs typeface="Helvetica"/>
        </a:font>
        <a:srgbClr val="FFFFFF"/>
      </a:tcTxStyle>
      <a:tcStyle>
        <a:tcBdr>
          <a:left>
            <a:ln w="3175" cap="flat">
              <a:solidFill>
                <a:srgbClr val="5D5D5D"/>
              </a:solidFill>
              <a:prstDash val="solid"/>
              <a:miter lim="400000"/>
            </a:ln>
          </a:left>
          <a:right>
            <a:ln w="3175" cap="flat">
              <a:solidFill>
                <a:srgbClr val="5D5D5D"/>
              </a:solidFill>
              <a:prstDash val="solid"/>
              <a:miter lim="400000"/>
            </a:ln>
          </a:right>
          <a:top>
            <a:ln w="3175" cap="flat">
              <a:solidFill>
                <a:srgbClr val="5D5D5D"/>
              </a:solidFill>
              <a:prstDash val="solid"/>
              <a:miter lim="400000"/>
            </a:ln>
          </a:top>
          <a:bottom>
            <a:ln w="3175" cap="flat">
              <a:solidFill>
                <a:srgbClr val="5D5D5D"/>
              </a:solidFill>
              <a:prstDash val="solid"/>
              <a:miter lim="400000"/>
            </a:ln>
          </a:bottom>
          <a:insideH>
            <a:ln w="3175" cap="flat">
              <a:solidFill>
                <a:srgbClr val="5D5D5D"/>
              </a:solidFill>
              <a:prstDash val="solid"/>
              <a:miter lim="400000"/>
            </a:ln>
          </a:insideH>
          <a:insideV>
            <a:ln w="3175" cap="flat">
              <a:solidFill>
                <a:srgbClr val="5D5D5D"/>
              </a:solidFill>
              <a:prstDash val="solid"/>
              <a:miter lim="400000"/>
            </a:ln>
          </a:insideV>
        </a:tcBdr>
        <a:fill>
          <a:solidFill>
            <a:srgbClr val="909C99"/>
          </a:solidFill>
        </a:fill>
      </a:tcStyle>
    </a:firstCol>
    <a:lastRow>
      <a:tcTxStyle b="on" i="def">
        <a:font>
          <a:latin typeface="Helvetica"/>
          <a:ea typeface="Helvetica"/>
          <a:cs typeface="Helvetica"/>
        </a:font>
        <a:srgbClr val="FFFFFF"/>
      </a:tcTxStyle>
      <a:tcStyle>
        <a:tcBdr>
          <a:left>
            <a:ln w="3175" cap="flat">
              <a:solidFill>
                <a:srgbClr val="5D5D5D"/>
              </a:solidFill>
              <a:prstDash val="solid"/>
              <a:miter lim="400000"/>
            </a:ln>
          </a:left>
          <a:right>
            <a:ln w="3175" cap="flat">
              <a:solidFill>
                <a:srgbClr val="5D5D5D"/>
              </a:solidFill>
              <a:prstDash val="solid"/>
              <a:miter lim="400000"/>
            </a:ln>
          </a:right>
          <a:top>
            <a:ln w="3175" cap="flat">
              <a:solidFill>
                <a:srgbClr val="5D5D5D"/>
              </a:solidFill>
              <a:prstDash val="solid"/>
              <a:miter lim="400000"/>
            </a:ln>
          </a:top>
          <a:bottom>
            <a:ln w="3175" cap="flat">
              <a:solidFill>
                <a:srgbClr val="5D5D5D"/>
              </a:solidFill>
              <a:prstDash val="solid"/>
              <a:miter lim="400000"/>
            </a:ln>
          </a:bottom>
          <a:insideH>
            <a:ln w="3175" cap="flat">
              <a:solidFill>
                <a:srgbClr val="5D5D5D"/>
              </a:solidFill>
              <a:prstDash val="solid"/>
              <a:miter lim="400000"/>
            </a:ln>
          </a:insideH>
          <a:insideV>
            <a:ln w="3175" cap="flat">
              <a:solidFill>
                <a:srgbClr val="5D5D5D"/>
              </a:solidFill>
              <a:prstDash val="solid"/>
              <a:miter lim="400000"/>
            </a:ln>
          </a:insideV>
        </a:tcBdr>
        <a:fill>
          <a:solidFill>
            <a:srgbClr val="97764E"/>
          </a:solidFill>
        </a:fill>
      </a:tcStyle>
    </a:lastRow>
    <a:firstRow>
      <a:tcTxStyle b="on" i="def">
        <a:font>
          <a:latin typeface="Helvetica"/>
          <a:ea typeface="Helvetica"/>
          <a:cs typeface="Helvetica"/>
        </a:font>
        <a:srgbClr val="FFFFFF"/>
      </a:tcTxStyle>
      <a:tcStyle>
        <a:tcBdr>
          <a:left>
            <a:ln w="3175" cap="flat">
              <a:solidFill>
                <a:srgbClr val="5D5D5D"/>
              </a:solidFill>
              <a:prstDash val="solid"/>
              <a:miter lim="400000"/>
            </a:ln>
          </a:left>
          <a:right>
            <a:ln w="3175" cap="flat">
              <a:solidFill>
                <a:srgbClr val="5D5D5D"/>
              </a:solidFill>
              <a:prstDash val="solid"/>
              <a:miter lim="400000"/>
            </a:ln>
          </a:right>
          <a:top>
            <a:ln w="3175" cap="flat">
              <a:solidFill>
                <a:srgbClr val="5D5D5D"/>
              </a:solidFill>
              <a:prstDash val="solid"/>
              <a:miter lim="400000"/>
            </a:ln>
          </a:top>
          <a:bottom>
            <a:ln w="3175" cap="flat">
              <a:solidFill>
                <a:srgbClr val="5D5D5D"/>
              </a:solidFill>
              <a:prstDash val="solid"/>
              <a:miter lim="400000"/>
            </a:ln>
          </a:bottom>
          <a:insideH>
            <a:ln w="3175" cap="flat">
              <a:solidFill>
                <a:srgbClr val="5D5D5D"/>
              </a:solidFill>
              <a:prstDash val="solid"/>
              <a:miter lim="400000"/>
            </a:ln>
          </a:insideH>
          <a:insideV>
            <a:ln w="3175" cap="flat">
              <a:solidFill>
                <a:srgbClr val="5D5D5D"/>
              </a:solidFill>
              <a:prstDash val="solid"/>
              <a:miter lim="400000"/>
            </a:ln>
          </a:insideV>
        </a:tcBdr>
        <a:fill>
          <a:solidFill>
            <a:srgbClr val="97764E"/>
          </a:solidFill>
        </a:fill>
      </a:tcStyle>
    </a:firstRow>
  </a:tblStyle>
  <a:tblStyle styleId="{CF821DB8-F4EB-4A41-A1BA-3FCAFE7338EE}" styleName="">
    <a:tblBg/>
    <a:wholeTbl>
      <a:tcTxStyle b="def" i="def">
        <a:font>
          <a:latin typeface="Helvetica Light"/>
          <a:ea typeface="Helvetica Light"/>
          <a:cs typeface="Helvetica Light"/>
        </a:font>
        <a:srgbClr val="000000"/>
      </a:tcTxStyle>
      <a:tcStyle>
        <a:tcBdr>
          <a:left>
            <a:ln w="3175" cap="flat">
              <a:solidFill>
                <a:srgbClr val="000000"/>
              </a:solidFill>
              <a:prstDash val="solid"/>
              <a:miter lim="400000"/>
            </a:ln>
          </a:left>
          <a:right>
            <a:ln w="3175" cap="flat">
              <a:solidFill>
                <a:srgbClr val="000000"/>
              </a:solidFill>
              <a:prstDash val="solid"/>
              <a:miter lim="400000"/>
            </a:ln>
          </a:right>
          <a:top>
            <a:ln w="3175" cap="flat">
              <a:solidFill>
                <a:srgbClr val="000000"/>
              </a:solidFill>
              <a:prstDash val="solid"/>
              <a:miter lim="400000"/>
            </a:ln>
          </a:top>
          <a:bottom>
            <a:ln w="3175" cap="flat">
              <a:solidFill>
                <a:srgbClr val="000000"/>
              </a:solidFill>
              <a:prstDash val="solid"/>
              <a:miter lim="400000"/>
            </a:ln>
          </a:bottom>
          <a:insideH>
            <a:ln w="3175" cap="flat">
              <a:solidFill>
                <a:srgbClr val="000000"/>
              </a:solidFill>
              <a:prstDash val="solid"/>
              <a:miter lim="400000"/>
            </a:ln>
          </a:insideH>
          <a:insideV>
            <a:ln w="3175" cap="flat">
              <a:solidFill>
                <a:srgbClr val="000000"/>
              </a:solidFill>
              <a:prstDash val="solid"/>
              <a:miter lim="400000"/>
            </a:ln>
          </a:insideV>
        </a:tcBdr>
        <a:fill>
          <a:solidFill>
            <a:srgbClr val="EBEBEB"/>
          </a:solidFill>
        </a:fill>
      </a:tcStyle>
    </a:wholeTbl>
    <a:band2H>
      <a:tcTxStyle b="def" i="def"/>
      <a:tcStyle>
        <a:tcBdr/>
        <a:fill>
          <a:solidFill>
            <a:srgbClr val="DCE5E6"/>
          </a:solidFill>
        </a:fill>
      </a:tcStyle>
    </a:band2H>
    <a:firstCol>
      <a:tcTxStyle b="on" i="def">
        <a:font>
          <a:latin typeface="Helvetica"/>
          <a:ea typeface="Helvetica"/>
          <a:cs typeface="Helvetica"/>
        </a:font>
        <a:srgbClr val="FFFFFF"/>
      </a:tcTxStyle>
      <a:tcStyle>
        <a:tcBdr>
          <a:left>
            <a:ln w="3175" cap="flat">
              <a:solidFill>
                <a:srgbClr val="000000"/>
              </a:solidFill>
              <a:prstDash val="solid"/>
              <a:miter lim="400000"/>
            </a:ln>
          </a:left>
          <a:right>
            <a:ln w="3175" cap="flat">
              <a:solidFill>
                <a:srgbClr val="000000"/>
              </a:solidFill>
              <a:prstDash val="solid"/>
              <a:miter lim="400000"/>
            </a:ln>
          </a:right>
          <a:top>
            <a:ln w="3175" cap="flat">
              <a:solidFill>
                <a:srgbClr val="000000"/>
              </a:solidFill>
              <a:prstDash val="solid"/>
              <a:miter lim="400000"/>
            </a:ln>
          </a:top>
          <a:bottom>
            <a:ln w="3175" cap="flat">
              <a:solidFill>
                <a:srgbClr val="000000"/>
              </a:solidFill>
              <a:prstDash val="solid"/>
              <a:miter lim="400000"/>
            </a:ln>
          </a:bottom>
          <a:insideH>
            <a:ln w="3175" cap="flat">
              <a:solidFill>
                <a:srgbClr val="000000"/>
              </a:solidFill>
              <a:prstDash val="solid"/>
              <a:miter lim="400000"/>
            </a:ln>
          </a:insideH>
          <a:insideV>
            <a:ln w="3175" cap="flat">
              <a:solidFill>
                <a:srgbClr val="000000"/>
              </a:solidFill>
              <a:prstDash val="solid"/>
              <a:miter lim="400000"/>
            </a:ln>
          </a:insideV>
        </a:tcBdr>
        <a:fill>
          <a:solidFill>
            <a:srgbClr val="5E7790"/>
          </a:solidFill>
        </a:fill>
      </a:tcStyle>
    </a:firstCol>
    <a:lastRow>
      <a:tcTxStyle b="on" i="def">
        <a:font>
          <a:latin typeface="Helvetica"/>
          <a:ea typeface="Helvetica"/>
          <a:cs typeface="Helvetica"/>
        </a:font>
        <a:srgbClr val="FFFFFF"/>
      </a:tcTxStyle>
      <a:tcStyle>
        <a:tcBdr>
          <a:left>
            <a:ln w="3175" cap="flat">
              <a:solidFill>
                <a:srgbClr val="000000"/>
              </a:solidFill>
              <a:prstDash val="solid"/>
              <a:miter lim="400000"/>
            </a:ln>
          </a:left>
          <a:right>
            <a:ln w="3175" cap="flat">
              <a:solidFill>
                <a:srgbClr val="000000"/>
              </a:solidFill>
              <a:prstDash val="solid"/>
              <a:miter lim="400000"/>
            </a:ln>
          </a:right>
          <a:top>
            <a:ln w="3175" cap="flat">
              <a:solidFill>
                <a:srgbClr val="000000"/>
              </a:solidFill>
              <a:prstDash val="solid"/>
              <a:miter lim="400000"/>
            </a:ln>
          </a:top>
          <a:bottom>
            <a:ln w="3175" cap="flat">
              <a:solidFill>
                <a:srgbClr val="000000"/>
              </a:solidFill>
              <a:prstDash val="solid"/>
              <a:miter lim="400000"/>
            </a:ln>
          </a:bottom>
          <a:insideH>
            <a:ln w="3175" cap="flat">
              <a:solidFill>
                <a:srgbClr val="000000"/>
              </a:solidFill>
              <a:prstDash val="solid"/>
              <a:miter lim="400000"/>
            </a:ln>
          </a:insideH>
          <a:insideV>
            <a:ln w="3175" cap="flat">
              <a:solidFill>
                <a:srgbClr val="000000"/>
              </a:solidFill>
              <a:prstDash val="solid"/>
              <a:miter lim="400000"/>
            </a:ln>
          </a:insideV>
        </a:tcBdr>
        <a:fill>
          <a:solidFill>
            <a:srgbClr val="5E7790"/>
          </a:solidFill>
        </a:fill>
      </a:tcStyle>
    </a:lastRow>
    <a:firstRow>
      <a:tcTxStyle b="on" i="def">
        <a:font>
          <a:latin typeface="Helvetica"/>
          <a:ea typeface="Helvetica"/>
          <a:cs typeface="Helvetica"/>
        </a:font>
        <a:srgbClr val="FFFFFF"/>
      </a:tcTxStyle>
      <a:tcStyle>
        <a:tcBdr>
          <a:left>
            <a:ln w="3175" cap="flat">
              <a:solidFill>
                <a:srgbClr val="000000"/>
              </a:solidFill>
              <a:prstDash val="solid"/>
              <a:miter lim="400000"/>
            </a:ln>
          </a:left>
          <a:right>
            <a:ln w="3175" cap="flat">
              <a:solidFill>
                <a:srgbClr val="000000"/>
              </a:solidFill>
              <a:prstDash val="solid"/>
              <a:miter lim="400000"/>
            </a:ln>
          </a:right>
          <a:top>
            <a:ln w="3175" cap="flat">
              <a:solidFill>
                <a:srgbClr val="000000"/>
              </a:solidFill>
              <a:prstDash val="solid"/>
              <a:miter lim="400000"/>
            </a:ln>
          </a:top>
          <a:bottom>
            <a:ln w="3175" cap="flat">
              <a:solidFill>
                <a:srgbClr val="000000"/>
              </a:solidFill>
              <a:prstDash val="solid"/>
              <a:miter lim="400000"/>
            </a:ln>
          </a:bottom>
          <a:insideH>
            <a:ln w="3175" cap="flat">
              <a:solidFill>
                <a:srgbClr val="000000"/>
              </a:solidFill>
              <a:prstDash val="solid"/>
              <a:miter lim="400000"/>
            </a:ln>
          </a:insideH>
          <a:insideV>
            <a:ln w="3175" cap="flat">
              <a:solidFill>
                <a:srgbClr val="000000"/>
              </a:solidFill>
              <a:prstDash val="solid"/>
              <a:miter lim="400000"/>
            </a:ln>
          </a:insideV>
        </a:tcBdr>
        <a:fill>
          <a:solidFill>
            <a:srgbClr val="5E7790"/>
          </a:solidFill>
        </a:fill>
      </a:tcStyle>
    </a:firstRow>
  </a:tblStyle>
  <a:tblStyle styleId="{33BA23B1-9221-436E-865A-0063620EA4FD}" styleName="">
    <a:tblBg/>
    <a:wholeTbl>
      <a:tcTxStyle b="def" i="def">
        <a:font>
          <a:latin typeface="Helvetica Light"/>
          <a:ea typeface="Helvetica Light"/>
          <a:cs typeface="Helvetica Light"/>
        </a:font>
        <a:srgbClr val="000000"/>
      </a:tcTxStyle>
      <a:tcStyle>
        <a:tcBdr>
          <a:left>
            <a:ln w="3175" cap="flat">
              <a:solidFill>
                <a:srgbClr val="FFFFFF"/>
              </a:solidFill>
              <a:prstDash val="solid"/>
              <a:miter lim="400000"/>
            </a:ln>
          </a:left>
          <a:right>
            <a:ln w="3175" cap="flat">
              <a:solidFill>
                <a:srgbClr val="FFFFFF"/>
              </a:solidFill>
              <a:prstDash val="solid"/>
              <a:miter lim="400000"/>
            </a:ln>
          </a:right>
          <a:top>
            <a:ln w="3175" cap="flat">
              <a:solidFill>
                <a:srgbClr val="FFFFFF"/>
              </a:solidFill>
              <a:prstDash val="solid"/>
              <a:miter lim="400000"/>
            </a:ln>
          </a:top>
          <a:bottom>
            <a:ln w="3175" cap="flat">
              <a:solidFill>
                <a:srgbClr val="FFFFFF"/>
              </a:solidFill>
              <a:prstDash val="solid"/>
              <a:miter lim="400000"/>
            </a:ln>
          </a:bottom>
          <a:insideH>
            <a:ln w="3175" cap="flat">
              <a:solidFill>
                <a:srgbClr val="FFFFFF"/>
              </a:solidFill>
              <a:prstDash val="solid"/>
              <a:miter lim="400000"/>
            </a:ln>
          </a:insideH>
          <a:insideV>
            <a:ln w="3175" cap="flat">
              <a:solidFill>
                <a:srgbClr val="FFFFFF"/>
              </a:solidFill>
              <a:prstDash val="solid"/>
              <a:miter lim="400000"/>
            </a:ln>
          </a:insideV>
        </a:tcBdr>
        <a:fill>
          <a:solidFill>
            <a:srgbClr val="D0D1D2"/>
          </a:solidFill>
        </a:fill>
      </a:tcStyle>
    </a:wholeTbl>
    <a:band2H>
      <a:tcTxStyle b="def" i="def"/>
      <a:tcStyle>
        <a:tcBdr/>
        <a:fill>
          <a:solidFill>
            <a:srgbClr val="DEDEDF"/>
          </a:solidFill>
        </a:fill>
      </a:tcStyle>
    </a:band2H>
    <a:firstCol>
      <a:tcTxStyle b="on" i="def">
        <a:font>
          <a:latin typeface="Helvetica"/>
          <a:ea typeface="Helvetica"/>
          <a:cs typeface="Helvetica"/>
        </a:font>
        <a:srgbClr val="FFFFFF"/>
      </a:tcTxStyle>
      <a:tcStyle>
        <a:tcBdr>
          <a:left>
            <a:ln w="3175" cap="flat">
              <a:solidFill>
                <a:srgbClr val="FFFFFF"/>
              </a:solidFill>
              <a:prstDash val="solid"/>
              <a:miter lim="400000"/>
            </a:ln>
          </a:left>
          <a:right>
            <a:ln w="3175" cap="flat">
              <a:solidFill>
                <a:srgbClr val="FFFFFF"/>
              </a:solidFill>
              <a:prstDash val="solid"/>
              <a:miter lim="400000"/>
            </a:ln>
          </a:right>
          <a:top>
            <a:ln w="3175" cap="flat">
              <a:solidFill>
                <a:srgbClr val="FFFFFF"/>
              </a:solidFill>
              <a:prstDash val="solid"/>
              <a:miter lim="400000"/>
            </a:ln>
          </a:top>
          <a:bottom>
            <a:ln w="3175" cap="flat">
              <a:solidFill>
                <a:srgbClr val="FFFFFF"/>
              </a:solidFill>
              <a:prstDash val="solid"/>
              <a:miter lim="400000"/>
            </a:ln>
          </a:bottom>
          <a:insideH>
            <a:ln w="3175" cap="flat">
              <a:solidFill>
                <a:srgbClr val="FFFFFF"/>
              </a:solidFill>
              <a:prstDash val="solid"/>
              <a:miter lim="400000"/>
            </a:ln>
          </a:insideH>
          <a:insideV>
            <a:ln w="3175" cap="flat">
              <a:solidFill>
                <a:srgbClr val="FFFFFF"/>
              </a:solidFill>
              <a:prstDash val="solid"/>
              <a:miter lim="400000"/>
            </a:ln>
          </a:insideV>
        </a:tcBdr>
        <a:fill>
          <a:solidFill>
            <a:srgbClr val="535761"/>
          </a:solidFill>
        </a:fill>
      </a:tcStyle>
    </a:firstCol>
    <a:lastRow>
      <a:tcTxStyle b="on" i="def">
        <a:font>
          <a:latin typeface="Helvetica"/>
          <a:ea typeface="Helvetica"/>
          <a:cs typeface="Helvetica"/>
        </a:font>
        <a:srgbClr val="FFFFFF"/>
      </a:tcTxStyle>
      <a:tcStyle>
        <a:tcBdr>
          <a:left>
            <a:ln w="3175" cap="flat">
              <a:solidFill>
                <a:srgbClr val="FFFFFF"/>
              </a:solidFill>
              <a:prstDash val="solid"/>
              <a:miter lim="400000"/>
            </a:ln>
          </a:left>
          <a:right>
            <a:ln w="3175" cap="flat">
              <a:solidFill>
                <a:srgbClr val="FFFFFF"/>
              </a:solidFill>
              <a:prstDash val="solid"/>
              <a:miter lim="400000"/>
            </a:ln>
          </a:right>
          <a:top>
            <a:ln w="3175" cap="flat">
              <a:solidFill>
                <a:srgbClr val="FFFFFF"/>
              </a:solidFill>
              <a:prstDash val="solid"/>
              <a:miter lim="400000"/>
            </a:ln>
          </a:top>
          <a:bottom>
            <a:ln w="3175" cap="flat">
              <a:solidFill>
                <a:srgbClr val="FFFFFF"/>
              </a:solidFill>
              <a:prstDash val="solid"/>
              <a:miter lim="400000"/>
            </a:ln>
          </a:bottom>
          <a:insideH>
            <a:ln w="3175" cap="flat">
              <a:solidFill>
                <a:srgbClr val="FFFFFF"/>
              </a:solidFill>
              <a:prstDash val="solid"/>
              <a:miter lim="400000"/>
            </a:ln>
          </a:insideH>
          <a:insideV>
            <a:ln w="3175" cap="flat">
              <a:solidFill>
                <a:srgbClr val="FFFFFF"/>
              </a:solidFill>
              <a:prstDash val="solid"/>
              <a:miter lim="400000"/>
            </a:ln>
          </a:insideV>
        </a:tcBdr>
        <a:fill>
          <a:solidFill>
            <a:srgbClr val="909398"/>
          </a:solidFill>
        </a:fill>
      </a:tcStyle>
    </a:lastRow>
    <a:firstRow>
      <a:tcTxStyle b="on" i="def">
        <a:font>
          <a:latin typeface="Helvetica"/>
          <a:ea typeface="Helvetica"/>
          <a:cs typeface="Helvetica"/>
        </a:font>
        <a:srgbClr val="FFFFFF"/>
      </a:tcTxStyle>
      <a:tcStyle>
        <a:tcBdr>
          <a:left>
            <a:ln w="3175" cap="flat">
              <a:solidFill>
                <a:srgbClr val="FFFFFF"/>
              </a:solidFill>
              <a:prstDash val="solid"/>
              <a:miter lim="400000"/>
            </a:ln>
          </a:left>
          <a:right>
            <a:ln w="3175" cap="flat">
              <a:solidFill>
                <a:srgbClr val="FFFFFF"/>
              </a:solidFill>
              <a:prstDash val="solid"/>
              <a:miter lim="400000"/>
            </a:ln>
          </a:right>
          <a:top>
            <a:ln w="3175" cap="flat">
              <a:solidFill>
                <a:srgbClr val="FFFFFF"/>
              </a:solidFill>
              <a:prstDash val="solid"/>
              <a:miter lim="400000"/>
            </a:ln>
          </a:top>
          <a:bottom>
            <a:ln w="3175" cap="flat">
              <a:solidFill>
                <a:srgbClr val="FFFFFF"/>
              </a:solidFill>
              <a:prstDash val="solid"/>
              <a:miter lim="400000"/>
            </a:ln>
          </a:bottom>
          <a:insideH>
            <a:ln w="3175" cap="flat">
              <a:solidFill>
                <a:srgbClr val="FFFFFF"/>
              </a:solidFill>
              <a:prstDash val="solid"/>
              <a:miter lim="400000"/>
            </a:ln>
          </a:insideH>
          <a:insideV>
            <a:ln w="3175" cap="flat">
              <a:solidFill>
                <a:srgbClr val="FFFFFF"/>
              </a:solidFill>
              <a:prstDash val="solid"/>
              <a:miter lim="400000"/>
            </a:ln>
          </a:insideV>
        </a:tcBdr>
        <a:fill>
          <a:solidFill>
            <a:srgbClr val="767C85"/>
          </a:solidFill>
        </a:fill>
      </a:tcStyle>
    </a:firstRow>
  </a:tblStyle>
  <a:tblStyle styleId="{2708684C-4D16-4618-839F-0558EEFCDFE6}" styleName="">
    <a:tblBg/>
    <a:wholeTbl>
      <a:tcTxStyle b="def" i="def">
        <a:font>
          <a:latin typeface="Helvetica Light"/>
          <a:ea typeface="Helvetica Light"/>
          <a:cs typeface="Helvetica Light"/>
        </a:font>
        <a:srgbClr val="000000"/>
      </a:tcTxStyle>
      <a:tcStyle>
        <a:tcBdr>
          <a:left>
            <a:ln w="3175" cap="flat">
              <a:solidFill>
                <a:srgbClr val="000000"/>
              </a:solidFill>
              <a:custDash>
                <a:ds d="200000" sp="200000"/>
              </a:custDash>
              <a:miter lim="400000"/>
            </a:ln>
          </a:left>
          <a:right>
            <a:ln w="3175" cap="flat">
              <a:solidFill>
                <a:srgbClr val="000000"/>
              </a:solidFill>
              <a:custDash>
                <a:ds d="200000" sp="200000"/>
              </a:custDash>
              <a:miter lim="400000"/>
            </a:ln>
          </a:right>
          <a:top>
            <a:ln w="3175" cap="flat">
              <a:solidFill>
                <a:srgbClr val="000000"/>
              </a:solidFill>
              <a:custDash>
                <a:ds d="200000" sp="200000"/>
              </a:custDash>
              <a:miter lim="400000"/>
            </a:ln>
          </a:top>
          <a:bottom>
            <a:ln w="3175" cap="flat">
              <a:solidFill>
                <a:srgbClr val="000000"/>
              </a:solidFill>
              <a:custDash>
                <a:ds d="200000" sp="200000"/>
              </a:custDash>
              <a:miter lim="400000"/>
            </a:ln>
          </a:bottom>
          <a:insideH>
            <a:ln w="3175" cap="flat">
              <a:solidFill>
                <a:srgbClr val="000000"/>
              </a:solidFill>
              <a:custDash>
                <a:ds d="200000" sp="200000"/>
              </a:custDash>
              <a:miter lim="400000"/>
            </a:ln>
          </a:insideH>
          <a:insideV>
            <a:ln w="3175" cap="flat">
              <a:solidFill>
                <a:srgbClr val="000000"/>
              </a:solidFill>
              <a:custDash>
                <a:ds d="200000" sp="200000"/>
              </a:custDash>
              <a:miter lim="400000"/>
            </a:ln>
          </a:insideV>
        </a:tcBdr>
        <a:fill>
          <a:noFill/>
        </a:fill>
      </a:tcStyle>
    </a:wholeTbl>
    <a:band2H>
      <a:tcTxStyle b="def" i="def"/>
      <a:tcStyle>
        <a:tcBdr/>
        <a:fill>
          <a:solidFill>
            <a:srgbClr val="EDEEEE"/>
          </a:solidFill>
        </a:fill>
      </a:tcStyle>
    </a:band2H>
    <a:firstCol>
      <a:tcTxStyle b="on" i="def">
        <a:font>
          <a:latin typeface="Helvetica"/>
          <a:ea typeface="Helvetica"/>
          <a:cs typeface="Helvetica"/>
        </a:font>
        <a:srgbClr val="000000"/>
      </a:tcTxStyle>
      <a:tcStyle>
        <a:tcBdr>
          <a:left>
            <a:ln w="12700" cap="flat">
              <a:noFill/>
              <a:miter lim="400000"/>
            </a:ln>
          </a:left>
          <a:right>
            <a:ln w="3175" cap="flat">
              <a:solidFill>
                <a:srgbClr val="000000"/>
              </a:solidFill>
              <a:prstDash val="solid"/>
              <a:miter lim="400000"/>
            </a:ln>
          </a:right>
          <a:top>
            <a:ln w="3175" cap="flat">
              <a:solidFill>
                <a:srgbClr val="000000"/>
              </a:solidFill>
              <a:custDash>
                <a:ds d="200000" sp="200000"/>
              </a:custDash>
              <a:miter lim="400000"/>
            </a:ln>
          </a:top>
          <a:bottom>
            <a:ln w="3175" cap="flat">
              <a:solidFill>
                <a:srgbClr val="000000"/>
              </a:solidFill>
              <a:custDash>
                <a:ds d="200000" sp="200000"/>
              </a:custDash>
              <a:miter lim="400000"/>
            </a:ln>
          </a:bottom>
          <a:insideH>
            <a:ln w="3175" cap="flat">
              <a:solidFill>
                <a:srgbClr val="000000"/>
              </a:solidFill>
              <a:custDash>
                <a:ds d="200000" sp="200000"/>
              </a:custDash>
              <a:miter lim="400000"/>
            </a:ln>
          </a:insideH>
          <a:insideV>
            <a:ln w="3175" cap="flat">
              <a:solidFill>
                <a:srgbClr val="000000"/>
              </a:solidFill>
              <a:custDash>
                <a:ds d="200000" sp="200000"/>
              </a:custDash>
              <a:miter lim="400000"/>
            </a:ln>
          </a:insideV>
        </a:tcBdr>
        <a:fill>
          <a:noFill/>
        </a:fill>
      </a:tcStyle>
    </a:firstCol>
    <a:lastRow>
      <a:tcTxStyle b="on" i="def">
        <a:font>
          <a:latin typeface="Helvetica"/>
          <a:ea typeface="Helvetica"/>
          <a:cs typeface="Helvetica"/>
        </a:font>
        <a:srgbClr val="000000"/>
      </a:tcTxStyle>
      <a:tcStyle>
        <a:tcBdr>
          <a:left>
            <a:ln w="3175" cap="flat">
              <a:solidFill>
                <a:srgbClr val="000000"/>
              </a:solidFill>
              <a:custDash>
                <a:ds d="200000" sp="200000"/>
              </a:custDash>
              <a:miter lim="400000"/>
            </a:ln>
          </a:left>
          <a:right>
            <a:ln w="3175" cap="flat">
              <a:solidFill>
                <a:srgbClr val="000000"/>
              </a:solidFill>
              <a:custDash>
                <a:ds d="200000" sp="200000"/>
              </a:custDash>
              <a:miter lim="400000"/>
            </a:ln>
          </a:right>
          <a:top>
            <a:ln w="3175" cap="flat">
              <a:solidFill>
                <a:srgbClr val="000000"/>
              </a:solidFill>
              <a:prstDash val="solid"/>
              <a:miter lim="400000"/>
            </a:ln>
          </a:top>
          <a:bottom>
            <a:ln w="12700" cap="flat">
              <a:noFill/>
              <a:miter lim="400000"/>
            </a:ln>
          </a:bottom>
          <a:insideH>
            <a:ln w="3175" cap="flat">
              <a:solidFill>
                <a:srgbClr val="000000"/>
              </a:solidFill>
              <a:custDash>
                <a:ds d="200000" sp="200000"/>
              </a:custDash>
              <a:miter lim="400000"/>
            </a:ln>
          </a:insideH>
          <a:insideV>
            <a:ln w="3175" cap="flat">
              <a:solidFill>
                <a:srgbClr val="000000"/>
              </a:solidFill>
              <a:custDash>
                <a:ds d="200000" sp="200000"/>
              </a:custDash>
              <a:miter lim="400000"/>
            </a:ln>
          </a:insideV>
        </a:tcBdr>
        <a:fill>
          <a:noFill/>
        </a:fill>
      </a:tcStyle>
    </a:lastRow>
    <a:firstRow>
      <a:tcTxStyle b="on" i="def">
        <a:font>
          <a:latin typeface="Helvetica"/>
          <a:ea typeface="Helvetica"/>
          <a:cs typeface="Helvetica"/>
        </a:font>
        <a:srgbClr val="000000"/>
      </a:tcTxStyle>
      <a:tcStyle>
        <a:tcBdr>
          <a:left>
            <a:ln w="3175" cap="flat">
              <a:solidFill>
                <a:srgbClr val="000000"/>
              </a:solidFill>
              <a:custDash>
                <a:ds d="200000" sp="200000"/>
              </a:custDash>
              <a:miter lim="400000"/>
            </a:ln>
          </a:left>
          <a:right>
            <a:ln w="3175" cap="flat">
              <a:solidFill>
                <a:srgbClr val="000000"/>
              </a:solidFill>
              <a:custDash>
                <a:ds d="200000" sp="200000"/>
              </a:custDash>
              <a:miter lim="400000"/>
            </a:ln>
          </a:right>
          <a:top>
            <a:ln w="12700" cap="flat">
              <a:noFill/>
              <a:miter lim="400000"/>
            </a:ln>
          </a:top>
          <a:bottom>
            <a:ln w="3175" cap="flat">
              <a:solidFill>
                <a:srgbClr val="000000"/>
              </a:solidFill>
              <a:prstDash val="solid"/>
              <a:miter lim="400000"/>
            </a:ln>
          </a:bottom>
          <a:insideH>
            <a:ln w="3175" cap="flat">
              <a:solidFill>
                <a:srgbClr val="000000"/>
              </a:solidFill>
              <a:custDash>
                <a:ds d="200000" sp="200000"/>
              </a:custDash>
              <a:miter lim="400000"/>
            </a:ln>
          </a:insideH>
          <a:insideV>
            <a:ln w="3175" cap="flat">
              <a:solidFill>
                <a:srgbClr val="000000"/>
              </a:solidFill>
              <a:custDash>
                <a:ds d="200000" sp="200000"/>
              </a:custDash>
              <a:miter lim="400000"/>
            </a:ln>
          </a:insideV>
        </a:tcBdr>
        <a:fill>
          <a:noFill/>
        </a:fill>
      </a:tcStyle>
    </a:firstRow>
  </a:tblStyle>
  <a:tblStyle styleId="{4C3C2611-4C71-4FC5-86AE-919BDF0F9419}" styleName="">
    <a:tblBg/>
    <a:wholeTbl>
      <a:tcTxStyle b="def" i="def">
        <a:font>
          <a:latin typeface="Helvetica Light"/>
          <a:ea typeface="Helvetica Light"/>
          <a:cs typeface="Helvetica Light"/>
        </a:font>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wholeTbl>
    <a:band2H>
      <a:tcTxStyle b="def" i="def"/>
      <a:tcStyle>
        <a:tcBdr/>
        <a:fill>
          <a:solidFill>
            <a:srgbClr val="E3E5E8"/>
          </a:solidFill>
        </a:fill>
      </a:tcStyle>
    </a:band2H>
    <a:firstCol>
      <a:tcTxStyle b="on" i="def">
        <a:font>
          <a:latin typeface="Helvetica"/>
          <a:ea typeface="Helvetica"/>
          <a:cs typeface="Helvetica"/>
        </a:font>
        <a:srgbClr val="FFFFFF"/>
      </a:tcTxStyle>
      <a:tcStyle>
        <a:tcBdr>
          <a:left>
            <a:ln w="12700" cap="flat">
              <a:noFill/>
              <a:miter lim="400000"/>
            </a:ln>
          </a:left>
          <a:right>
            <a:ln w="3175" cap="flat">
              <a:noFill/>
              <a:miter lim="400000"/>
            </a:ln>
          </a:right>
          <a:top>
            <a:ln w="12700" cap="flat">
              <a:noFill/>
              <a:miter lim="400000"/>
            </a:ln>
          </a:top>
          <a:bottom>
            <a:ln w="12700" cap="flat">
              <a:noFill/>
              <a:miter lim="400000"/>
            </a:ln>
          </a:bottom>
          <a:insideH>
            <a:ln w="12700" cap="flat">
              <a:noFill/>
              <a:miter lim="400000"/>
            </a:ln>
          </a:insideH>
          <a:insideV>
            <a:ln w="3175" cap="flat">
              <a:noFill/>
              <a:miter lim="400000"/>
            </a:ln>
          </a:insideV>
        </a:tcBdr>
        <a:fill>
          <a:solidFill>
            <a:srgbClr val="398CCE"/>
          </a:solidFill>
        </a:fill>
      </a:tcStyle>
    </a:firstCol>
    <a:lastRow>
      <a:tcTxStyle b="def" i="def">
        <a:font>
          <a:latin typeface="Helvetica Light"/>
          <a:ea typeface="Helvetica Light"/>
          <a:cs typeface="Helvetica Light"/>
        </a:font>
        <a:srgbClr val="000000"/>
      </a:tcTxStyle>
      <a:tcStyle>
        <a:tcBdr>
          <a:left>
            <a:ln w="12700" cap="flat">
              <a:noFill/>
              <a:miter lim="400000"/>
            </a:ln>
          </a:left>
          <a:right>
            <a:ln w="12700" cap="flat">
              <a:noFill/>
              <a:miter lim="400000"/>
            </a:ln>
          </a:right>
          <a:top>
            <a:ln w="3175" cap="flat">
              <a:solidFill>
                <a:srgbClr val="3797C6"/>
              </a:solidFill>
              <a:prstDash val="solid"/>
              <a:miter lim="400000"/>
            </a:ln>
          </a:top>
          <a:bottom>
            <a:ln w="12700" cap="flat">
              <a:noFill/>
              <a:miter lim="400000"/>
            </a:ln>
          </a:bottom>
          <a:insideH>
            <a:ln w="3175" cap="flat">
              <a:noFill/>
              <a:miter lim="400000"/>
            </a:ln>
          </a:insideH>
          <a:insideV>
            <a:ln w="12700" cap="flat">
              <a:noFill/>
              <a:miter lim="400000"/>
            </a:ln>
          </a:insideV>
        </a:tcBdr>
        <a:fill>
          <a:solidFill>
            <a:srgbClr val="FFFFFF"/>
          </a:solidFill>
        </a:fill>
      </a:tcStyle>
    </a:lastRow>
    <a:firstRow>
      <a:tcTxStyle b="on" i="def">
        <a:font>
          <a:latin typeface="Helvetica"/>
          <a:ea typeface="Helvetica"/>
          <a:cs typeface="Helvetica"/>
        </a:font>
        <a:srgbClr val="FFFFFF"/>
      </a:tcTxStyle>
      <a:tcStyle>
        <a:tcBdr>
          <a:left>
            <a:ln w="12700" cap="flat">
              <a:noFill/>
              <a:miter lim="400000"/>
            </a:ln>
          </a:left>
          <a:right>
            <a:ln w="12700" cap="flat">
              <a:noFill/>
              <a:miter lim="400000"/>
            </a:ln>
          </a:right>
          <a:top>
            <a:ln w="12700" cap="flat">
              <a:noFill/>
              <a:miter lim="400000"/>
            </a:ln>
          </a:top>
          <a:bottom>
            <a:ln w="3175" cap="flat">
              <a:noFill/>
              <a:miter lim="400000"/>
            </a:ln>
          </a:bottom>
          <a:insideH>
            <a:ln w="3175" cap="flat">
              <a:noFill/>
              <a:miter lim="400000"/>
            </a:ln>
          </a:insideH>
          <a:insideV>
            <a:ln w="12700" cap="flat">
              <a:noFill/>
              <a:miter lim="400000"/>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standalone="yes"?>
<Relationships xmlns="http://schemas.openxmlformats.org/package/2006/relationships"><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slide" Target="slides/slide19.xml"/><Relationship Id="rId39" Type="http://schemas.openxmlformats.org/officeDocument/2006/relationships/slide" Target="slides/slide32.xml"/><Relationship Id="rId21" Type="http://schemas.openxmlformats.org/officeDocument/2006/relationships/slide" Target="slides/slide14.xml"/><Relationship Id="rId34" Type="http://schemas.openxmlformats.org/officeDocument/2006/relationships/slide" Target="slides/slide27.xml"/><Relationship Id="rId42" Type="http://schemas.openxmlformats.org/officeDocument/2006/relationships/slide" Target="slides/slide35.xml"/><Relationship Id="rId47" Type="http://schemas.openxmlformats.org/officeDocument/2006/relationships/customXml" Target="../customXml/item2.xml"/><Relationship Id="rId7" Type="http://schemas.openxmlformats.org/officeDocument/2006/relationships/notesMaster" Target="notesMasters/notesMaster1.xml"/><Relationship Id="rId2" Type="http://schemas.openxmlformats.org/officeDocument/2006/relationships/viewProps" Target="viewProps.xml"/><Relationship Id="rId16" Type="http://schemas.openxmlformats.org/officeDocument/2006/relationships/slide" Target="slides/slide9.xml"/><Relationship Id="rId29" Type="http://schemas.openxmlformats.org/officeDocument/2006/relationships/slide" Target="slides/slide22.xml"/><Relationship Id="rId1" Type="http://schemas.openxmlformats.org/officeDocument/2006/relationships/presProps" Target="presProps.xml"/><Relationship Id="rId6" Type="http://schemas.openxmlformats.org/officeDocument/2006/relationships/theme" Target="theme/theme1.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slide" Target="slides/slide25.xml"/><Relationship Id="rId37" Type="http://schemas.openxmlformats.org/officeDocument/2006/relationships/slide" Target="slides/slide30.xml"/><Relationship Id="rId40" Type="http://schemas.openxmlformats.org/officeDocument/2006/relationships/slide" Target="slides/slide33.xml"/><Relationship Id="rId45" Type="http://schemas.openxmlformats.org/officeDocument/2006/relationships/slide" Target="slides/slide38.xml"/><Relationship Id="rId5" Type="http://schemas.openxmlformats.org/officeDocument/2006/relationships/slideMaster" Target="slideMasters/slideMaster1.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slide" Target="slides/slide29.xml"/><Relationship Id="rId10" Type="http://schemas.openxmlformats.org/officeDocument/2006/relationships/slide" Target="slides/slide3.xml"/><Relationship Id="rId19" Type="http://schemas.openxmlformats.org/officeDocument/2006/relationships/slide" Target="slides/slide12.xml"/><Relationship Id="rId31" Type="http://schemas.openxmlformats.org/officeDocument/2006/relationships/slide" Target="slides/slide24.xml"/><Relationship Id="rId44" Type="http://schemas.openxmlformats.org/officeDocument/2006/relationships/slide" Target="slides/slide37.xml"/><Relationship Id="rId4" Type="http://schemas.openxmlformats.org/officeDocument/2006/relationships/tableStyles" Target="tableStyles.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slide" Target="slides/slide23.xml"/><Relationship Id="rId35" Type="http://schemas.openxmlformats.org/officeDocument/2006/relationships/slide" Target="slides/slide28.xml"/><Relationship Id="rId43" Type="http://schemas.openxmlformats.org/officeDocument/2006/relationships/slide" Target="slides/slide36.xml"/><Relationship Id="rId48" Type="http://schemas.openxmlformats.org/officeDocument/2006/relationships/customXml" Target="../customXml/item3.xml"/><Relationship Id="rId8" Type="http://schemas.openxmlformats.org/officeDocument/2006/relationships/slide" Target="slides/slide1.xml"/><Relationship Id="rId3" Type="http://schemas.openxmlformats.org/officeDocument/2006/relationships/commentAuthors" Target="commentAuthors.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slide" Target="slides/slide26.xml"/><Relationship Id="rId38" Type="http://schemas.openxmlformats.org/officeDocument/2006/relationships/slide" Target="slides/slide31.xml"/><Relationship Id="rId46" Type="http://schemas.openxmlformats.org/officeDocument/2006/relationships/customXml" Target="../customXml/item1.xml"/><Relationship Id="rId20" Type="http://schemas.openxmlformats.org/officeDocument/2006/relationships/slide" Target="slides/slide13.xml"/><Relationship Id="rId41" Type="http://schemas.openxmlformats.org/officeDocument/2006/relationships/slide" Target="slides/slide34.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54" name="Shape 54"/>
          <p:cNvSpPr/>
          <p:nvPr>
            <p:ph type="sldImg"/>
          </p:nvPr>
        </p:nvSpPr>
        <p:spPr>
          <a:xfrm>
            <a:off x="1143000" y="685800"/>
            <a:ext cx="4572000" cy="3429000"/>
          </a:xfrm>
          <a:prstGeom prst="rect">
            <a:avLst/>
          </a:prstGeom>
        </p:spPr>
        <p:txBody>
          <a:bodyPr/>
          <a:lstStyle/>
          <a:p>
            <a:pPr/>
          </a:p>
        </p:txBody>
      </p:sp>
      <p:sp>
        <p:nvSpPr>
          <p:cNvPr id="55" name="Shape 55"/>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defTabSz="584200" latinLnBrk="0">
      <a:defRPr sz="2200">
        <a:latin typeface="Lucida Grande"/>
        <a:ea typeface="Lucida Grande"/>
        <a:cs typeface="Lucida Grande"/>
        <a:sym typeface="Lucida Grande"/>
      </a:defRPr>
    </a:lvl1pPr>
    <a:lvl2pPr indent="228600" defTabSz="584200" latinLnBrk="0">
      <a:defRPr sz="2200">
        <a:latin typeface="Lucida Grande"/>
        <a:ea typeface="Lucida Grande"/>
        <a:cs typeface="Lucida Grande"/>
        <a:sym typeface="Lucida Grande"/>
      </a:defRPr>
    </a:lvl2pPr>
    <a:lvl3pPr indent="457200" defTabSz="584200" latinLnBrk="0">
      <a:defRPr sz="2200">
        <a:latin typeface="Lucida Grande"/>
        <a:ea typeface="Lucida Grande"/>
        <a:cs typeface="Lucida Grande"/>
        <a:sym typeface="Lucida Grande"/>
      </a:defRPr>
    </a:lvl3pPr>
    <a:lvl4pPr indent="685800" defTabSz="584200" latinLnBrk="0">
      <a:defRPr sz="2200">
        <a:latin typeface="Lucida Grande"/>
        <a:ea typeface="Lucida Grande"/>
        <a:cs typeface="Lucida Grande"/>
        <a:sym typeface="Lucida Grande"/>
      </a:defRPr>
    </a:lvl4pPr>
    <a:lvl5pPr indent="914400" defTabSz="584200" latinLnBrk="0">
      <a:defRPr sz="2200">
        <a:latin typeface="Lucida Grande"/>
        <a:ea typeface="Lucida Grande"/>
        <a:cs typeface="Lucida Grande"/>
        <a:sym typeface="Lucida Grande"/>
      </a:defRPr>
    </a:lvl5pPr>
    <a:lvl6pPr indent="1143000" defTabSz="584200" latinLnBrk="0">
      <a:defRPr sz="2200">
        <a:latin typeface="Lucida Grande"/>
        <a:ea typeface="Lucida Grande"/>
        <a:cs typeface="Lucida Grande"/>
        <a:sym typeface="Lucida Grande"/>
      </a:defRPr>
    </a:lvl6pPr>
    <a:lvl7pPr indent="1371600" defTabSz="584200" latinLnBrk="0">
      <a:defRPr sz="2200">
        <a:latin typeface="Lucida Grande"/>
        <a:ea typeface="Lucida Grande"/>
        <a:cs typeface="Lucida Grande"/>
        <a:sym typeface="Lucida Grande"/>
      </a:defRPr>
    </a:lvl7pPr>
    <a:lvl8pPr indent="1600200" defTabSz="584200" latinLnBrk="0">
      <a:defRPr sz="2200">
        <a:latin typeface="Lucida Grande"/>
        <a:ea typeface="Lucida Grande"/>
        <a:cs typeface="Lucida Grande"/>
        <a:sym typeface="Lucida Grande"/>
      </a:defRPr>
    </a:lvl8pPr>
    <a:lvl9pPr indent="1828800" defTabSz="584200" latinLnBrk="0">
      <a:defRPr sz="2200">
        <a:latin typeface="Lucida Grande"/>
        <a:ea typeface="Lucida Grande"/>
        <a:cs typeface="Lucida Grande"/>
        <a:sym typeface="Lucida Grande"/>
      </a:defRPr>
    </a:lvl9pPr>
  </p:notesStyle>
</p:notesMaster>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itle" showMasterSp="1" showMasterPhAnim="1">
  <p:cSld name="Title &amp; Subtitle">
    <p:spTree>
      <p:nvGrpSpPr>
        <p:cNvPr id="1" name=""/>
        <p:cNvGrpSpPr/>
        <p:nvPr/>
      </p:nvGrpSpPr>
      <p:grpSpPr>
        <a:xfrm>
          <a:off x="0" y="0"/>
          <a:ext cx="0" cy="0"/>
          <a:chOff x="0" y="0"/>
          <a:chExt cx="0" cy="0"/>
        </a:xfrm>
      </p:grpSpPr>
      <p:sp>
        <p:nvSpPr>
          <p:cNvPr id="14" name="Title Text"/>
          <p:cNvSpPr txBox="1"/>
          <p:nvPr>
            <p:ph type="title"/>
          </p:nvPr>
        </p:nvSpPr>
        <p:spPr>
          <a:prstGeom prst="rect">
            <a:avLst/>
          </a:prstGeom>
        </p:spPr>
        <p:txBody>
          <a:bodyPr/>
          <a:lstStyle/>
          <a:p>
            <a:pPr/>
            <a:r>
              <a:t>Title Text</a:t>
            </a:r>
          </a:p>
        </p:txBody>
      </p:sp>
      <p:sp>
        <p:nvSpPr>
          <p:cNvPr id="15" name="Slide Number"/>
          <p:cNvSpPr txBox="1"/>
          <p:nvPr>
            <p:ph type="sldNum" sz="quarter" idx="2"/>
          </p:nvPr>
        </p:nvSpPr>
        <p:spPr>
          <a:prstGeom prst="rect">
            <a:avLst/>
          </a:prstGeom>
        </p:spPr>
        <p:txBody>
          <a:bodyPr/>
          <a:lstStyle/>
          <a:p>
            <a:pPr/>
            <a:fld id="{86CB4B4D-7CA3-9044-876B-883B54F8677D}" type="slidenum"/>
          </a:p>
        </p:txBody>
      </p:sp>
      <p:sp>
        <p:nvSpPr>
          <p:cNvPr id="16" name="Body Level One…"/>
          <p:cNvSpPr txBox="1"/>
          <p:nvPr>
            <p:ph type="body" sz="quarter" idx="1"/>
          </p:nvPr>
        </p:nvSpPr>
        <p:spPr>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Title - Center">
    <p:spTree>
      <p:nvGrpSpPr>
        <p:cNvPr id="1" name=""/>
        <p:cNvGrpSpPr/>
        <p:nvPr/>
      </p:nvGrpSpPr>
      <p:grpSpPr>
        <a:xfrm>
          <a:off x="0" y="0"/>
          <a:ext cx="0" cy="0"/>
          <a:chOff x="0" y="0"/>
          <a:chExt cx="0" cy="0"/>
        </a:xfrm>
      </p:grpSpPr>
      <p:sp>
        <p:nvSpPr>
          <p:cNvPr id="23" name="Title Text"/>
          <p:cNvSpPr txBox="1"/>
          <p:nvPr>
            <p:ph type="title"/>
          </p:nvPr>
        </p:nvSpPr>
        <p:spPr>
          <a:xfrm>
            <a:off x="2578099" y="3448050"/>
            <a:ext cx="7848602" cy="1876426"/>
          </a:xfrm>
          <a:prstGeom prst="rect">
            <a:avLst/>
          </a:prstGeom>
        </p:spPr>
        <p:txBody>
          <a:bodyPr/>
          <a:lstStyle/>
          <a:p>
            <a:pPr/>
            <a:r>
              <a:t>Title Text</a:t>
            </a:r>
          </a:p>
        </p:txBody>
      </p:sp>
      <p:sp>
        <p:nvSpPr>
          <p:cNvPr id="24" name="Slide Number"/>
          <p:cNvSpPr txBox="1"/>
          <p:nvPr>
            <p:ph type="sldNum" sz="quarter" idx="2"/>
          </p:nvPr>
        </p:nvSpPr>
        <p:spPr>
          <a:xfrm>
            <a:off x="6345956" y="9369954"/>
            <a:ext cx="312888" cy="256506"/>
          </a:xfrm>
          <a:prstGeom prst="rect">
            <a:avLst/>
          </a:prstGeom>
        </p:spPr>
        <p:txBody>
          <a:bodyPr/>
          <a:lstStyle/>
          <a:p>
            <a:pPr/>
            <a:fld id="{86CB4B4D-7CA3-9044-876B-883B54F8677D}" type="slidenum"/>
          </a:p>
        </p:txBody>
      </p:sp>
      <p:sp>
        <p:nvSpPr>
          <p:cNvPr id="25" name="Discussion 32/Unit 4"/>
          <p:cNvSpPr txBox="1"/>
          <p:nvPr/>
        </p:nvSpPr>
        <p:spPr>
          <a:xfrm>
            <a:off x="153696" y="9369954"/>
            <a:ext cx="2030807" cy="256506"/>
          </a:xfrm>
          <a:prstGeom prst="rect">
            <a:avLst/>
          </a:prstGeom>
          <a:ln w="3175">
            <a:miter lim="400000"/>
          </a:ln>
          <a:extLst>
            <a:ext uri="{C572A759-6A51-4108-AA02-DFA0A04FC94B}">
              <ma14:wrappingTextBoxFlag xmlns:ma14="http://schemas.microsoft.com/office/mac/drawingml/2011/main" val="1"/>
            </a:ext>
          </a:extLst>
        </p:spPr>
        <p:txBody>
          <a:bodyPr lIns="38100" tIns="38100" rIns="38100" bIns="38100">
            <a:spAutoFit/>
          </a:bodyPr>
          <a:lstStyle/>
          <a:p>
            <a:pPr/>
            <a:r>
              <a:t>Discussion 32/Unit 4</a:t>
            </a:r>
          </a:p>
        </p:txBody>
      </p:sp>
      <p:pic>
        <p:nvPicPr>
          <p:cNvPr id="26" name="Penn State Shield logo" descr="Penn State Shield logo"/>
          <p:cNvPicPr>
            <a:picLocks noChangeAspect="1"/>
          </p:cNvPicPr>
          <p:nvPr/>
        </p:nvPicPr>
        <p:blipFill>
          <a:blip r:embed="rId2">
            <a:extLst/>
          </a:blip>
          <a:stretch>
            <a:fillRect/>
          </a:stretch>
        </p:blipFill>
        <p:spPr>
          <a:xfrm>
            <a:off x="10327551" y="8811954"/>
            <a:ext cx="2658200" cy="923772"/>
          </a:xfrm>
          <a:prstGeom prst="rect">
            <a:avLst/>
          </a:prstGeom>
          <a:ln w="3175">
            <a:miter lim="400000"/>
          </a:ln>
        </p:spPr>
      </p:pic>
      <p:sp>
        <p:nvSpPr>
          <p:cNvPr id="27" name="© 2026"/>
          <p:cNvSpPr txBox="1"/>
          <p:nvPr/>
        </p:nvSpPr>
        <p:spPr>
          <a:xfrm>
            <a:off x="12208286" y="9369954"/>
            <a:ext cx="746362" cy="256506"/>
          </a:xfrm>
          <a:prstGeom prst="rect">
            <a:avLst/>
          </a:prstGeom>
          <a:ln w="3175">
            <a:miter lim="400000"/>
          </a:ln>
          <a:extLst>
            <a:ext uri="{C572A759-6A51-4108-AA02-DFA0A04FC94B}">
              <ma14:wrappingTextBoxFlag xmlns:ma14="http://schemas.microsoft.com/office/mac/drawingml/2011/main" val="1"/>
            </a:ext>
          </a:extLst>
        </p:spPr>
        <p:txBody>
          <a:bodyPr wrap="none" lIns="38100" tIns="38100" rIns="38100" bIns="38100" anchor="ctr">
            <a:spAutoFit/>
          </a:bodyPr>
          <a:lstStyle/>
          <a:p>
            <a:pPr/>
            <a:r>
              <a:t>© 2026</a:t>
            </a:r>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Title - Top">
    <p:spTree>
      <p:nvGrpSpPr>
        <p:cNvPr id="1" name=""/>
        <p:cNvGrpSpPr/>
        <p:nvPr/>
      </p:nvGrpSpPr>
      <p:grpSpPr>
        <a:xfrm>
          <a:off x="0" y="0"/>
          <a:ext cx="0" cy="0"/>
          <a:chOff x="0" y="0"/>
          <a:chExt cx="0" cy="0"/>
        </a:xfrm>
      </p:grpSpPr>
      <p:sp>
        <p:nvSpPr>
          <p:cNvPr id="34" name="Title Text"/>
          <p:cNvSpPr txBox="1"/>
          <p:nvPr>
            <p:ph type="title"/>
          </p:nvPr>
        </p:nvSpPr>
        <p:spPr>
          <a:xfrm>
            <a:off x="2578099" y="4233"/>
            <a:ext cx="7848602" cy="885826"/>
          </a:xfrm>
          <a:prstGeom prst="rect">
            <a:avLst/>
          </a:prstGeom>
        </p:spPr>
        <p:txBody>
          <a:bodyPr anchor="b"/>
          <a:lstStyle/>
          <a:p>
            <a:pPr/>
            <a:r>
              <a:t>Title Text</a:t>
            </a:r>
          </a:p>
        </p:txBody>
      </p:sp>
      <p:sp>
        <p:nvSpPr>
          <p:cNvPr id="35" name="Slide Number"/>
          <p:cNvSpPr txBox="1"/>
          <p:nvPr>
            <p:ph type="sldNum" sz="quarter" idx="2"/>
          </p:nvPr>
        </p:nvSpPr>
        <p:spPr>
          <a:xfrm>
            <a:off x="6345956" y="9369954"/>
            <a:ext cx="312888" cy="256506"/>
          </a:xfrm>
          <a:prstGeom prst="rect">
            <a:avLst/>
          </a:prstGeom>
        </p:spPr>
        <p:txBody>
          <a:bodyPr/>
          <a:lstStyle/>
          <a:p>
            <a:pPr/>
            <a:fld id="{86CB4B4D-7CA3-9044-876B-883B54F8677D}" type="slidenum"/>
          </a:p>
        </p:txBody>
      </p:sp>
      <p:sp>
        <p:nvSpPr>
          <p:cNvPr id="36" name="Discussion 32/Unit 4"/>
          <p:cNvSpPr txBox="1"/>
          <p:nvPr/>
        </p:nvSpPr>
        <p:spPr>
          <a:xfrm>
            <a:off x="153696" y="9369954"/>
            <a:ext cx="2030807" cy="256506"/>
          </a:xfrm>
          <a:prstGeom prst="rect">
            <a:avLst/>
          </a:prstGeom>
          <a:ln w="3175">
            <a:miter lim="400000"/>
          </a:ln>
          <a:extLst>
            <a:ext uri="{C572A759-6A51-4108-AA02-DFA0A04FC94B}">
              <ma14:wrappingTextBoxFlag xmlns:ma14="http://schemas.microsoft.com/office/mac/drawingml/2011/main" val="1"/>
            </a:ext>
          </a:extLst>
        </p:spPr>
        <p:txBody>
          <a:bodyPr lIns="38100" tIns="38100" rIns="38100" bIns="38100">
            <a:spAutoFit/>
          </a:bodyPr>
          <a:lstStyle/>
          <a:p>
            <a:pPr/>
            <a:r>
              <a:t>Discussion 32/Unit 4</a:t>
            </a:r>
          </a:p>
        </p:txBody>
      </p:sp>
      <p:pic>
        <p:nvPicPr>
          <p:cNvPr id="37" name="Penn State Shield logo" descr="Penn State Shield logo"/>
          <p:cNvPicPr>
            <a:picLocks noChangeAspect="1"/>
          </p:cNvPicPr>
          <p:nvPr/>
        </p:nvPicPr>
        <p:blipFill>
          <a:blip r:embed="rId2">
            <a:extLst/>
          </a:blip>
          <a:stretch>
            <a:fillRect/>
          </a:stretch>
        </p:blipFill>
        <p:spPr>
          <a:xfrm>
            <a:off x="10327551" y="8811954"/>
            <a:ext cx="2658200" cy="923772"/>
          </a:xfrm>
          <a:prstGeom prst="rect">
            <a:avLst/>
          </a:prstGeom>
          <a:ln w="3175">
            <a:miter lim="400000"/>
          </a:ln>
        </p:spPr>
      </p:pic>
      <p:sp>
        <p:nvSpPr>
          <p:cNvPr id="38" name="© 2026"/>
          <p:cNvSpPr txBox="1"/>
          <p:nvPr/>
        </p:nvSpPr>
        <p:spPr>
          <a:xfrm>
            <a:off x="12208286" y="9369954"/>
            <a:ext cx="746362" cy="256506"/>
          </a:xfrm>
          <a:prstGeom prst="rect">
            <a:avLst/>
          </a:prstGeom>
          <a:ln w="3175">
            <a:miter lim="400000"/>
          </a:ln>
          <a:extLst>
            <a:ext uri="{C572A759-6A51-4108-AA02-DFA0A04FC94B}">
              <ma14:wrappingTextBoxFlag xmlns:ma14="http://schemas.microsoft.com/office/mac/drawingml/2011/main" val="1"/>
            </a:ext>
          </a:extLst>
        </p:spPr>
        <p:txBody>
          <a:bodyPr wrap="none" lIns="38100" tIns="38100" rIns="38100" bIns="38100" anchor="ctr">
            <a:spAutoFit/>
          </a:bodyPr>
          <a:lstStyle/>
          <a:p>
            <a:pPr/>
            <a:r>
              <a:t>© 2026</a:t>
            </a:r>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Blank">
    <p:spTree>
      <p:nvGrpSpPr>
        <p:cNvPr id="1" name=""/>
        <p:cNvGrpSpPr/>
        <p:nvPr/>
      </p:nvGrpSpPr>
      <p:grpSpPr>
        <a:xfrm>
          <a:off x="0" y="0"/>
          <a:ext cx="0" cy="0"/>
          <a:chOff x="0" y="0"/>
          <a:chExt cx="0" cy="0"/>
        </a:xfrm>
      </p:grpSpPr>
      <p:sp>
        <p:nvSpPr>
          <p:cNvPr id="45" name="Slide Number"/>
          <p:cNvSpPr txBox="1"/>
          <p:nvPr>
            <p:ph type="sldNum" sz="quarter" idx="2"/>
          </p:nvPr>
        </p:nvSpPr>
        <p:spPr>
          <a:xfrm>
            <a:off x="6345956" y="9369954"/>
            <a:ext cx="312888" cy="256506"/>
          </a:xfrm>
          <a:prstGeom prst="rect">
            <a:avLst/>
          </a:prstGeom>
        </p:spPr>
        <p:txBody>
          <a:bodyPr/>
          <a:lstStyle/>
          <a:p>
            <a:pPr/>
            <a:fld id="{86CB4B4D-7CA3-9044-876B-883B54F8677D}" type="slidenum"/>
          </a:p>
        </p:txBody>
      </p:sp>
      <p:sp>
        <p:nvSpPr>
          <p:cNvPr id="46" name="Discussion 32/Unit 4"/>
          <p:cNvSpPr txBox="1"/>
          <p:nvPr/>
        </p:nvSpPr>
        <p:spPr>
          <a:xfrm>
            <a:off x="153696" y="9369954"/>
            <a:ext cx="2030807" cy="256506"/>
          </a:xfrm>
          <a:prstGeom prst="rect">
            <a:avLst/>
          </a:prstGeom>
          <a:ln w="3175">
            <a:miter lim="400000"/>
          </a:ln>
          <a:extLst>
            <a:ext uri="{C572A759-6A51-4108-AA02-DFA0A04FC94B}">
              <ma14:wrappingTextBoxFlag xmlns:ma14="http://schemas.microsoft.com/office/mac/drawingml/2011/main" val="1"/>
            </a:ext>
          </a:extLst>
        </p:spPr>
        <p:txBody>
          <a:bodyPr lIns="38100" tIns="38100" rIns="38100" bIns="38100">
            <a:spAutoFit/>
          </a:bodyPr>
          <a:lstStyle/>
          <a:p>
            <a:pPr/>
            <a:r>
              <a:t>Discussion 32/Unit 4</a:t>
            </a:r>
          </a:p>
        </p:txBody>
      </p:sp>
      <p:pic>
        <p:nvPicPr>
          <p:cNvPr id="47" name="Penn State Shield logo" descr="Penn State Shield logo"/>
          <p:cNvPicPr>
            <a:picLocks noChangeAspect="1"/>
          </p:cNvPicPr>
          <p:nvPr/>
        </p:nvPicPr>
        <p:blipFill>
          <a:blip r:embed="rId2">
            <a:extLst/>
          </a:blip>
          <a:stretch>
            <a:fillRect/>
          </a:stretch>
        </p:blipFill>
        <p:spPr>
          <a:xfrm>
            <a:off x="10327551" y="8811954"/>
            <a:ext cx="2658200" cy="923772"/>
          </a:xfrm>
          <a:prstGeom prst="rect">
            <a:avLst/>
          </a:prstGeom>
          <a:ln w="3175">
            <a:miter lim="400000"/>
          </a:ln>
        </p:spPr>
      </p:pic>
      <p:sp>
        <p:nvSpPr>
          <p:cNvPr id="48" name="© 2026"/>
          <p:cNvSpPr txBox="1"/>
          <p:nvPr/>
        </p:nvSpPr>
        <p:spPr>
          <a:xfrm>
            <a:off x="12208286" y="9369954"/>
            <a:ext cx="746362" cy="256506"/>
          </a:xfrm>
          <a:prstGeom prst="rect">
            <a:avLst/>
          </a:prstGeom>
          <a:ln w="3175">
            <a:miter lim="400000"/>
          </a:ln>
          <a:extLst>
            <a:ext uri="{C572A759-6A51-4108-AA02-DFA0A04FC94B}">
              <ma14:wrappingTextBoxFlag xmlns:ma14="http://schemas.microsoft.com/office/mac/drawingml/2011/main" val="1"/>
            </a:ext>
          </a:extLst>
        </p:spPr>
        <p:txBody>
          <a:bodyPr wrap="none" lIns="38100" tIns="38100" rIns="38100" bIns="38100" anchor="ctr">
            <a:spAutoFit/>
          </a:bodyPr>
          <a:lstStyle/>
          <a:p>
            <a:pPr/>
            <a:r>
              <a:t>© 2026</a:t>
            </a:r>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1.png"/><Relationship Id="rId3" Type="http://schemas.openxmlformats.org/officeDocument/2006/relationships/slideLayout" Target="../slideLayouts/slideLayout1.xml"/><Relationship Id="rId4" Type="http://schemas.openxmlformats.org/officeDocument/2006/relationships/slideLayout" Target="../slideLayouts/slideLayout2.xml"/><Relationship Id="rId5" Type="http://schemas.openxmlformats.org/officeDocument/2006/relationships/slideLayout" Target="../slideLayouts/slideLayout3.xml"/><Relationship Id="rId6"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Title Text"/>
          <p:cNvSpPr txBox="1"/>
          <p:nvPr>
            <p:ph type="title"/>
          </p:nvPr>
        </p:nvSpPr>
        <p:spPr>
          <a:xfrm>
            <a:off x="2578099" y="2447924"/>
            <a:ext cx="7848602" cy="2476501"/>
          </a:xfrm>
          <a:prstGeom prst="rect">
            <a:avLst/>
          </a:prstGeom>
          <a:ln w="3175">
            <a:miter lim="400000"/>
          </a:ln>
          <a:extLst>
            <a:ext uri="{C572A759-6A51-4108-AA02-DFA0A04FC94B}">
              <ma14:wrappingTextBoxFlag xmlns:ma14="http://schemas.microsoft.com/office/mac/drawingml/2011/main" val="1"/>
            </a:ext>
          </a:extLst>
        </p:spPr>
        <p:txBody>
          <a:bodyPr lIns="38100" tIns="38100" rIns="38100" bIns="38100" anchor="ctr">
            <a:normAutofit fontScale="100000" lnSpcReduction="0"/>
          </a:bodyPr>
          <a:lstStyle/>
          <a:p>
            <a:pPr/>
            <a:r>
              <a:t>Title Text</a:t>
            </a:r>
          </a:p>
        </p:txBody>
      </p:sp>
      <p:sp>
        <p:nvSpPr>
          <p:cNvPr id="3" name="Slide Number"/>
          <p:cNvSpPr txBox="1"/>
          <p:nvPr>
            <p:ph type="sldNum" sz="quarter" idx="2"/>
          </p:nvPr>
        </p:nvSpPr>
        <p:spPr>
          <a:xfrm>
            <a:off x="6345956" y="9369954"/>
            <a:ext cx="312888" cy="256506"/>
          </a:xfrm>
          <a:prstGeom prst="rect">
            <a:avLst/>
          </a:prstGeom>
          <a:ln w="3175">
            <a:miter lim="400000"/>
          </a:ln>
        </p:spPr>
        <p:txBody>
          <a:bodyPr wrap="none" lIns="38100" tIns="38100" rIns="38100" bIns="38100">
            <a:normAutofit fontScale="100000" lnSpcReduction="0"/>
          </a:bodyPr>
          <a:lstStyle/>
          <a:p>
            <a:pPr/>
            <a:fld id="{86CB4B4D-7CA3-9044-876B-883B54F8677D}" type="slidenum"/>
          </a:p>
        </p:txBody>
      </p:sp>
      <p:sp>
        <p:nvSpPr>
          <p:cNvPr id="4" name="Body Level One…"/>
          <p:cNvSpPr txBox="1"/>
          <p:nvPr>
            <p:ph type="body" idx="1"/>
          </p:nvPr>
        </p:nvSpPr>
        <p:spPr>
          <a:xfrm>
            <a:off x="2578099" y="5410200"/>
            <a:ext cx="7848602" cy="847725"/>
          </a:xfrm>
          <a:prstGeom prst="rect">
            <a:avLst/>
          </a:prstGeom>
          <a:ln w="3175">
            <a:miter lim="400000"/>
          </a:ln>
          <a:extLst>
            <a:ext uri="{C572A759-6A51-4108-AA02-DFA0A04FC94B}">
              <ma14:wrappingTextBoxFlag xmlns:ma14="http://schemas.microsoft.com/office/mac/drawingml/2011/main" val="1"/>
            </a:ext>
          </a:extLst>
        </p:spPr>
        <p:txBody>
          <a:bodyPr lIns="38100" tIns="38100" rIns="38100" bIns="38100">
            <a:normAutofit fontScale="100000" lnSpcReduction="0"/>
          </a:bodyPr>
          <a:lstStyle/>
          <a:p>
            <a:pPr/>
            <a:r>
              <a:t>Body Level One</a:t>
            </a:r>
          </a:p>
          <a:p>
            <a:pPr lvl="1"/>
            <a:r>
              <a:t>Body Level Two</a:t>
            </a:r>
          </a:p>
          <a:p>
            <a:pPr lvl="2"/>
            <a:r>
              <a:t>Body Level Three</a:t>
            </a:r>
          </a:p>
          <a:p>
            <a:pPr lvl="3"/>
            <a:r>
              <a:t>Body Level Four</a:t>
            </a:r>
          </a:p>
          <a:p>
            <a:pPr lvl="4"/>
            <a:r>
              <a:t>Body Level Five</a:t>
            </a:r>
          </a:p>
        </p:txBody>
      </p:sp>
      <p:pic>
        <p:nvPicPr>
          <p:cNvPr id="5" name="Penn State Shield logo" descr="Penn State Shield logo"/>
          <p:cNvPicPr>
            <a:picLocks noChangeAspect="1"/>
          </p:cNvPicPr>
          <p:nvPr/>
        </p:nvPicPr>
        <p:blipFill>
          <a:blip r:embed="rId2">
            <a:extLst/>
          </a:blip>
          <a:stretch>
            <a:fillRect/>
          </a:stretch>
        </p:blipFill>
        <p:spPr>
          <a:xfrm>
            <a:off x="10327551" y="8811954"/>
            <a:ext cx="2658200" cy="923772"/>
          </a:xfrm>
          <a:prstGeom prst="rect">
            <a:avLst/>
          </a:prstGeom>
          <a:ln w="3175">
            <a:miter lim="400000"/>
          </a:ln>
        </p:spPr>
      </p:pic>
      <p:sp>
        <p:nvSpPr>
          <p:cNvPr id="6" name="© 2026"/>
          <p:cNvSpPr txBox="1"/>
          <p:nvPr/>
        </p:nvSpPr>
        <p:spPr>
          <a:xfrm>
            <a:off x="12208286" y="9369954"/>
            <a:ext cx="746362" cy="256506"/>
          </a:xfrm>
          <a:prstGeom prst="rect">
            <a:avLst/>
          </a:prstGeom>
          <a:ln w="3175">
            <a:miter lim="400000"/>
          </a:ln>
          <a:extLst>
            <a:ext uri="{C572A759-6A51-4108-AA02-DFA0A04FC94B}">
              <ma14:wrappingTextBoxFlag xmlns:ma14="http://schemas.microsoft.com/office/mac/drawingml/2011/main" val="1"/>
            </a:ext>
          </a:extLst>
        </p:spPr>
        <p:txBody>
          <a:bodyPr wrap="none" lIns="38100" tIns="38100" rIns="38100" bIns="38100" anchor="ctr">
            <a:spAutoFit/>
          </a:bodyPr>
          <a:lstStyle/>
          <a:p>
            <a:pPr/>
            <a:r>
              <a:t>© 2026</a:t>
            </a:r>
          </a:p>
        </p:txBody>
      </p:sp>
      <p:sp>
        <p:nvSpPr>
          <p:cNvPr id="7" name="Discussion 32/Unit 4"/>
          <p:cNvSpPr txBox="1"/>
          <p:nvPr/>
        </p:nvSpPr>
        <p:spPr>
          <a:xfrm>
            <a:off x="153696" y="9369954"/>
            <a:ext cx="2030807" cy="256506"/>
          </a:xfrm>
          <a:prstGeom prst="rect">
            <a:avLst/>
          </a:prstGeom>
          <a:ln w="3175">
            <a:miter lim="400000"/>
          </a:ln>
          <a:extLst>
            <a:ext uri="{C572A759-6A51-4108-AA02-DFA0A04FC94B}">
              <ma14:wrappingTextBoxFlag xmlns:ma14="http://schemas.microsoft.com/office/mac/drawingml/2011/main" val="1"/>
            </a:ext>
          </a:extLst>
        </p:spPr>
        <p:txBody>
          <a:bodyPr lIns="38100" tIns="38100" rIns="38100" bIns="38100">
            <a:spAutoFit/>
          </a:bodyPr>
          <a:lstStyle/>
          <a:p>
            <a:pPr/>
            <a:r>
              <a:t>Discussion 32/Unit 4</a:t>
            </a:r>
          </a:p>
        </p:txBody>
      </p:sp>
    </p:spTree>
  </p:cSld>
  <p:clrMap bg1="lt1" tx1="dk1" bg2="lt2" tx2="dk2" accent1="accent1" accent2="accent2" accent3="accent3" accent4="accent4" accent5="accent5" accent6="accent6" hlink="hlink" folHlink="folHlink"/>
  <p:sldLayoutIdLst>
    <p:sldLayoutId id="2147483649" r:id="rId3"/>
    <p:sldLayoutId id="2147483650" r:id="rId4"/>
    <p:sldLayoutId id="2147483651" r:id="rId5"/>
    <p:sldLayoutId id="2147483652" r:id="rId6"/>
  </p:sldLayoutIdLst>
  <p:transition xmlns:p14="http://schemas.microsoft.com/office/powerpoint/2010/main" spd="med" advClick="1"/>
  <p:txStyles>
    <p:titleStyle>
      <a:lvl1pPr marL="0" marR="0" indent="0" algn="ctr" defTabSz="584200" latinLnBrk="0">
        <a:lnSpc>
          <a:spcPct val="100000"/>
        </a:lnSpc>
        <a:spcBef>
          <a:spcPts val="0"/>
        </a:spcBef>
        <a:spcAft>
          <a:spcPts val="0"/>
        </a:spcAft>
        <a:buClrTx/>
        <a:buSzTx/>
        <a:buFontTx/>
        <a:buNone/>
        <a:tabLst/>
        <a:defRPr b="0" baseline="0" cap="none" i="0" spc="0" strike="noStrike" sz="4600" u="none">
          <a:solidFill>
            <a:srgbClr val="1E407C"/>
          </a:solidFill>
          <a:uFillTx/>
          <a:latin typeface="+mn-lt"/>
          <a:ea typeface="+mn-ea"/>
          <a:cs typeface="+mn-cs"/>
          <a:sym typeface="Rockwell"/>
        </a:defRPr>
      </a:lvl1pPr>
      <a:lvl2pPr marL="0" marR="0" indent="228600" algn="ctr" defTabSz="584200" latinLnBrk="0">
        <a:lnSpc>
          <a:spcPct val="100000"/>
        </a:lnSpc>
        <a:spcBef>
          <a:spcPts val="0"/>
        </a:spcBef>
        <a:spcAft>
          <a:spcPts val="0"/>
        </a:spcAft>
        <a:buClrTx/>
        <a:buSzTx/>
        <a:buFontTx/>
        <a:buNone/>
        <a:tabLst/>
        <a:defRPr b="0" baseline="0" cap="none" i="0" spc="0" strike="noStrike" sz="4600" u="none">
          <a:solidFill>
            <a:srgbClr val="1E407C"/>
          </a:solidFill>
          <a:uFillTx/>
          <a:latin typeface="+mn-lt"/>
          <a:ea typeface="+mn-ea"/>
          <a:cs typeface="+mn-cs"/>
          <a:sym typeface="Rockwell"/>
        </a:defRPr>
      </a:lvl2pPr>
      <a:lvl3pPr marL="0" marR="0" indent="457200" algn="ctr" defTabSz="584200" latinLnBrk="0">
        <a:lnSpc>
          <a:spcPct val="100000"/>
        </a:lnSpc>
        <a:spcBef>
          <a:spcPts val="0"/>
        </a:spcBef>
        <a:spcAft>
          <a:spcPts val="0"/>
        </a:spcAft>
        <a:buClrTx/>
        <a:buSzTx/>
        <a:buFontTx/>
        <a:buNone/>
        <a:tabLst/>
        <a:defRPr b="0" baseline="0" cap="none" i="0" spc="0" strike="noStrike" sz="4600" u="none">
          <a:solidFill>
            <a:srgbClr val="1E407C"/>
          </a:solidFill>
          <a:uFillTx/>
          <a:latin typeface="+mn-lt"/>
          <a:ea typeface="+mn-ea"/>
          <a:cs typeface="+mn-cs"/>
          <a:sym typeface="Rockwell"/>
        </a:defRPr>
      </a:lvl3pPr>
      <a:lvl4pPr marL="0" marR="0" indent="685800" algn="ctr" defTabSz="584200" latinLnBrk="0">
        <a:lnSpc>
          <a:spcPct val="100000"/>
        </a:lnSpc>
        <a:spcBef>
          <a:spcPts val="0"/>
        </a:spcBef>
        <a:spcAft>
          <a:spcPts val="0"/>
        </a:spcAft>
        <a:buClrTx/>
        <a:buSzTx/>
        <a:buFontTx/>
        <a:buNone/>
        <a:tabLst/>
        <a:defRPr b="0" baseline="0" cap="none" i="0" spc="0" strike="noStrike" sz="4600" u="none">
          <a:solidFill>
            <a:srgbClr val="1E407C"/>
          </a:solidFill>
          <a:uFillTx/>
          <a:latin typeface="+mn-lt"/>
          <a:ea typeface="+mn-ea"/>
          <a:cs typeface="+mn-cs"/>
          <a:sym typeface="Rockwell"/>
        </a:defRPr>
      </a:lvl4pPr>
      <a:lvl5pPr marL="0" marR="0" indent="914400" algn="ctr" defTabSz="584200" latinLnBrk="0">
        <a:lnSpc>
          <a:spcPct val="100000"/>
        </a:lnSpc>
        <a:spcBef>
          <a:spcPts val="0"/>
        </a:spcBef>
        <a:spcAft>
          <a:spcPts val="0"/>
        </a:spcAft>
        <a:buClrTx/>
        <a:buSzTx/>
        <a:buFontTx/>
        <a:buNone/>
        <a:tabLst/>
        <a:defRPr b="0" baseline="0" cap="none" i="0" spc="0" strike="noStrike" sz="4600" u="none">
          <a:solidFill>
            <a:srgbClr val="1E407C"/>
          </a:solidFill>
          <a:uFillTx/>
          <a:latin typeface="+mn-lt"/>
          <a:ea typeface="+mn-ea"/>
          <a:cs typeface="+mn-cs"/>
          <a:sym typeface="Rockwell"/>
        </a:defRPr>
      </a:lvl5pPr>
      <a:lvl6pPr marL="0" marR="0" indent="1143000" algn="ctr" defTabSz="584200" latinLnBrk="0">
        <a:lnSpc>
          <a:spcPct val="100000"/>
        </a:lnSpc>
        <a:spcBef>
          <a:spcPts val="0"/>
        </a:spcBef>
        <a:spcAft>
          <a:spcPts val="0"/>
        </a:spcAft>
        <a:buClrTx/>
        <a:buSzTx/>
        <a:buFontTx/>
        <a:buNone/>
        <a:tabLst/>
        <a:defRPr b="0" baseline="0" cap="none" i="0" spc="0" strike="noStrike" sz="4600" u="none">
          <a:solidFill>
            <a:srgbClr val="1E407C"/>
          </a:solidFill>
          <a:uFillTx/>
          <a:latin typeface="+mn-lt"/>
          <a:ea typeface="+mn-ea"/>
          <a:cs typeface="+mn-cs"/>
          <a:sym typeface="Rockwell"/>
        </a:defRPr>
      </a:lvl6pPr>
      <a:lvl7pPr marL="0" marR="0" indent="1371600" algn="ctr" defTabSz="584200" latinLnBrk="0">
        <a:lnSpc>
          <a:spcPct val="100000"/>
        </a:lnSpc>
        <a:spcBef>
          <a:spcPts val="0"/>
        </a:spcBef>
        <a:spcAft>
          <a:spcPts val="0"/>
        </a:spcAft>
        <a:buClrTx/>
        <a:buSzTx/>
        <a:buFontTx/>
        <a:buNone/>
        <a:tabLst/>
        <a:defRPr b="0" baseline="0" cap="none" i="0" spc="0" strike="noStrike" sz="4600" u="none">
          <a:solidFill>
            <a:srgbClr val="1E407C"/>
          </a:solidFill>
          <a:uFillTx/>
          <a:latin typeface="+mn-lt"/>
          <a:ea typeface="+mn-ea"/>
          <a:cs typeface="+mn-cs"/>
          <a:sym typeface="Rockwell"/>
        </a:defRPr>
      </a:lvl7pPr>
      <a:lvl8pPr marL="0" marR="0" indent="1600200" algn="ctr" defTabSz="584200" latinLnBrk="0">
        <a:lnSpc>
          <a:spcPct val="100000"/>
        </a:lnSpc>
        <a:spcBef>
          <a:spcPts val="0"/>
        </a:spcBef>
        <a:spcAft>
          <a:spcPts val="0"/>
        </a:spcAft>
        <a:buClrTx/>
        <a:buSzTx/>
        <a:buFontTx/>
        <a:buNone/>
        <a:tabLst/>
        <a:defRPr b="0" baseline="0" cap="none" i="0" spc="0" strike="noStrike" sz="4600" u="none">
          <a:solidFill>
            <a:srgbClr val="1E407C"/>
          </a:solidFill>
          <a:uFillTx/>
          <a:latin typeface="+mn-lt"/>
          <a:ea typeface="+mn-ea"/>
          <a:cs typeface="+mn-cs"/>
          <a:sym typeface="Rockwell"/>
        </a:defRPr>
      </a:lvl8pPr>
      <a:lvl9pPr marL="0" marR="0" indent="1828800" algn="ctr" defTabSz="584200" latinLnBrk="0">
        <a:lnSpc>
          <a:spcPct val="100000"/>
        </a:lnSpc>
        <a:spcBef>
          <a:spcPts val="0"/>
        </a:spcBef>
        <a:spcAft>
          <a:spcPts val="0"/>
        </a:spcAft>
        <a:buClrTx/>
        <a:buSzTx/>
        <a:buFontTx/>
        <a:buNone/>
        <a:tabLst/>
        <a:defRPr b="0" baseline="0" cap="none" i="0" spc="0" strike="noStrike" sz="4600" u="none">
          <a:solidFill>
            <a:srgbClr val="1E407C"/>
          </a:solidFill>
          <a:uFillTx/>
          <a:latin typeface="+mn-lt"/>
          <a:ea typeface="+mn-ea"/>
          <a:cs typeface="+mn-cs"/>
          <a:sym typeface="Rockwell"/>
        </a:defRPr>
      </a:lvl9pPr>
    </p:titleStyle>
    <p:bodyStyle>
      <a:lvl1pPr marL="0" marR="0" indent="0" algn="ctr" defTabSz="584200" rtl="0" latinLnBrk="0">
        <a:lnSpc>
          <a:spcPct val="100000"/>
        </a:lnSpc>
        <a:spcBef>
          <a:spcPts val="0"/>
        </a:spcBef>
        <a:spcAft>
          <a:spcPts val="0"/>
        </a:spcAft>
        <a:buClrTx/>
        <a:buSzTx/>
        <a:buFontTx/>
        <a:buNone/>
        <a:tabLst/>
        <a:defRPr b="0" baseline="0" cap="none" i="0" spc="0" strike="noStrike" sz="3200" u="none">
          <a:solidFill>
            <a:srgbClr val="000000"/>
          </a:solidFill>
          <a:uFillTx/>
          <a:latin typeface="+mn-lt"/>
          <a:ea typeface="+mn-ea"/>
          <a:cs typeface="+mn-cs"/>
          <a:sym typeface="Rockwell"/>
        </a:defRPr>
      </a:lvl1pPr>
      <a:lvl2pPr marL="0" marR="0" indent="0" algn="ctr" defTabSz="584200" rtl="0" latinLnBrk="0">
        <a:lnSpc>
          <a:spcPct val="100000"/>
        </a:lnSpc>
        <a:spcBef>
          <a:spcPts val="0"/>
        </a:spcBef>
        <a:spcAft>
          <a:spcPts val="0"/>
        </a:spcAft>
        <a:buClrTx/>
        <a:buSzTx/>
        <a:buFontTx/>
        <a:buNone/>
        <a:tabLst/>
        <a:defRPr b="0" baseline="0" cap="none" i="0" spc="0" strike="noStrike" sz="3200" u="none">
          <a:solidFill>
            <a:srgbClr val="000000"/>
          </a:solidFill>
          <a:uFillTx/>
          <a:latin typeface="+mn-lt"/>
          <a:ea typeface="+mn-ea"/>
          <a:cs typeface="+mn-cs"/>
          <a:sym typeface="Rockwell"/>
        </a:defRPr>
      </a:lvl2pPr>
      <a:lvl3pPr marL="0" marR="0" indent="0" algn="ctr" defTabSz="584200" rtl="0" latinLnBrk="0">
        <a:lnSpc>
          <a:spcPct val="100000"/>
        </a:lnSpc>
        <a:spcBef>
          <a:spcPts val="0"/>
        </a:spcBef>
        <a:spcAft>
          <a:spcPts val="0"/>
        </a:spcAft>
        <a:buClrTx/>
        <a:buSzTx/>
        <a:buFontTx/>
        <a:buNone/>
        <a:tabLst/>
        <a:defRPr b="0" baseline="0" cap="none" i="0" spc="0" strike="noStrike" sz="3200" u="none">
          <a:solidFill>
            <a:srgbClr val="000000"/>
          </a:solidFill>
          <a:uFillTx/>
          <a:latin typeface="+mn-lt"/>
          <a:ea typeface="+mn-ea"/>
          <a:cs typeface="+mn-cs"/>
          <a:sym typeface="Rockwell"/>
        </a:defRPr>
      </a:lvl3pPr>
      <a:lvl4pPr marL="0" marR="0" indent="0" algn="ctr" defTabSz="584200" rtl="0" latinLnBrk="0">
        <a:lnSpc>
          <a:spcPct val="100000"/>
        </a:lnSpc>
        <a:spcBef>
          <a:spcPts val="0"/>
        </a:spcBef>
        <a:spcAft>
          <a:spcPts val="0"/>
        </a:spcAft>
        <a:buClrTx/>
        <a:buSzTx/>
        <a:buFontTx/>
        <a:buNone/>
        <a:tabLst/>
        <a:defRPr b="0" baseline="0" cap="none" i="0" spc="0" strike="noStrike" sz="3200" u="none">
          <a:solidFill>
            <a:srgbClr val="000000"/>
          </a:solidFill>
          <a:uFillTx/>
          <a:latin typeface="+mn-lt"/>
          <a:ea typeface="+mn-ea"/>
          <a:cs typeface="+mn-cs"/>
          <a:sym typeface="Rockwell"/>
        </a:defRPr>
      </a:lvl4pPr>
      <a:lvl5pPr marL="0" marR="0" indent="0" algn="ctr" defTabSz="584200" rtl="0" latinLnBrk="0">
        <a:lnSpc>
          <a:spcPct val="100000"/>
        </a:lnSpc>
        <a:spcBef>
          <a:spcPts val="0"/>
        </a:spcBef>
        <a:spcAft>
          <a:spcPts val="0"/>
        </a:spcAft>
        <a:buClrTx/>
        <a:buSzTx/>
        <a:buFontTx/>
        <a:buNone/>
        <a:tabLst/>
        <a:defRPr b="0" baseline="0" cap="none" i="0" spc="0" strike="noStrike" sz="3200" u="none">
          <a:solidFill>
            <a:srgbClr val="000000"/>
          </a:solidFill>
          <a:uFillTx/>
          <a:latin typeface="+mn-lt"/>
          <a:ea typeface="+mn-ea"/>
          <a:cs typeface="+mn-cs"/>
          <a:sym typeface="Rockwell"/>
        </a:defRPr>
      </a:lvl5pPr>
      <a:lvl6pPr marL="0" marR="0" indent="355600" algn="ctr" defTabSz="584200" rtl="0" latinLnBrk="0">
        <a:lnSpc>
          <a:spcPct val="100000"/>
        </a:lnSpc>
        <a:spcBef>
          <a:spcPts val="0"/>
        </a:spcBef>
        <a:spcAft>
          <a:spcPts val="0"/>
        </a:spcAft>
        <a:buClrTx/>
        <a:buSzTx/>
        <a:buFontTx/>
        <a:buNone/>
        <a:tabLst/>
        <a:defRPr b="0" baseline="0" cap="none" i="0" spc="0" strike="noStrike" sz="3200" u="none">
          <a:solidFill>
            <a:srgbClr val="000000"/>
          </a:solidFill>
          <a:uFillTx/>
          <a:latin typeface="+mn-lt"/>
          <a:ea typeface="+mn-ea"/>
          <a:cs typeface="+mn-cs"/>
          <a:sym typeface="Rockwell"/>
        </a:defRPr>
      </a:lvl6pPr>
      <a:lvl7pPr marL="0" marR="0" indent="711200" algn="ctr" defTabSz="584200" rtl="0" latinLnBrk="0">
        <a:lnSpc>
          <a:spcPct val="100000"/>
        </a:lnSpc>
        <a:spcBef>
          <a:spcPts val="0"/>
        </a:spcBef>
        <a:spcAft>
          <a:spcPts val="0"/>
        </a:spcAft>
        <a:buClrTx/>
        <a:buSzTx/>
        <a:buFontTx/>
        <a:buNone/>
        <a:tabLst/>
        <a:defRPr b="0" baseline="0" cap="none" i="0" spc="0" strike="noStrike" sz="3200" u="none">
          <a:solidFill>
            <a:srgbClr val="000000"/>
          </a:solidFill>
          <a:uFillTx/>
          <a:latin typeface="+mn-lt"/>
          <a:ea typeface="+mn-ea"/>
          <a:cs typeface="+mn-cs"/>
          <a:sym typeface="Rockwell"/>
        </a:defRPr>
      </a:lvl7pPr>
      <a:lvl8pPr marL="0" marR="0" indent="1066800" algn="ctr" defTabSz="584200" rtl="0" latinLnBrk="0">
        <a:lnSpc>
          <a:spcPct val="100000"/>
        </a:lnSpc>
        <a:spcBef>
          <a:spcPts val="0"/>
        </a:spcBef>
        <a:spcAft>
          <a:spcPts val="0"/>
        </a:spcAft>
        <a:buClrTx/>
        <a:buSzTx/>
        <a:buFontTx/>
        <a:buNone/>
        <a:tabLst/>
        <a:defRPr b="0" baseline="0" cap="none" i="0" spc="0" strike="noStrike" sz="3200" u="none">
          <a:solidFill>
            <a:srgbClr val="000000"/>
          </a:solidFill>
          <a:uFillTx/>
          <a:latin typeface="+mn-lt"/>
          <a:ea typeface="+mn-ea"/>
          <a:cs typeface="+mn-cs"/>
          <a:sym typeface="Rockwell"/>
        </a:defRPr>
      </a:lvl8pPr>
      <a:lvl9pPr marL="0" marR="0" indent="1422400" algn="ctr" defTabSz="584200" rtl="0" latinLnBrk="0">
        <a:lnSpc>
          <a:spcPct val="100000"/>
        </a:lnSpc>
        <a:spcBef>
          <a:spcPts val="0"/>
        </a:spcBef>
        <a:spcAft>
          <a:spcPts val="0"/>
        </a:spcAft>
        <a:buClrTx/>
        <a:buSzTx/>
        <a:buFontTx/>
        <a:buNone/>
        <a:tabLst/>
        <a:defRPr b="0" baseline="0" cap="none" i="0" spc="0" strike="noStrike" sz="3200" u="none">
          <a:solidFill>
            <a:srgbClr val="000000"/>
          </a:solidFill>
          <a:uFillTx/>
          <a:latin typeface="+mn-lt"/>
          <a:ea typeface="+mn-ea"/>
          <a:cs typeface="+mn-cs"/>
          <a:sym typeface="Rockwell"/>
        </a:defRPr>
      </a:lvl9pPr>
    </p:bodyStyle>
    <p:otherStyle>
      <a:lvl1pPr marL="0" marR="0" indent="0" algn="ctr" defTabSz="584200" rtl="0" latinLnBrk="0">
        <a:lnSpc>
          <a:spcPct val="100000"/>
        </a:lnSpc>
        <a:spcBef>
          <a:spcPts val="0"/>
        </a:spcBef>
        <a:spcAft>
          <a:spcPts val="0"/>
        </a:spcAft>
        <a:buClrTx/>
        <a:buSzTx/>
        <a:buFontTx/>
        <a:buNone/>
        <a:tabLst/>
        <a:defRPr b="0" baseline="0" cap="none" i="0" spc="0" strike="noStrike" sz="1400" u="none">
          <a:solidFill>
            <a:schemeClr val="tx1"/>
          </a:solidFill>
          <a:uFillTx/>
          <a:latin typeface="+mn-lt"/>
          <a:ea typeface="+mn-ea"/>
          <a:cs typeface="+mn-cs"/>
          <a:sym typeface="Rockwell Bold"/>
        </a:defRPr>
      </a:lvl1pPr>
      <a:lvl2pPr marL="0" marR="0" indent="228600" algn="ctr" defTabSz="584200" rtl="0" latinLnBrk="0">
        <a:lnSpc>
          <a:spcPct val="100000"/>
        </a:lnSpc>
        <a:spcBef>
          <a:spcPts val="0"/>
        </a:spcBef>
        <a:spcAft>
          <a:spcPts val="0"/>
        </a:spcAft>
        <a:buClrTx/>
        <a:buSzTx/>
        <a:buFontTx/>
        <a:buNone/>
        <a:tabLst/>
        <a:defRPr b="0" baseline="0" cap="none" i="0" spc="0" strike="noStrike" sz="1400" u="none">
          <a:solidFill>
            <a:schemeClr val="tx1"/>
          </a:solidFill>
          <a:uFillTx/>
          <a:latin typeface="+mn-lt"/>
          <a:ea typeface="+mn-ea"/>
          <a:cs typeface="+mn-cs"/>
          <a:sym typeface="Rockwell Bold"/>
        </a:defRPr>
      </a:lvl2pPr>
      <a:lvl3pPr marL="0" marR="0" indent="457200" algn="ctr" defTabSz="584200" rtl="0" latinLnBrk="0">
        <a:lnSpc>
          <a:spcPct val="100000"/>
        </a:lnSpc>
        <a:spcBef>
          <a:spcPts val="0"/>
        </a:spcBef>
        <a:spcAft>
          <a:spcPts val="0"/>
        </a:spcAft>
        <a:buClrTx/>
        <a:buSzTx/>
        <a:buFontTx/>
        <a:buNone/>
        <a:tabLst/>
        <a:defRPr b="0" baseline="0" cap="none" i="0" spc="0" strike="noStrike" sz="1400" u="none">
          <a:solidFill>
            <a:schemeClr val="tx1"/>
          </a:solidFill>
          <a:uFillTx/>
          <a:latin typeface="+mn-lt"/>
          <a:ea typeface="+mn-ea"/>
          <a:cs typeface="+mn-cs"/>
          <a:sym typeface="Rockwell Bold"/>
        </a:defRPr>
      </a:lvl3pPr>
      <a:lvl4pPr marL="0" marR="0" indent="685800" algn="ctr" defTabSz="584200" rtl="0" latinLnBrk="0">
        <a:lnSpc>
          <a:spcPct val="100000"/>
        </a:lnSpc>
        <a:spcBef>
          <a:spcPts val="0"/>
        </a:spcBef>
        <a:spcAft>
          <a:spcPts val="0"/>
        </a:spcAft>
        <a:buClrTx/>
        <a:buSzTx/>
        <a:buFontTx/>
        <a:buNone/>
        <a:tabLst/>
        <a:defRPr b="0" baseline="0" cap="none" i="0" spc="0" strike="noStrike" sz="1400" u="none">
          <a:solidFill>
            <a:schemeClr val="tx1"/>
          </a:solidFill>
          <a:uFillTx/>
          <a:latin typeface="+mn-lt"/>
          <a:ea typeface="+mn-ea"/>
          <a:cs typeface="+mn-cs"/>
          <a:sym typeface="Rockwell Bold"/>
        </a:defRPr>
      </a:lvl4pPr>
      <a:lvl5pPr marL="0" marR="0" indent="914400" algn="ctr" defTabSz="584200" rtl="0" latinLnBrk="0">
        <a:lnSpc>
          <a:spcPct val="100000"/>
        </a:lnSpc>
        <a:spcBef>
          <a:spcPts val="0"/>
        </a:spcBef>
        <a:spcAft>
          <a:spcPts val="0"/>
        </a:spcAft>
        <a:buClrTx/>
        <a:buSzTx/>
        <a:buFontTx/>
        <a:buNone/>
        <a:tabLst/>
        <a:defRPr b="0" baseline="0" cap="none" i="0" spc="0" strike="noStrike" sz="1400" u="none">
          <a:solidFill>
            <a:schemeClr val="tx1"/>
          </a:solidFill>
          <a:uFillTx/>
          <a:latin typeface="+mn-lt"/>
          <a:ea typeface="+mn-ea"/>
          <a:cs typeface="+mn-cs"/>
          <a:sym typeface="Rockwell Bold"/>
        </a:defRPr>
      </a:lvl5pPr>
      <a:lvl6pPr marL="0" marR="0" indent="1143000" algn="ctr" defTabSz="584200" rtl="0" latinLnBrk="0">
        <a:lnSpc>
          <a:spcPct val="100000"/>
        </a:lnSpc>
        <a:spcBef>
          <a:spcPts val="0"/>
        </a:spcBef>
        <a:spcAft>
          <a:spcPts val="0"/>
        </a:spcAft>
        <a:buClrTx/>
        <a:buSzTx/>
        <a:buFontTx/>
        <a:buNone/>
        <a:tabLst/>
        <a:defRPr b="0" baseline="0" cap="none" i="0" spc="0" strike="noStrike" sz="1400" u="none">
          <a:solidFill>
            <a:schemeClr val="tx1"/>
          </a:solidFill>
          <a:uFillTx/>
          <a:latin typeface="+mn-lt"/>
          <a:ea typeface="+mn-ea"/>
          <a:cs typeface="+mn-cs"/>
          <a:sym typeface="Rockwell Bold"/>
        </a:defRPr>
      </a:lvl6pPr>
      <a:lvl7pPr marL="0" marR="0" indent="1371600" algn="ctr" defTabSz="584200" rtl="0" latinLnBrk="0">
        <a:lnSpc>
          <a:spcPct val="100000"/>
        </a:lnSpc>
        <a:spcBef>
          <a:spcPts val="0"/>
        </a:spcBef>
        <a:spcAft>
          <a:spcPts val="0"/>
        </a:spcAft>
        <a:buClrTx/>
        <a:buSzTx/>
        <a:buFontTx/>
        <a:buNone/>
        <a:tabLst/>
        <a:defRPr b="0" baseline="0" cap="none" i="0" spc="0" strike="noStrike" sz="1400" u="none">
          <a:solidFill>
            <a:schemeClr val="tx1"/>
          </a:solidFill>
          <a:uFillTx/>
          <a:latin typeface="+mn-lt"/>
          <a:ea typeface="+mn-ea"/>
          <a:cs typeface="+mn-cs"/>
          <a:sym typeface="Rockwell Bold"/>
        </a:defRPr>
      </a:lvl7pPr>
      <a:lvl8pPr marL="0" marR="0" indent="1600200" algn="ctr" defTabSz="584200" rtl="0" latinLnBrk="0">
        <a:lnSpc>
          <a:spcPct val="100000"/>
        </a:lnSpc>
        <a:spcBef>
          <a:spcPts val="0"/>
        </a:spcBef>
        <a:spcAft>
          <a:spcPts val="0"/>
        </a:spcAft>
        <a:buClrTx/>
        <a:buSzTx/>
        <a:buFontTx/>
        <a:buNone/>
        <a:tabLst/>
        <a:defRPr b="0" baseline="0" cap="none" i="0" spc="0" strike="noStrike" sz="1400" u="none">
          <a:solidFill>
            <a:schemeClr val="tx1"/>
          </a:solidFill>
          <a:uFillTx/>
          <a:latin typeface="+mn-lt"/>
          <a:ea typeface="+mn-ea"/>
          <a:cs typeface="+mn-cs"/>
          <a:sym typeface="Rockwell Bold"/>
        </a:defRPr>
      </a:lvl8pPr>
      <a:lvl9pPr marL="0" marR="0" indent="1828800" algn="ctr" defTabSz="584200" rtl="0" latinLnBrk="0">
        <a:lnSpc>
          <a:spcPct val="100000"/>
        </a:lnSpc>
        <a:spcBef>
          <a:spcPts val="0"/>
        </a:spcBef>
        <a:spcAft>
          <a:spcPts val="0"/>
        </a:spcAft>
        <a:buClrTx/>
        <a:buSzTx/>
        <a:buFontTx/>
        <a:buNone/>
        <a:tabLst/>
        <a:defRPr b="0" baseline="0" cap="none" i="0" spc="0" strike="noStrike" sz="1400" u="none">
          <a:solidFill>
            <a:schemeClr val="tx1"/>
          </a:solidFill>
          <a:uFillTx/>
          <a:latin typeface="+mn-lt"/>
          <a:ea typeface="+mn-ea"/>
          <a:cs typeface="+mn-cs"/>
          <a:sym typeface="Rockwell Bold"/>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www.zotero.org/styles" TargetMode="External"/></Relationships>

</file>

<file path=ppt/slides/_rels/slide16.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uides.libraries.psu.edu/zotero" TargetMode="External"/><Relationship Id="rId3" Type="http://schemas.openxmlformats.org/officeDocument/2006/relationships/hyperlink" Target="https://www.zotero.org/" TargetMode="External"/><Relationship Id="rId4" Type="http://schemas.openxmlformats.org/officeDocument/2006/relationships/hyperlink" Target="https://zbib.org/" TargetMode="External"/></Relationships>

</file>

<file path=ppt/slides/_rels/slide17.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www.apple.com" TargetMode="External"/><Relationship Id="rId3" Type="http://schemas.openxmlformats.org/officeDocument/2006/relationships/hyperlink" Target="https://neilhatfield.github.io/STAT184/quarto_crash_course" TargetMode="External"/><Relationship Id="rId4" Type="http://schemas.openxmlformats.org/officeDocument/2006/relationships/hyperlink" Target="https://dtkaplan.github.io/DataComputingEbook/" TargetMode="External"/></Relationships>

</file>

<file path=ppt/slides/_rels/slide18.xml.rels><?xml version="1.0" encoding="UTF-8"?>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s>

</file>

<file path=ppt/slides/_rels/slide30.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GitHub.com" TargetMode="External"/></Relationships>

</file>

<file path=ppt/slides/_rels/slide38.xml.rels><?xml version="1.0" encoding="UTF-8"?>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7" name="Plan for the Day"/>
          <p:cNvSpPr txBox="1"/>
          <p:nvPr>
            <p:ph type="title"/>
          </p:nvPr>
        </p:nvSpPr>
        <p:spPr>
          <a:prstGeom prst="rect">
            <a:avLst/>
          </a:prstGeom>
        </p:spPr>
        <p:txBody>
          <a:bodyPr/>
          <a:lstStyle/>
          <a:p>
            <a:pPr/>
            <a:r>
              <a:t>Plan for the Day</a:t>
            </a:r>
          </a:p>
        </p:txBody>
      </p:sp>
      <p:sp>
        <p:nvSpPr>
          <p:cNvPr id="58" name="Slide Number"/>
          <p:cNvSpPr txBox="1"/>
          <p:nvPr>
            <p:ph type="sldNum" sz="quarter" idx="2"/>
          </p:nvPr>
        </p:nvSpPr>
        <p:spPr>
          <a:xfrm>
            <a:off x="6401953" y="9369954"/>
            <a:ext cx="200894" cy="256506"/>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59" name="Goals"/>
          <p:cNvSpPr txBox="1"/>
          <p:nvPr/>
        </p:nvSpPr>
        <p:spPr>
          <a:xfrm>
            <a:off x="101599" y="698500"/>
            <a:ext cx="1068389" cy="533401"/>
          </a:xfrm>
          <a:prstGeom prst="rect">
            <a:avLst/>
          </a:prstGeom>
          <a:ln w="3175">
            <a:miter lim="400000"/>
          </a:ln>
          <a:extLst>
            <a:ext uri="{C572A759-6A51-4108-AA02-DFA0A04FC94B}">
              <ma14:wrappingTextBoxFlag xmlns:ma14="http://schemas.microsoft.com/office/mac/drawingml/2011/main" val="1"/>
            </a:ext>
          </a:extLst>
        </p:spPr>
        <p:txBody>
          <a:bodyPr wrap="none" lIns="38100" tIns="38100" rIns="38100" bIns="38100" anchor="ctr">
            <a:spAutoFit/>
          </a:bodyPr>
          <a:lstStyle>
            <a:lvl1pPr algn="l">
              <a:defRPr sz="3200">
                <a:solidFill>
                  <a:srgbClr val="008900"/>
                </a:solidFill>
                <a:latin typeface="Franklin Gothic Medium"/>
                <a:ea typeface="Franklin Gothic Medium"/>
                <a:cs typeface="Franklin Gothic Medium"/>
                <a:sym typeface="Franklin Gothic Medium"/>
              </a:defRPr>
            </a:lvl1pPr>
          </a:lstStyle>
          <a:p>
            <a:pPr/>
            <a:r>
              <a:t>Goals</a:t>
            </a:r>
          </a:p>
        </p:txBody>
      </p:sp>
      <p:sp>
        <p:nvSpPr>
          <p:cNvPr id="60" name="Students will develop ways of thinking that make use of R's computing power to solve problems. (CT.1, CT.2)…"/>
          <p:cNvSpPr txBox="1"/>
          <p:nvPr/>
        </p:nvSpPr>
        <p:spPr>
          <a:xfrm>
            <a:off x="220265" y="1225034"/>
            <a:ext cx="12564270" cy="2667001"/>
          </a:xfrm>
          <a:prstGeom prst="rect">
            <a:avLst/>
          </a:prstGeom>
          <a:ln w="3175">
            <a:miter lim="400000"/>
          </a:ln>
          <a:extLst>
            <a:ext uri="{C572A759-6A51-4108-AA02-DFA0A04FC94B}">
              <ma14:wrappingTextBoxFlag xmlns:ma14="http://schemas.microsoft.com/office/mac/drawingml/2011/main" val="1"/>
            </a:ext>
          </a:extLst>
        </p:spPr>
        <p:txBody>
          <a:bodyPr lIns="38100" tIns="38100" rIns="38100" bIns="38100" anchor="ctr">
            <a:spAutoFit/>
          </a:bodyPr>
          <a:lstStyle/>
          <a:p>
            <a:pPr marL="507999" indent="-507999" algn="l">
              <a:buSzPct val="171000"/>
              <a:buChar char="•"/>
              <a:defRPr sz="3000">
                <a:solidFill>
                  <a:srgbClr val="000004"/>
                </a:solidFill>
                <a:latin typeface="Franklin Gothic Medium"/>
                <a:ea typeface="Franklin Gothic Medium"/>
                <a:cs typeface="Franklin Gothic Medium"/>
                <a:sym typeface="Franklin Gothic Medium"/>
              </a:defRPr>
            </a:pPr>
            <a:r>
              <a:t>Students will develop ways of thinking that make use of R's computing power to solve problems. (CT.1, CT.2)</a:t>
            </a:r>
          </a:p>
          <a:p>
            <a:pPr marL="507999" indent="-507999" algn="l">
              <a:buSzPct val="171000"/>
              <a:buChar char="•"/>
              <a:defRPr sz="3000">
                <a:solidFill>
                  <a:srgbClr val="000004"/>
                </a:solidFill>
                <a:latin typeface="Franklin Gothic Medium"/>
                <a:ea typeface="Franklin Gothic Medium"/>
                <a:cs typeface="Franklin Gothic Medium"/>
                <a:sym typeface="Franklin Gothic Medium"/>
              </a:defRPr>
            </a:pPr>
            <a:r>
              <a:t>Students will develop their skills in programming with statistical software. (Prog.4, Prog.5, Prog.6)</a:t>
            </a:r>
          </a:p>
          <a:p>
            <a:pPr marL="507999" indent="-507999" algn="l">
              <a:buSzPct val="171000"/>
              <a:buChar char="•"/>
              <a:defRPr sz="3000">
                <a:solidFill>
                  <a:srgbClr val="000004"/>
                </a:solidFill>
                <a:latin typeface="Franklin Gothic Medium"/>
                <a:ea typeface="Franklin Gothic Medium"/>
                <a:cs typeface="Franklin Gothic Medium"/>
                <a:sym typeface="Franklin Gothic Medium"/>
              </a:defRPr>
            </a:pPr>
            <a:r>
              <a:t>Students will develop their skills in creating reproducible code and data analyses. (Repro.1, Repro.2, Repro.5, Repro.6)</a:t>
            </a:r>
          </a:p>
        </p:txBody>
      </p:sp>
      <p:sp>
        <p:nvSpPr>
          <p:cNvPr id="61" name="Needs: signal cups, notes, a Quarto document to experiment in"/>
          <p:cNvSpPr txBox="1"/>
          <p:nvPr/>
        </p:nvSpPr>
        <p:spPr>
          <a:xfrm>
            <a:off x="106891" y="4610100"/>
            <a:ext cx="10983318" cy="533401"/>
          </a:xfrm>
          <a:prstGeom prst="rect">
            <a:avLst/>
          </a:prstGeom>
          <a:ln w="3175">
            <a:miter lim="400000"/>
          </a:ln>
          <a:extLst>
            <a:ext uri="{C572A759-6A51-4108-AA02-DFA0A04FC94B}">
              <ma14:wrappingTextBoxFlag xmlns:ma14="http://schemas.microsoft.com/office/mac/drawingml/2011/main" val="1"/>
            </a:ext>
          </a:extLst>
        </p:spPr>
        <p:txBody>
          <a:bodyPr wrap="none" lIns="38100" tIns="38100" rIns="38100" bIns="38100" anchor="ctr">
            <a:spAutoFit/>
          </a:bodyPr>
          <a:lstStyle/>
          <a:p>
            <a:pPr algn="l">
              <a:defRPr sz="3200">
                <a:solidFill>
                  <a:srgbClr val="008900"/>
                </a:solidFill>
                <a:latin typeface="Franklin Gothic Medium"/>
                <a:ea typeface="Franklin Gothic Medium"/>
                <a:cs typeface="Franklin Gothic Medium"/>
                <a:sym typeface="Franklin Gothic Medium"/>
              </a:defRPr>
            </a:pPr>
            <a:r>
              <a:t>Needs: </a:t>
            </a:r>
            <a:r>
              <a:rPr>
                <a:solidFill>
                  <a:srgbClr val="000004"/>
                </a:solidFill>
              </a:rPr>
              <a:t>signal cups, notes, a Quarto document to experiment in</a:t>
            </a:r>
          </a:p>
        </p:txBody>
      </p:sp>
      <p:sp>
        <p:nvSpPr>
          <p:cNvPr id="62" name="Steps"/>
          <p:cNvSpPr txBox="1"/>
          <p:nvPr/>
        </p:nvSpPr>
        <p:spPr>
          <a:xfrm>
            <a:off x="105171" y="5830143"/>
            <a:ext cx="1061245" cy="533401"/>
          </a:xfrm>
          <a:prstGeom prst="rect">
            <a:avLst/>
          </a:prstGeom>
          <a:ln w="3175">
            <a:miter lim="400000"/>
          </a:ln>
          <a:extLst>
            <a:ext uri="{C572A759-6A51-4108-AA02-DFA0A04FC94B}">
              <ma14:wrappingTextBoxFlag xmlns:ma14="http://schemas.microsoft.com/office/mac/drawingml/2011/main" val="1"/>
            </a:ext>
          </a:extLst>
        </p:spPr>
        <p:txBody>
          <a:bodyPr wrap="none" lIns="38100" tIns="38100" rIns="38100" bIns="38100" anchor="ctr">
            <a:spAutoFit/>
          </a:bodyPr>
          <a:lstStyle>
            <a:lvl1pPr algn="l">
              <a:defRPr sz="3200">
                <a:solidFill>
                  <a:srgbClr val="008900"/>
                </a:solidFill>
                <a:latin typeface="Franklin Gothic Medium"/>
                <a:ea typeface="Franklin Gothic Medium"/>
                <a:cs typeface="Franklin Gothic Medium"/>
                <a:sym typeface="Franklin Gothic Medium"/>
              </a:defRPr>
            </a:lvl1pPr>
          </a:lstStyle>
          <a:p>
            <a:pPr/>
            <a:r>
              <a:t>Steps</a:t>
            </a:r>
          </a:p>
        </p:txBody>
      </p:sp>
      <p:sp>
        <p:nvSpPr>
          <p:cNvPr id="63" name="Cross-referencing in Quarto…"/>
          <p:cNvSpPr txBox="1"/>
          <p:nvPr/>
        </p:nvSpPr>
        <p:spPr>
          <a:xfrm>
            <a:off x="171770" y="6362258"/>
            <a:ext cx="8883275" cy="1447801"/>
          </a:xfrm>
          <a:prstGeom prst="rect">
            <a:avLst/>
          </a:prstGeom>
          <a:ln w="3175">
            <a:miter lim="400000"/>
          </a:ln>
          <a:extLst>
            <a:ext uri="{C572A759-6A51-4108-AA02-DFA0A04FC94B}">
              <ma14:wrappingTextBoxFlag xmlns:ma14="http://schemas.microsoft.com/office/mac/drawingml/2011/main" val="1"/>
            </a:ext>
          </a:extLst>
        </p:spPr>
        <p:txBody>
          <a:bodyPr lIns="38100" tIns="38100" rIns="38100" bIns="38100" anchor="ctr">
            <a:spAutoFit/>
          </a:bodyPr>
          <a:lstStyle/>
          <a:p>
            <a:pPr marL="508000" indent="-508000" algn="l">
              <a:buSzPct val="100000"/>
              <a:buAutoNum type="arabicPeriod" startAt="1"/>
              <a:defRPr sz="3200">
                <a:solidFill>
                  <a:srgbClr val="000004"/>
                </a:solidFill>
                <a:latin typeface="Franklin Gothic Medium"/>
                <a:ea typeface="Franklin Gothic Medium"/>
                <a:cs typeface="Franklin Gothic Medium"/>
                <a:sym typeface="Franklin Gothic Medium"/>
              </a:defRPr>
            </a:pPr>
            <a:r>
              <a:t>Cross-referencing in Quarto</a:t>
            </a:r>
          </a:p>
          <a:p>
            <a:pPr marL="508000" indent="-508000" algn="l">
              <a:buSzPct val="100000"/>
              <a:buAutoNum type="arabicPeriod" startAt="1"/>
              <a:defRPr sz="3200">
                <a:solidFill>
                  <a:srgbClr val="000004"/>
                </a:solidFill>
                <a:latin typeface="Franklin Gothic Medium"/>
                <a:ea typeface="Franklin Gothic Medium"/>
                <a:cs typeface="Franklin Gothic Medium"/>
                <a:sym typeface="Franklin Gothic Medium"/>
              </a:defRPr>
            </a:pPr>
            <a:r>
              <a:t>Alt Text and Quarto</a:t>
            </a:r>
          </a:p>
          <a:p>
            <a:pPr marL="508000" indent="-508000" algn="l">
              <a:buSzPct val="100000"/>
              <a:buAutoNum type="arabicPeriod" startAt="1"/>
              <a:defRPr sz="3200">
                <a:solidFill>
                  <a:srgbClr val="000004"/>
                </a:solidFill>
                <a:latin typeface="Franklin Gothic Medium"/>
                <a:ea typeface="Franklin Gothic Medium"/>
                <a:cs typeface="Franklin Gothic Medium"/>
                <a:sym typeface="Franklin Gothic Medium"/>
              </a:defRPr>
            </a:pPr>
            <a:r>
              <a:t>Adding Citations</a:t>
            </a: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5" name="Cross-Referencing in Quarto"/>
          <p:cNvSpPr txBox="1"/>
          <p:nvPr>
            <p:ph type="ctrTitle"/>
          </p:nvPr>
        </p:nvSpPr>
        <p:spPr>
          <a:prstGeom prst="rect">
            <a:avLst/>
          </a:prstGeom>
        </p:spPr>
        <p:txBody>
          <a:bodyPr/>
          <a:lstStyle/>
          <a:p>
            <a:pPr/>
            <a:r>
              <a:t>Cross-Referencing in Quarto</a:t>
            </a:r>
          </a:p>
        </p:txBody>
      </p:sp>
      <p:sp>
        <p:nvSpPr>
          <p:cNvPr id="66" name="Slide Number"/>
          <p:cNvSpPr txBox="1"/>
          <p:nvPr>
            <p:ph type="sldNum" sz="quarter" idx="2"/>
          </p:nvPr>
        </p:nvSpPr>
        <p:spPr>
          <a:xfrm>
            <a:off x="6401953" y="9369954"/>
            <a:ext cx="200894" cy="256506"/>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67" name="Stat 184"/>
          <p:cNvSpPr txBox="1"/>
          <p:nvPr>
            <p:ph type="subTitle" sz="quarter" idx="1"/>
          </p:nvPr>
        </p:nvSpPr>
        <p:spPr>
          <a:prstGeom prst="rect">
            <a:avLst/>
          </a:prstGeom>
        </p:spPr>
        <p:txBody>
          <a:bodyPr/>
          <a:lstStyle/>
          <a:p>
            <a:pPr/>
            <a:r>
              <a:t>Stat 184</a:t>
            </a:r>
          </a:p>
        </p:txBody>
      </p:sp>
    </p:spTree>
  </p:cSld>
  <p:clrMapOvr>
    <a:masterClrMapping/>
  </p:clrMapOvr>
  <mc:AlternateContent xmlns:mc="http://schemas.openxmlformats.org/markup-compatibility/2006">
    <mc:Choice xmlns:p14="http://schemas.microsoft.com/office/powerpoint/2010/main" Requires="p14">
      <p:transition spd="slow" advClick="1" p14:dur="1500">
        <p:fade/>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9" name="Slide Number"/>
          <p:cNvSpPr txBox="1"/>
          <p:nvPr>
            <p:ph type="sldNum" sz="quarter" idx="2"/>
          </p:nvPr>
        </p:nvSpPr>
        <p:spPr>
          <a:xfrm>
            <a:off x="6401953" y="9369954"/>
            <a:ext cx="200894" cy="256506"/>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70" name="Cross-Referencing"/>
          <p:cNvSpPr txBox="1"/>
          <p:nvPr>
            <p:ph type="title"/>
          </p:nvPr>
        </p:nvSpPr>
        <p:spPr>
          <a:prstGeom prst="rect">
            <a:avLst/>
          </a:prstGeom>
        </p:spPr>
        <p:txBody>
          <a:bodyPr/>
          <a:lstStyle/>
          <a:p>
            <a:pPr/>
            <a:r>
              <a:t>Cross-Referencing</a:t>
            </a:r>
          </a:p>
        </p:txBody>
      </p:sp>
      <p:sp>
        <p:nvSpPr>
          <p:cNvPr id="71" name="While reading a textbook, journal article, or report, have you come across phrases like any of the following?"/>
          <p:cNvSpPr txBox="1"/>
          <p:nvPr/>
        </p:nvSpPr>
        <p:spPr>
          <a:xfrm>
            <a:off x="127000" y="965199"/>
            <a:ext cx="11854309" cy="1016001"/>
          </a:xfrm>
          <a:prstGeom prst="rect">
            <a:avLst/>
          </a:prstGeom>
          <a:ln w="3175">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lgn="l">
              <a:defRPr sz="3200">
                <a:solidFill>
                  <a:srgbClr val="000000"/>
                </a:solidFill>
                <a:latin typeface="Franklin Gothic Medium"/>
                <a:ea typeface="Franklin Gothic Medium"/>
                <a:cs typeface="Franklin Gothic Medium"/>
                <a:sym typeface="Franklin Gothic Medium"/>
              </a:defRPr>
            </a:lvl1pPr>
          </a:lstStyle>
          <a:p>
            <a:pPr/>
            <a:r>
              <a:t>While reading a textbook, journal article, or report, have you come across phrases like any of the following?</a:t>
            </a:r>
          </a:p>
        </p:txBody>
      </p:sp>
      <p:sp>
        <p:nvSpPr>
          <p:cNvPr id="72" name="These are all examples of cross-references."/>
          <p:cNvSpPr txBox="1"/>
          <p:nvPr/>
        </p:nvSpPr>
        <p:spPr>
          <a:xfrm>
            <a:off x="161822" y="4850606"/>
            <a:ext cx="12681155" cy="558801"/>
          </a:xfrm>
          <a:prstGeom prst="rect">
            <a:avLst/>
          </a:prstGeom>
          <a:ln w="3175">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lgn="l">
              <a:defRPr sz="3200">
                <a:solidFill>
                  <a:srgbClr val="000000"/>
                </a:solidFill>
                <a:latin typeface="Franklin Gothic Medium"/>
                <a:ea typeface="Franklin Gothic Medium"/>
                <a:cs typeface="Franklin Gothic Medium"/>
                <a:sym typeface="Franklin Gothic Medium"/>
              </a:defRPr>
            </a:pPr>
            <a:r>
              <a:t>These are all examples of </a:t>
            </a:r>
            <a:r>
              <a:rPr i="1"/>
              <a:t>cross-references</a:t>
            </a:r>
            <a:r>
              <a:t>. </a:t>
            </a:r>
          </a:p>
        </p:txBody>
      </p:sp>
      <p:sp>
        <p:nvSpPr>
          <p:cNvPr id="73" name="A cross-reference is a short phrase that connects narrative text to another element in the document such as a table, figure, (code) listing, or equation."/>
          <p:cNvSpPr txBox="1"/>
          <p:nvPr/>
        </p:nvSpPr>
        <p:spPr>
          <a:xfrm>
            <a:off x="102931" y="5650309"/>
            <a:ext cx="12798938" cy="1473201"/>
          </a:xfrm>
          <a:prstGeom prst="rect">
            <a:avLst/>
          </a:prstGeom>
          <a:ln w="3175">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lgn="l">
              <a:defRPr sz="3200">
                <a:solidFill>
                  <a:srgbClr val="1D2FEB"/>
                </a:solidFill>
                <a:latin typeface="Franklin Gothic Medium"/>
                <a:ea typeface="Franklin Gothic Medium"/>
                <a:cs typeface="Franklin Gothic Medium"/>
                <a:sym typeface="Franklin Gothic Medium"/>
              </a:defRPr>
            </a:lvl1pPr>
          </a:lstStyle>
          <a:p>
            <a:pPr/>
            <a:r>
              <a:t>A cross-reference is a short phrase that connects narrative text to another element in the document such as a table, figure, (code) listing, or equation.</a:t>
            </a:r>
          </a:p>
        </p:txBody>
      </p:sp>
      <p:sp>
        <p:nvSpPr>
          <p:cNvPr id="74" name="As seen in Table 2,...…"/>
          <p:cNvSpPr txBox="1"/>
          <p:nvPr/>
        </p:nvSpPr>
        <p:spPr>
          <a:xfrm>
            <a:off x="273060" y="2222103"/>
            <a:ext cx="11854310" cy="2387601"/>
          </a:xfrm>
          <a:prstGeom prst="rect">
            <a:avLst/>
          </a:prstGeom>
          <a:ln w="3175">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marL="508000" indent="-508000" algn="l">
              <a:buSzPct val="171000"/>
              <a:buChar char="•"/>
              <a:defRPr sz="3200">
                <a:solidFill>
                  <a:srgbClr val="000000"/>
                </a:solidFill>
                <a:latin typeface="Franklin Gothic Medium"/>
                <a:ea typeface="Franklin Gothic Medium"/>
                <a:cs typeface="Franklin Gothic Medium"/>
                <a:sym typeface="Franklin Gothic Medium"/>
              </a:defRPr>
            </a:pPr>
            <a:r>
              <a:t>As seen in Table 2,...</a:t>
            </a:r>
          </a:p>
          <a:p>
            <a:pPr marL="508000" indent="-508000" algn="l">
              <a:buSzPct val="171000"/>
              <a:buChar char="•"/>
              <a:defRPr sz="3200">
                <a:solidFill>
                  <a:srgbClr val="000000"/>
                </a:solidFill>
                <a:latin typeface="Franklin Gothic Medium"/>
                <a:ea typeface="Franklin Gothic Medium"/>
                <a:cs typeface="Franklin Gothic Medium"/>
                <a:sym typeface="Franklin Gothic Medium"/>
              </a:defRPr>
            </a:pPr>
            <a:r>
              <a:t>...(Figure 1)...</a:t>
            </a:r>
          </a:p>
          <a:p>
            <a:pPr marL="508000" indent="-508000" algn="l">
              <a:buSzPct val="171000"/>
              <a:buChar char="•"/>
              <a:defRPr sz="3200">
                <a:solidFill>
                  <a:srgbClr val="000000"/>
                </a:solidFill>
                <a:latin typeface="Franklin Gothic Medium"/>
                <a:ea typeface="Franklin Gothic Medium"/>
                <a:cs typeface="Franklin Gothic Medium"/>
                <a:sym typeface="Franklin Gothic Medium"/>
              </a:defRPr>
            </a:pPr>
            <a:r>
              <a:t>Figure 5a demonstrates...</a:t>
            </a:r>
          </a:p>
          <a:p>
            <a:pPr marL="508000" indent="-508000" algn="l">
              <a:buSzPct val="171000"/>
              <a:buChar char="•"/>
              <a:defRPr sz="3200">
                <a:solidFill>
                  <a:srgbClr val="000000"/>
                </a:solidFill>
                <a:latin typeface="Franklin Gothic Medium"/>
                <a:ea typeface="Franklin Gothic Medium"/>
                <a:cs typeface="Franklin Gothic Medium"/>
                <a:sym typeface="Franklin Gothic Medium"/>
              </a:defRPr>
            </a:pPr>
            <a:r>
              <a:t>...(see Listing 6).</a:t>
            </a:r>
          </a:p>
          <a:p>
            <a:pPr marL="508000" indent="-508000" algn="l">
              <a:buSzPct val="171000"/>
              <a:buChar char="•"/>
              <a:defRPr sz="3200">
                <a:solidFill>
                  <a:srgbClr val="000000"/>
                </a:solidFill>
                <a:latin typeface="Franklin Gothic Medium"/>
                <a:ea typeface="Franklin Gothic Medium"/>
                <a:cs typeface="Franklin Gothic Medium"/>
                <a:sym typeface="Franklin Gothic Medium"/>
              </a:defRPr>
            </a:pPr>
            <a:r>
              <a:t>Equation 7 shows...</a:t>
            </a:r>
          </a:p>
        </p:txBody>
      </p:sp>
      <p:sp>
        <p:nvSpPr>
          <p:cNvPr id="75" name="Quarto provides a way to not only automatically number each of these elements, but also create automatically updating cross-references in your narrative text."/>
          <p:cNvSpPr txBox="1"/>
          <p:nvPr/>
        </p:nvSpPr>
        <p:spPr>
          <a:xfrm>
            <a:off x="102931" y="7364412"/>
            <a:ext cx="12798938" cy="1473201"/>
          </a:xfrm>
          <a:prstGeom prst="rect">
            <a:avLst/>
          </a:prstGeom>
          <a:ln w="3175">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lgn="l">
              <a:defRPr sz="3200">
                <a:solidFill>
                  <a:srgbClr val="000000"/>
                </a:solidFill>
                <a:latin typeface="Franklin Gothic Medium"/>
                <a:ea typeface="Franklin Gothic Medium"/>
                <a:cs typeface="Franklin Gothic Medium"/>
                <a:sym typeface="Franklin Gothic Medium"/>
              </a:defRPr>
            </a:pPr>
            <a:r>
              <a:t>Quarto provides a way to not only automatically number each of these elements, but also create </a:t>
            </a:r>
            <a:r>
              <a:rPr>
                <a:solidFill>
                  <a:srgbClr val="008900"/>
                </a:solidFill>
              </a:rPr>
              <a:t>automatically updating</a:t>
            </a:r>
            <a:r>
              <a:t> cross-references in your narrative text.</a:t>
            </a:r>
          </a:p>
        </p:txBody>
      </p:sp>
    </p:spTree>
  </p:cSld>
  <p:clrMapOvr>
    <a:masterClrMapping/>
  </p:clrMapOvr>
  <mc:AlternateContent xmlns:mc="http://schemas.openxmlformats.org/markup-compatibility/2006">
    <mc:Choice xmlns:p14="http://schemas.microsoft.com/office/powerpoint/2010/main" Requires="p14">
      <p:transition spd="slow" advClick="1" p14:dur="1500">
        <p:push dir="l"/>
      </p:transition>
    </mc:Choice>
    <mc:Fallback>
      <p:transition spd="slow">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ID="10" grpId="1" fill="hold">
                                  <p:stCondLst>
                                    <p:cond delay="0"/>
                                  </p:stCondLst>
                                  <p:iterate type="el" backwards="0">
                                    <p:tmAbs val="0"/>
                                  </p:iterate>
                                  <p:childTnLst>
                                    <p:set>
                                      <p:cBhvr>
                                        <p:cTn id="6" fill="hold"/>
                                        <p:tgtEl>
                                          <p:spTgt spid="74"/>
                                        </p:tgtEl>
                                        <p:attrNameLst>
                                          <p:attrName>style.visibility</p:attrName>
                                        </p:attrNameLst>
                                      </p:cBhvr>
                                      <p:to>
                                        <p:strVal val="visible"/>
                                      </p:to>
                                    </p:set>
                                    <p:animEffect filter="fade" transition="in">
                                      <p:cBhvr>
                                        <p:cTn id="7" dur="1000"/>
                                        <p:tgtEl>
                                          <p:spTgt spid="74"/>
                                        </p:tgtEl>
                                      </p:cBhvr>
                                    </p:animEffect>
                                  </p:childTnLst>
                                </p:cTn>
                              </p:par>
                            </p:childTnLst>
                          </p:cTn>
                        </p:par>
                      </p:childTnLst>
                    </p:cTn>
                  </p:par>
                  <p:par>
                    <p:cTn id="8" fill="hold">
                      <p:stCondLst>
                        <p:cond delay="indefinite"/>
                      </p:stCondLst>
                      <p:childTnLst>
                        <p:par>
                          <p:cTn id="9" fill="hold">
                            <p:stCondLst>
                              <p:cond delay="0"/>
                            </p:stCondLst>
                            <p:childTnLst>
                              <p:par>
                                <p:cTn id="10" presetClass="entr" nodeType="clickEffect" presetID="10" grpId="2" fill="hold">
                                  <p:stCondLst>
                                    <p:cond delay="0"/>
                                  </p:stCondLst>
                                  <p:iterate type="el" backwards="0">
                                    <p:tmAbs val="0"/>
                                  </p:iterate>
                                  <p:childTnLst>
                                    <p:set>
                                      <p:cBhvr>
                                        <p:cTn id="11" fill="hold"/>
                                        <p:tgtEl>
                                          <p:spTgt spid="72"/>
                                        </p:tgtEl>
                                        <p:attrNameLst>
                                          <p:attrName>style.visibility</p:attrName>
                                        </p:attrNameLst>
                                      </p:cBhvr>
                                      <p:to>
                                        <p:strVal val="visible"/>
                                      </p:to>
                                    </p:set>
                                    <p:animEffect filter="fade" transition="in">
                                      <p:cBhvr>
                                        <p:cTn id="12" dur="1000"/>
                                        <p:tgtEl>
                                          <p:spTgt spid="72"/>
                                        </p:tgtEl>
                                      </p:cBhvr>
                                    </p:animEffect>
                                  </p:childTnLst>
                                </p:cTn>
                              </p:par>
                            </p:childTnLst>
                          </p:cTn>
                        </p:par>
                      </p:childTnLst>
                    </p:cTn>
                  </p:par>
                  <p:par>
                    <p:cTn id="13" fill="hold">
                      <p:stCondLst>
                        <p:cond delay="indefinite"/>
                      </p:stCondLst>
                      <p:childTnLst>
                        <p:par>
                          <p:cTn id="14" fill="hold">
                            <p:stCondLst>
                              <p:cond delay="0"/>
                            </p:stCondLst>
                            <p:childTnLst>
                              <p:par>
                                <p:cTn id="15" presetClass="entr" nodeType="clickEffect" presetID="10" grpId="3" fill="hold">
                                  <p:stCondLst>
                                    <p:cond delay="0"/>
                                  </p:stCondLst>
                                  <p:iterate type="el" backwards="0">
                                    <p:tmAbs val="0"/>
                                  </p:iterate>
                                  <p:childTnLst>
                                    <p:set>
                                      <p:cBhvr>
                                        <p:cTn id="16" fill="hold"/>
                                        <p:tgtEl>
                                          <p:spTgt spid="73"/>
                                        </p:tgtEl>
                                        <p:attrNameLst>
                                          <p:attrName>style.visibility</p:attrName>
                                        </p:attrNameLst>
                                      </p:cBhvr>
                                      <p:to>
                                        <p:strVal val="visible"/>
                                      </p:to>
                                    </p:set>
                                    <p:animEffect filter="fade" transition="in">
                                      <p:cBhvr>
                                        <p:cTn id="17" dur="1000"/>
                                        <p:tgtEl>
                                          <p:spTgt spid="73"/>
                                        </p:tgtEl>
                                      </p:cBhvr>
                                    </p:animEffect>
                                  </p:childTnLst>
                                </p:cTn>
                              </p:par>
                            </p:childTnLst>
                          </p:cTn>
                        </p:par>
                      </p:childTnLst>
                    </p:cTn>
                  </p:par>
                  <p:par>
                    <p:cTn id="18" fill="hold">
                      <p:stCondLst>
                        <p:cond delay="indefinite"/>
                      </p:stCondLst>
                      <p:childTnLst>
                        <p:par>
                          <p:cTn id="19" fill="hold">
                            <p:stCondLst>
                              <p:cond delay="0"/>
                            </p:stCondLst>
                            <p:childTnLst>
                              <p:par>
                                <p:cTn id="20" presetClass="entr" nodeType="clickEffect" presetID="10" grpId="4" fill="hold">
                                  <p:stCondLst>
                                    <p:cond delay="0"/>
                                  </p:stCondLst>
                                  <p:iterate type="el" backwards="0">
                                    <p:tmAbs val="0"/>
                                  </p:iterate>
                                  <p:childTnLst>
                                    <p:set>
                                      <p:cBhvr>
                                        <p:cTn id="21" fill="hold"/>
                                        <p:tgtEl>
                                          <p:spTgt spid="75"/>
                                        </p:tgtEl>
                                        <p:attrNameLst>
                                          <p:attrName>style.visibility</p:attrName>
                                        </p:attrNameLst>
                                      </p:cBhvr>
                                      <p:to>
                                        <p:strVal val="visible"/>
                                      </p:to>
                                    </p:set>
                                    <p:animEffect filter="fade" transition="in">
                                      <p:cBhvr>
                                        <p:cTn id="22" dur="1000"/>
                                        <p:tgtEl>
                                          <p:spTgt spid="7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75" grpId="4"/>
      <p:bldP build="whole" bldLvl="1" animBg="1" rev="0" advAuto="0" spid="72" grpId="2"/>
      <p:bldP build="whole" bldLvl="1" animBg="1" rev="0" advAuto="0" spid="73" grpId="3"/>
      <p:bldP build="whole" bldLvl="1" animBg="1" rev="0" advAuto="0" spid="74" grpId="1"/>
    </p:bldLst>
  </p:timing>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77" name="Slide Number"/>
          <p:cNvSpPr txBox="1"/>
          <p:nvPr>
            <p:ph type="sldNum" sz="quarter" idx="2"/>
          </p:nvPr>
        </p:nvSpPr>
        <p:spPr>
          <a:xfrm>
            <a:off x="6401953" y="9369954"/>
            <a:ext cx="200894" cy="256506"/>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78" name="Creating Cross-References"/>
          <p:cNvSpPr txBox="1"/>
          <p:nvPr>
            <p:ph type="title"/>
          </p:nvPr>
        </p:nvSpPr>
        <p:spPr>
          <a:prstGeom prst="rect">
            <a:avLst/>
          </a:prstGeom>
        </p:spPr>
        <p:txBody>
          <a:bodyPr/>
          <a:lstStyle>
            <a:lvl1pPr defTabSz="578358">
              <a:defRPr sz="4554"/>
            </a:lvl1pPr>
          </a:lstStyle>
          <a:p>
            <a:pPr/>
            <a:r>
              <a:t>Creating Cross-References</a:t>
            </a:r>
          </a:p>
        </p:txBody>
      </p:sp>
      <p:sp>
        <p:nvSpPr>
          <p:cNvPr id="79" name="To create a cross-reference, there are two key things that you must do:"/>
          <p:cNvSpPr txBox="1"/>
          <p:nvPr/>
        </p:nvSpPr>
        <p:spPr>
          <a:xfrm>
            <a:off x="62084" y="889258"/>
            <a:ext cx="12590543" cy="558801"/>
          </a:xfrm>
          <a:prstGeom prst="rect">
            <a:avLst/>
          </a:prstGeom>
          <a:ln w="3175">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lgn="l">
              <a:defRPr sz="3200">
                <a:solidFill>
                  <a:srgbClr val="000000"/>
                </a:solidFill>
                <a:latin typeface="Franklin Gothic Medium"/>
                <a:ea typeface="Franklin Gothic Medium"/>
                <a:cs typeface="Franklin Gothic Medium"/>
                <a:sym typeface="Franklin Gothic Medium"/>
              </a:defRPr>
            </a:lvl1pPr>
          </a:lstStyle>
          <a:p>
            <a:pPr/>
            <a:r>
              <a:t>To create a cross-reference, there are two key things that you must do:</a:t>
            </a:r>
          </a:p>
        </p:txBody>
      </p:sp>
      <p:sp>
        <p:nvSpPr>
          <p:cNvPr id="80" name="Uniquely name each element, incorporating a reserved prefix."/>
          <p:cNvSpPr txBox="1"/>
          <p:nvPr/>
        </p:nvSpPr>
        <p:spPr>
          <a:xfrm>
            <a:off x="161822" y="1334373"/>
            <a:ext cx="12681155" cy="558801"/>
          </a:xfrm>
          <a:prstGeom prst="rect">
            <a:avLst/>
          </a:prstGeom>
          <a:ln w="3175">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marL="564444" indent="-564444" algn="l">
              <a:buSzPct val="100000"/>
              <a:buAutoNum type="arabicPeriod" startAt="1"/>
              <a:defRPr sz="3200">
                <a:solidFill>
                  <a:srgbClr val="008900"/>
                </a:solidFill>
                <a:latin typeface="Franklin Gothic Medium"/>
                <a:ea typeface="Franklin Gothic Medium"/>
                <a:cs typeface="Franklin Gothic Medium"/>
                <a:sym typeface="Franklin Gothic Medium"/>
              </a:defRPr>
            </a:lvl1pPr>
          </a:lstStyle>
          <a:p>
            <a:pPr/>
            <a:r>
              <a:t>Uniquely name each element, incorporating a reserved prefix.</a:t>
            </a:r>
          </a:p>
        </p:txBody>
      </p:sp>
      <p:sp>
        <p:nvSpPr>
          <p:cNvPr id="81" name="For tables, figures and code listings, you'll use the label code chunk option. Ex:"/>
          <p:cNvSpPr txBox="1"/>
          <p:nvPr/>
        </p:nvSpPr>
        <p:spPr>
          <a:xfrm>
            <a:off x="102931" y="1962759"/>
            <a:ext cx="12798938" cy="1044632"/>
          </a:xfrm>
          <a:prstGeom prst="rect">
            <a:avLst/>
          </a:prstGeom>
          <a:ln w="3175">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lgn="l">
              <a:defRPr sz="3200">
                <a:solidFill>
                  <a:srgbClr val="000000"/>
                </a:solidFill>
                <a:latin typeface="Franklin Gothic Medium"/>
                <a:ea typeface="Franklin Gothic Medium"/>
                <a:cs typeface="Franklin Gothic Medium"/>
                <a:sym typeface="Franklin Gothic Medium"/>
              </a:defRPr>
            </a:pPr>
            <a:r>
              <a:t>For tables, figures and code listings, you'll use the </a:t>
            </a:r>
            <a:r>
              <a:rPr sz="2700">
                <a:solidFill>
                  <a:srgbClr val="BA3EB3"/>
                </a:solidFill>
                <a:latin typeface="Monaco"/>
                <a:ea typeface="Monaco"/>
                <a:cs typeface="Monaco"/>
                <a:sym typeface="Monaco"/>
              </a:rPr>
              <a:t>label</a:t>
            </a:r>
            <a:r>
              <a:t> code chunk option. Ex:</a:t>
            </a:r>
          </a:p>
        </p:txBody>
      </p:sp>
      <p:sp>
        <p:nvSpPr>
          <p:cNvPr id="82" name="#| label: tbl-diamondSummary…"/>
          <p:cNvSpPr txBox="1"/>
          <p:nvPr/>
        </p:nvSpPr>
        <p:spPr>
          <a:xfrm>
            <a:off x="102931" y="3076976"/>
            <a:ext cx="6130987" cy="1444571"/>
          </a:xfrm>
          <a:prstGeom prst="rect">
            <a:avLst/>
          </a:prstGeom>
          <a:ln w="3175">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lgn="l">
              <a:defRPr sz="2700">
                <a:solidFill>
                  <a:srgbClr val="1D2FEB"/>
                </a:solidFill>
                <a:latin typeface="Monaco"/>
                <a:ea typeface="Monaco"/>
                <a:cs typeface="Monaco"/>
                <a:sym typeface="Monaco"/>
              </a:defRPr>
            </a:pPr>
            <a:r>
              <a:t>#| label: tbl-diamondSummary</a:t>
            </a:r>
          </a:p>
          <a:p>
            <a:pPr algn="l">
              <a:defRPr sz="2700">
                <a:solidFill>
                  <a:srgbClr val="1D2FEB"/>
                </a:solidFill>
                <a:latin typeface="Monaco"/>
                <a:ea typeface="Monaco"/>
                <a:cs typeface="Monaco"/>
                <a:sym typeface="Monaco"/>
              </a:defRPr>
            </a:pPr>
            <a:r>
              <a:t>#| label: fig-priceHistogram</a:t>
            </a:r>
          </a:p>
          <a:p>
            <a:pPr algn="l">
              <a:defRPr sz="2700">
                <a:solidFill>
                  <a:srgbClr val="1D2FEB"/>
                </a:solidFill>
                <a:latin typeface="Monaco"/>
                <a:ea typeface="Monaco"/>
                <a:cs typeface="Monaco"/>
                <a:sym typeface="Monaco"/>
              </a:defRPr>
            </a:pPr>
            <a:r>
              <a:t>#| label: lst-scrapeRanks</a:t>
            </a:r>
          </a:p>
        </p:txBody>
      </p:sp>
      <p:sp>
        <p:nvSpPr>
          <p:cNvPr id="83" name="For display equations, you'll add the label in a set of curly braces after the closing double dollar signs."/>
          <p:cNvSpPr txBox="1"/>
          <p:nvPr/>
        </p:nvSpPr>
        <p:spPr>
          <a:xfrm>
            <a:off x="102931" y="4856999"/>
            <a:ext cx="12798938" cy="1016001"/>
          </a:xfrm>
          <a:prstGeom prst="rect">
            <a:avLst/>
          </a:prstGeom>
          <a:ln w="3175">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lgn="l">
              <a:defRPr sz="3200">
                <a:solidFill>
                  <a:srgbClr val="000000"/>
                </a:solidFill>
                <a:latin typeface="Franklin Gothic Medium"/>
                <a:ea typeface="Franklin Gothic Medium"/>
                <a:cs typeface="Franklin Gothic Medium"/>
                <a:sym typeface="Franklin Gothic Medium"/>
              </a:defRPr>
            </a:pPr>
            <a:r>
              <a:t>For </a:t>
            </a:r>
            <a:r>
              <a:rPr i="1">
                <a:solidFill>
                  <a:srgbClr val="BA3EB3"/>
                </a:solidFill>
              </a:rPr>
              <a:t>display </a:t>
            </a:r>
            <a:r>
              <a:rPr>
                <a:solidFill>
                  <a:srgbClr val="BA3EB3"/>
                </a:solidFill>
              </a:rPr>
              <a:t>equations</a:t>
            </a:r>
            <a:r>
              <a:t>, you'll add the label in a set of curly braces after the closing double dollar signs.</a:t>
            </a:r>
          </a:p>
        </p:txBody>
      </p:sp>
      <p:sp>
        <p:nvSpPr>
          <p:cNvPr id="84" name="$$y = x^3$$ {#eq-cubic}"/>
          <p:cNvSpPr txBox="1"/>
          <p:nvPr/>
        </p:nvSpPr>
        <p:spPr>
          <a:xfrm>
            <a:off x="6153963" y="5361015"/>
            <a:ext cx="5001297" cy="530170"/>
          </a:xfrm>
          <a:prstGeom prst="rect">
            <a:avLst/>
          </a:prstGeom>
          <a:ln w="3175">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lgn="l">
              <a:defRPr sz="2700">
                <a:solidFill>
                  <a:srgbClr val="1D2FEB"/>
                </a:solidFill>
                <a:latin typeface="Monaco"/>
                <a:ea typeface="Monaco"/>
                <a:cs typeface="Monaco"/>
                <a:sym typeface="Monaco"/>
              </a:defRPr>
            </a:lvl1pPr>
          </a:lstStyle>
          <a:p>
            <a:pPr/>
            <a:r>
              <a:t>$$y = x^3$$ {#eq-cubic}</a:t>
            </a:r>
          </a:p>
        </p:txBody>
      </p:sp>
      <p:sp>
        <p:nvSpPr>
          <p:cNvPr id="85" name="fig for Figures…"/>
          <p:cNvSpPr txBox="1"/>
          <p:nvPr/>
        </p:nvSpPr>
        <p:spPr>
          <a:xfrm>
            <a:off x="1621228" y="7089224"/>
            <a:ext cx="10081260" cy="2077533"/>
          </a:xfrm>
          <a:prstGeom prst="rect">
            <a:avLst/>
          </a:prstGeom>
          <a:ln w="3175">
            <a:miter lim="400000"/>
          </a:ln>
          <a:extLst>
            <a:ext uri="{C572A759-6A51-4108-AA02-DFA0A04FC94B}">
              <ma14:wrappingTextBoxFlag xmlns:ma14="http://schemas.microsoft.com/office/mac/drawingml/2011/main" val="1"/>
            </a:ext>
          </a:extLst>
        </p:spPr>
        <p:txBody>
          <a:bodyPr lIns="38100" tIns="38100" rIns="38100" bIns="38100" numCol="2" spcCol="504062" anchor="ctr"/>
          <a:lstStyle/>
          <a:p>
            <a:pPr marL="428625" indent="-428625" algn="l">
              <a:buSzPct val="171000"/>
              <a:buChar char="•"/>
              <a:defRPr sz="3200">
                <a:solidFill>
                  <a:srgbClr val="000000"/>
                </a:solidFill>
                <a:latin typeface="Franklin Gothic Medium"/>
                <a:ea typeface="Franklin Gothic Medium"/>
                <a:cs typeface="Franklin Gothic Medium"/>
                <a:sym typeface="Franklin Gothic Medium"/>
              </a:defRPr>
            </a:pPr>
            <a:r>
              <a:rPr sz="2700">
                <a:solidFill>
                  <a:srgbClr val="008900"/>
                </a:solidFill>
                <a:latin typeface="Monaco"/>
                <a:ea typeface="Monaco"/>
                <a:cs typeface="Monaco"/>
                <a:sym typeface="Monaco"/>
              </a:rPr>
              <a:t>fig</a:t>
            </a:r>
            <a:r>
              <a:t> for Figures</a:t>
            </a:r>
          </a:p>
          <a:p>
            <a:pPr marL="428625" indent="-428625" algn="l">
              <a:buSzPct val="171000"/>
              <a:buChar char="•"/>
              <a:defRPr sz="3200">
                <a:solidFill>
                  <a:srgbClr val="000000"/>
                </a:solidFill>
                <a:latin typeface="Franklin Gothic Medium"/>
                <a:ea typeface="Franklin Gothic Medium"/>
                <a:cs typeface="Franklin Gothic Medium"/>
                <a:sym typeface="Franklin Gothic Medium"/>
              </a:defRPr>
            </a:pPr>
            <a:r>
              <a:rPr sz="2700">
                <a:solidFill>
                  <a:srgbClr val="008900"/>
                </a:solidFill>
                <a:latin typeface="Monaco"/>
                <a:ea typeface="Monaco"/>
                <a:cs typeface="Monaco"/>
                <a:sym typeface="Monaco"/>
              </a:rPr>
              <a:t>tbl</a:t>
            </a:r>
            <a:r>
              <a:t> for Tables</a:t>
            </a:r>
          </a:p>
          <a:p>
            <a:pPr marL="428625" indent="-428625" algn="l">
              <a:buSzPct val="171000"/>
              <a:buChar char="•"/>
              <a:defRPr sz="3200">
                <a:solidFill>
                  <a:srgbClr val="000000"/>
                </a:solidFill>
                <a:latin typeface="Franklin Gothic Medium"/>
                <a:ea typeface="Franklin Gothic Medium"/>
                <a:cs typeface="Franklin Gothic Medium"/>
                <a:sym typeface="Franklin Gothic Medium"/>
              </a:defRPr>
            </a:pPr>
            <a:r>
              <a:rPr sz="2700">
                <a:solidFill>
                  <a:srgbClr val="008900"/>
                </a:solidFill>
                <a:latin typeface="Monaco"/>
                <a:ea typeface="Monaco"/>
                <a:cs typeface="Monaco"/>
                <a:sym typeface="Monaco"/>
              </a:rPr>
              <a:t>lst</a:t>
            </a:r>
            <a:r>
              <a:t> for List(ing)s</a:t>
            </a:r>
          </a:p>
          <a:p>
            <a:pPr marL="428625" indent="-428625" algn="l">
              <a:buSzPct val="171000"/>
              <a:buChar char="•"/>
              <a:defRPr sz="3200">
                <a:solidFill>
                  <a:srgbClr val="000000"/>
                </a:solidFill>
                <a:latin typeface="Franklin Gothic Medium"/>
                <a:ea typeface="Franklin Gothic Medium"/>
                <a:cs typeface="Franklin Gothic Medium"/>
                <a:sym typeface="Franklin Gothic Medium"/>
              </a:defRPr>
            </a:pPr>
            <a:r>
              <a:rPr sz="2700">
                <a:solidFill>
                  <a:srgbClr val="008900"/>
                </a:solidFill>
                <a:latin typeface="Monaco"/>
                <a:ea typeface="Monaco"/>
                <a:cs typeface="Monaco"/>
                <a:sym typeface="Monaco"/>
              </a:rPr>
              <a:t>eq</a:t>
            </a:r>
            <a:r>
              <a:t> for Equations</a:t>
            </a:r>
          </a:p>
          <a:p>
            <a:pPr marL="428625" indent="-428625" algn="l">
              <a:buSzPct val="171000"/>
              <a:buChar char="•"/>
              <a:defRPr sz="3200">
                <a:solidFill>
                  <a:srgbClr val="000000"/>
                </a:solidFill>
                <a:latin typeface="Franklin Gothic Medium"/>
                <a:ea typeface="Franklin Gothic Medium"/>
                <a:cs typeface="Franklin Gothic Medium"/>
                <a:sym typeface="Franklin Gothic Medium"/>
              </a:defRPr>
            </a:pPr>
            <a:r>
              <a:rPr sz="2700">
                <a:solidFill>
                  <a:srgbClr val="008900"/>
                </a:solidFill>
                <a:latin typeface="Monaco"/>
                <a:ea typeface="Monaco"/>
                <a:cs typeface="Monaco"/>
                <a:sym typeface="Monaco"/>
              </a:rPr>
              <a:t>thm</a:t>
            </a:r>
            <a:r>
              <a:t> for Theorems</a:t>
            </a:r>
          </a:p>
          <a:p>
            <a:pPr marL="428625" indent="-428625" algn="l">
              <a:buSzPct val="171000"/>
              <a:buChar char="•"/>
              <a:defRPr sz="3200">
                <a:solidFill>
                  <a:srgbClr val="000000"/>
                </a:solidFill>
                <a:latin typeface="Franklin Gothic Medium"/>
                <a:ea typeface="Franklin Gothic Medium"/>
                <a:cs typeface="Franklin Gothic Medium"/>
                <a:sym typeface="Franklin Gothic Medium"/>
              </a:defRPr>
            </a:pPr>
            <a:r>
              <a:rPr sz="2700">
                <a:solidFill>
                  <a:srgbClr val="008900"/>
                </a:solidFill>
                <a:latin typeface="Monaco"/>
                <a:ea typeface="Monaco"/>
                <a:cs typeface="Monaco"/>
                <a:sym typeface="Monaco"/>
              </a:rPr>
              <a:t>def</a:t>
            </a:r>
            <a:r>
              <a:t> for Definitions</a:t>
            </a:r>
          </a:p>
          <a:p>
            <a:pPr marL="428625" indent="-428625" algn="l">
              <a:buSzPct val="171000"/>
              <a:buChar char="•"/>
              <a:defRPr sz="3200">
                <a:solidFill>
                  <a:srgbClr val="000000"/>
                </a:solidFill>
                <a:latin typeface="Franklin Gothic Medium"/>
                <a:ea typeface="Franklin Gothic Medium"/>
                <a:cs typeface="Franklin Gothic Medium"/>
                <a:sym typeface="Franklin Gothic Medium"/>
              </a:defRPr>
            </a:pPr>
            <a:r>
              <a:rPr sz="2700">
                <a:solidFill>
                  <a:srgbClr val="008900"/>
                </a:solidFill>
                <a:latin typeface="Monaco"/>
                <a:ea typeface="Monaco"/>
                <a:cs typeface="Monaco"/>
                <a:sym typeface="Monaco"/>
              </a:rPr>
              <a:t>sec</a:t>
            </a:r>
            <a:r>
              <a:t> for Sections</a:t>
            </a:r>
          </a:p>
        </p:txBody>
      </p:sp>
      <p:sp>
        <p:nvSpPr>
          <p:cNvPr id="86" name="Notice that each label starts with a special prefix that is separated from the name by a dash. The most common reserved prefixes include"/>
          <p:cNvSpPr txBox="1"/>
          <p:nvPr/>
        </p:nvSpPr>
        <p:spPr>
          <a:xfrm>
            <a:off x="102931" y="6119162"/>
            <a:ext cx="12798938" cy="1016001"/>
          </a:xfrm>
          <a:prstGeom prst="rect">
            <a:avLst/>
          </a:prstGeom>
          <a:ln w="3175">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lgn="l">
              <a:defRPr sz="3200">
                <a:solidFill>
                  <a:srgbClr val="000000"/>
                </a:solidFill>
                <a:latin typeface="Franklin Gothic Medium"/>
                <a:ea typeface="Franklin Gothic Medium"/>
                <a:cs typeface="Franklin Gothic Medium"/>
                <a:sym typeface="Franklin Gothic Medium"/>
              </a:defRPr>
            </a:lvl1pPr>
          </a:lstStyle>
          <a:p>
            <a:pPr/>
            <a:r>
              <a:t>Notice that each label starts with a special prefix that is separated from the name by a dash. The most common reserved prefixes include</a:t>
            </a:r>
          </a:p>
        </p:txBody>
      </p:sp>
      <p:sp>
        <p:nvSpPr>
          <p:cNvPr id="87" name="Note: these are 3 examples that would go with 3 distinct and separate code chunks."/>
          <p:cNvSpPr txBox="1"/>
          <p:nvPr/>
        </p:nvSpPr>
        <p:spPr>
          <a:xfrm>
            <a:off x="7494058" y="2994569"/>
            <a:ext cx="5411557" cy="1447801"/>
          </a:xfrm>
          <a:prstGeom prst="rect">
            <a:avLst/>
          </a:prstGeom>
          <a:ln w="3175">
            <a:miter lim="400000"/>
          </a:ln>
          <a:extLst>
            <a:ext uri="{C572A759-6A51-4108-AA02-DFA0A04FC94B}">
              <ma14:wrappingTextBoxFlag xmlns:ma14="http://schemas.microsoft.com/office/mac/drawingml/2011/main" val="1"/>
            </a:ext>
          </a:extLst>
        </p:spPr>
        <p:txBody>
          <a:bodyPr lIns="38100" tIns="38100" rIns="38100" bIns="38100" anchor="ctr">
            <a:spAutoFit/>
          </a:bodyPr>
          <a:lstStyle/>
          <a:p>
            <a:pPr algn="l">
              <a:defRPr sz="3200">
                <a:solidFill>
                  <a:srgbClr val="BA3EB3"/>
                </a:solidFill>
                <a:latin typeface="Franklin Gothic Medium"/>
                <a:ea typeface="Franklin Gothic Medium"/>
                <a:cs typeface="Franklin Gothic Medium"/>
                <a:sym typeface="Franklin Gothic Medium"/>
              </a:defRPr>
            </a:pPr>
            <a:r>
              <a:t>Note: these are 3 examples that would go with 3 </a:t>
            </a:r>
            <a:r>
              <a:rPr i="1"/>
              <a:t>distinct and separate </a:t>
            </a:r>
            <a:r>
              <a:t>code chunks. </a:t>
            </a:r>
          </a:p>
        </p:txBody>
      </p:sp>
    </p:spTree>
  </p:cSld>
  <p:clrMapOvr>
    <a:masterClrMapping/>
  </p:clrMapOvr>
  <mc:AlternateContent xmlns:mc="http://schemas.openxmlformats.org/markup-compatibility/2006">
    <mc:Choice xmlns:p14="http://schemas.microsoft.com/office/powerpoint/2010/main" Requires="p14">
      <p:transition spd="slow" advClick="1" p14:dur="1500">
        <p:fade/>
      </p:transition>
    </mc:Choice>
    <mc:Fallback>
      <p:transition spd="slow">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ID="10" grpId="1" fill="hold">
                                  <p:stCondLst>
                                    <p:cond delay="0"/>
                                  </p:stCondLst>
                                  <p:iterate type="el" backwards="0">
                                    <p:tmAbs val="0"/>
                                  </p:iterate>
                                  <p:childTnLst>
                                    <p:set>
                                      <p:cBhvr>
                                        <p:cTn id="6" fill="hold"/>
                                        <p:tgtEl>
                                          <p:spTgt spid="80"/>
                                        </p:tgtEl>
                                        <p:attrNameLst>
                                          <p:attrName>style.visibility</p:attrName>
                                        </p:attrNameLst>
                                      </p:cBhvr>
                                      <p:to>
                                        <p:strVal val="visible"/>
                                      </p:to>
                                    </p:set>
                                    <p:animEffect filter="fade" transition="in">
                                      <p:cBhvr>
                                        <p:cTn id="7" dur="1500"/>
                                        <p:tgtEl>
                                          <p:spTgt spid="80"/>
                                        </p:tgtEl>
                                      </p:cBhvr>
                                    </p:animEffect>
                                  </p:childTnLst>
                                </p:cTn>
                              </p:par>
                            </p:childTnLst>
                          </p:cTn>
                        </p:par>
                      </p:childTnLst>
                    </p:cTn>
                  </p:par>
                  <p:par>
                    <p:cTn id="8" fill="hold">
                      <p:stCondLst>
                        <p:cond delay="indefinite"/>
                      </p:stCondLst>
                      <p:childTnLst>
                        <p:par>
                          <p:cTn id="9" fill="hold">
                            <p:stCondLst>
                              <p:cond delay="0"/>
                            </p:stCondLst>
                            <p:childTnLst>
                              <p:par>
                                <p:cTn id="10" presetClass="entr" nodeType="clickEffect" presetID="10" grpId="2" fill="hold">
                                  <p:stCondLst>
                                    <p:cond delay="0"/>
                                  </p:stCondLst>
                                  <p:iterate type="el" backwards="0">
                                    <p:tmAbs val="0"/>
                                  </p:iterate>
                                  <p:childTnLst>
                                    <p:set>
                                      <p:cBhvr>
                                        <p:cTn id="11" fill="hold"/>
                                        <p:tgtEl>
                                          <p:spTgt spid="81"/>
                                        </p:tgtEl>
                                        <p:attrNameLst>
                                          <p:attrName>style.visibility</p:attrName>
                                        </p:attrNameLst>
                                      </p:cBhvr>
                                      <p:to>
                                        <p:strVal val="visible"/>
                                      </p:to>
                                    </p:set>
                                    <p:animEffect filter="fade" transition="in">
                                      <p:cBhvr>
                                        <p:cTn id="12" dur="1000"/>
                                        <p:tgtEl>
                                          <p:spTgt spid="81"/>
                                        </p:tgtEl>
                                      </p:cBhvr>
                                    </p:animEffect>
                                  </p:childTnLst>
                                </p:cTn>
                              </p:par>
                            </p:childTnLst>
                          </p:cTn>
                        </p:par>
                      </p:childTnLst>
                    </p:cTn>
                  </p:par>
                  <p:par>
                    <p:cTn id="13" fill="hold">
                      <p:stCondLst>
                        <p:cond delay="indefinite"/>
                      </p:stCondLst>
                      <p:childTnLst>
                        <p:par>
                          <p:cTn id="14" fill="hold">
                            <p:stCondLst>
                              <p:cond delay="0"/>
                            </p:stCondLst>
                            <p:childTnLst>
                              <p:par>
                                <p:cTn id="15" presetClass="entr" nodeType="clickEffect" presetID="10" grpId="3" fill="hold">
                                  <p:stCondLst>
                                    <p:cond delay="0"/>
                                  </p:stCondLst>
                                  <p:iterate type="el" backwards="0">
                                    <p:tmAbs val="0"/>
                                  </p:iterate>
                                  <p:childTnLst>
                                    <p:set>
                                      <p:cBhvr>
                                        <p:cTn id="16" fill="hold"/>
                                        <p:tgtEl>
                                          <p:spTgt spid="82"/>
                                        </p:tgtEl>
                                        <p:attrNameLst>
                                          <p:attrName>style.visibility</p:attrName>
                                        </p:attrNameLst>
                                      </p:cBhvr>
                                      <p:to>
                                        <p:strVal val="visible"/>
                                      </p:to>
                                    </p:set>
                                    <p:animEffect filter="fade" transition="in">
                                      <p:cBhvr>
                                        <p:cTn id="17" dur="1000"/>
                                        <p:tgtEl>
                                          <p:spTgt spid="82"/>
                                        </p:tgtEl>
                                      </p:cBhvr>
                                    </p:animEffect>
                                  </p:childTnLst>
                                </p:cTn>
                              </p:par>
                            </p:childTnLst>
                          </p:cTn>
                        </p:par>
                        <p:par>
                          <p:cTn id="18" fill="hold">
                            <p:stCondLst>
                              <p:cond delay="1000"/>
                            </p:stCondLst>
                            <p:childTnLst>
                              <p:par>
                                <p:cTn id="19" presetClass="entr" nodeType="afterEffect" presetID="10" grpId="4" fill="hold">
                                  <p:stCondLst>
                                    <p:cond delay="0"/>
                                  </p:stCondLst>
                                  <p:iterate type="el" backwards="0">
                                    <p:tmAbs val="0"/>
                                  </p:iterate>
                                  <p:childTnLst>
                                    <p:set>
                                      <p:cBhvr>
                                        <p:cTn id="20" fill="hold"/>
                                        <p:tgtEl>
                                          <p:spTgt spid="87"/>
                                        </p:tgtEl>
                                        <p:attrNameLst>
                                          <p:attrName>style.visibility</p:attrName>
                                        </p:attrNameLst>
                                      </p:cBhvr>
                                      <p:to>
                                        <p:strVal val="visible"/>
                                      </p:to>
                                    </p:set>
                                    <p:animEffect filter="fade" transition="in">
                                      <p:cBhvr>
                                        <p:cTn id="21" dur="1000"/>
                                        <p:tgtEl>
                                          <p:spTgt spid="87"/>
                                        </p:tgtEl>
                                      </p:cBhvr>
                                    </p:animEffect>
                                  </p:childTnLst>
                                </p:cTn>
                              </p:par>
                            </p:childTnLst>
                          </p:cTn>
                        </p:par>
                      </p:childTnLst>
                    </p:cTn>
                  </p:par>
                  <p:par>
                    <p:cTn id="22" fill="hold">
                      <p:stCondLst>
                        <p:cond delay="indefinite"/>
                      </p:stCondLst>
                      <p:childTnLst>
                        <p:par>
                          <p:cTn id="23" fill="hold">
                            <p:stCondLst>
                              <p:cond delay="0"/>
                            </p:stCondLst>
                            <p:childTnLst>
                              <p:par>
                                <p:cTn id="24" presetClass="entr" nodeType="clickEffect" presetID="10" grpId="5" fill="hold">
                                  <p:stCondLst>
                                    <p:cond delay="0"/>
                                  </p:stCondLst>
                                  <p:iterate type="el" backwards="0">
                                    <p:tmAbs val="0"/>
                                  </p:iterate>
                                  <p:childTnLst>
                                    <p:set>
                                      <p:cBhvr>
                                        <p:cTn id="25" fill="hold"/>
                                        <p:tgtEl>
                                          <p:spTgt spid="83"/>
                                        </p:tgtEl>
                                        <p:attrNameLst>
                                          <p:attrName>style.visibility</p:attrName>
                                        </p:attrNameLst>
                                      </p:cBhvr>
                                      <p:to>
                                        <p:strVal val="visible"/>
                                      </p:to>
                                    </p:set>
                                    <p:animEffect filter="fade" transition="in">
                                      <p:cBhvr>
                                        <p:cTn id="26" dur="1000"/>
                                        <p:tgtEl>
                                          <p:spTgt spid="83"/>
                                        </p:tgtEl>
                                      </p:cBhvr>
                                    </p:animEffect>
                                  </p:childTnLst>
                                </p:cTn>
                              </p:par>
                            </p:childTnLst>
                          </p:cTn>
                        </p:par>
                        <p:par>
                          <p:cTn id="27" fill="hold">
                            <p:stCondLst>
                              <p:cond delay="1000"/>
                            </p:stCondLst>
                            <p:childTnLst>
                              <p:par>
                                <p:cTn id="28" presetClass="entr" nodeType="afterEffect" presetID="10" grpId="6" fill="hold">
                                  <p:stCondLst>
                                    <p:cond delay="0"/>
                                  </p:stCondLst>
                                  <p:iterate type="el" backwards="0">
                                    <p:tmAbs val="0"/>
                                  </p:iterate>
                                  <p:childTnLst>
                                    <p:set>
                                      <p:cBhvr>
                                        <p:cTn id="29" fill="hold"/>
                                        <p:tgtEl>
                                          <p:spTgt spid="84"/>
                                        </p:tgtEl>
                                        <p:attrNameLst>
                                          <p:attrName>style.visibility</p:attrName>
                                        </p:attrNameLst>
                                      </p:cBhvr>
                                      <p:to>
                                        <p:strVal val="visible"/>
                                      </p:to>
                                    </p:set>
                                    <p:animEffect filter="fade" transition="in">
                                      <p:cBhvr>
                                        <p:cTn id="30" dur="1000"/>
                                        <p:tgtEl>
                                          <p:spTgt spid="84"/>
                                        </p:tgtEl>
                                      </p:cBhvr>
                                    </p:animEffect>
                                  </p:childTnLst>
                                </p:cTn>
                              </p:par>
                            </p:childTnLst>
                          </p:cTn>
                        </p:par>
                      </p:childTnLst>
                    </p:cTn>
                  </p:par>
                  <p:par>
                    <p:cTn id="31" fill="hold">
                      <p:stCondLst>
                        <p:cond delay="indefinite"/>
                      </p:stCondLst>
                      <p:childTnLst>
                        <p:par>
                          <p:cTn id="32" fill="hold">
                            <p:stCondLst>
                              <p:cond delay="0"/>
                            </p:stCondLst>
                            <p:childTnLst>
                              <p:par>
                                <p:cTn id="33" presetClass="entr" nodeType="clickEffect" presetID="10" grpId="7" fill="hold">
                                  <p:stCondLst>
                                    <p:cond delay="0"/>
                                  </p:stCondLst>
                                  <p:iterate type="el" backwards="0">
                                    <p:tmAbs val="0"/>
                                  </p:iterate>
                                  <p:childTnLst>
                                    <p:set>
                                      <p:cBhvr>
                                        <p:cTn id="34" fill="hold"/>
                                        <p:tgtEl>
                                          <p:spTgt spid="86"/>
                                        </p:tgtEl>
                                        <p:attrNameLst>
                                          <p:attrName>style.visibility</p:attrName>
                                        </p:attrNameLst>
                                      </p:cBhvr>
                                      <p:to>
                                        <p:strVal val="visible"/>
                                      </p:to>
                                    </p:set>
                                    <p:animEffect filter="fade" transition="in">
                                      <p:cBhvr>
                                        <p:cTn id="35" dur="1000"/>
                                        <p:tgtEl>
                                          <p:spTgt spid="86"/>
                                        </p:tgtEl>
                                      </p:cBhvr>
                                    </p:animEffect>
                                  </p:childTnLst>
                                </p:cTn>
                              </p:par>
                            </p:childTnLst>
                          </p:cTn>
                        </p:par>
                      </p:childTnLst>
                    </p:cTn>
                  </p:par>
                  <p:par>
                    <p:cTn id="36" fill="hold">
                      <p:stCondLst>
                        <p:cond delay="indefinite"/>
                      </p:stCondLst>
                      <p:childTnLst>
                        <p:par>
                          <p:cTn id="37" fill="hold">
                            <p:stCondLst>
                              <p:cond delay="0"/>
                            </p:stCondLst>
                            <p:childTnLst>
                              <p:par>
                                <p:cTn id="38" presetClass="entr" nodeType="clickEffect" presetID="10" grpId="8" fill="hold">
                                  <p:stCondLst>
                                    <p:cond delay="0"/>
                                  </p:stCondLst>
                                  <p:iterate type="el" backwards="0">
                                    <p:tmAbs val="0"/>
                                  </p:iterate>
                                  <p:childTnLst>
                                    <p:set>
                                      <p:cBhvr>
                                        <p:cTn id="39" fill="hold"/>
                                        <p:tgtEl>
                                          <p:spTgt spid="85"/>
                                        </p:tgtEl>
                                        <p:attrNameLst>
                                          <p:attrName>style.visibility</p:attrName>
                                        </p:attrNameLst>
                                      </p:cBhvr>
                                      <p:to>
                                        <p:strVal val="visible"/>
                                      </p:to>
                                    </p:set>
                                    <p:animEffect filter="fade" transition="in">
                                      <p:cBhvr>
                                        <p:cTn id="40" dur="1000"/>
                                        <p:tgtEl>
                                          <p:spTgt spid="8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80" grpId="1"/>
      <p:bldP build="whole" bldLvl="1" animBg="1" rev="0" advAuto="0" spid="83" grpId="5"/>
      <p:bldP build="whole" bldLvl="1" animBg="1" rev="0" advAuto="0" spid="81" grpId="2"/>
      <p:bldP build="whole" bldLvl="1" animBg="1" rev="0" advAuto="0" spid="86" grpId="7"/>
      <p:bldP build="whole" bldLvl="1" animBg="1" rev="0" advAuto="0" spid="87" grpId="4"/>
      <p:bldP build="whole" bldLvl="1" animBg="1" rev="0" advAuto="0" spid="82" grpId="3"/>
      <p:bldP build="whole" bldLvl="1" animBg="1" rev="0" advAuto="0" spid="84" grpId="6"/>
      <p:bldP build="whole" bldLvl="1" animBg="1" rev="0" advAuto="0" spid="85" grpId="8"/>
    </p:bldLst>
  </p:timing>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89" name="Slide Number"/>
          <p:cNvSpPr txBox="1"/>
          <p:nvPr>
            <p:ph type="sldNum" sz="quarter" idx="2"/>
          </p:nvPr>
        </p:nvSpPr>
        <p:spPr>
          <a:xfrm>
            <a:off x="6401953" y="9369954"/>
            <a:ext cx="200894" cy="256506"/>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90" name="Creating Cross-References"/>
          <p:cNvSpPr txBox="1"/>
          <p:nvPr>
            <p:ph type="title"/>
          </p:nvPr>
        </p:nvSpPr>
        <p:spPr>
          <a:prstGeom prst="rect">
            <a:avLst/>
          </a:prstGeom>
        </p:spPr>
        <p:txBody>
          <a:bodyPr/>
          <a:lstStyle>
            <a:lvl1pPr defTabSz="578358">
              <a:defRPr sz="4554"/>
            </a:lvl1pPr>
          </a:lstStyle>
          <a:p>
            <a:pPr/>
            <a:r>
              <a:t>Creating Cross-References</a:t>
            </a:r>
          </a:p>
        </p:txBody>
      </p:sp>
      <p:sp>
        <p:nvSpPr>
          <p:cNvPr id="91" name="To create a cross-reference, there are two key things that you must do:"/>
          <p:cNvSpPr txBox="1"/>
          <p:nvPr/>
        </p:nvSpPr>
        <p:spPr>
          <a:xfrm>
            <a:off x="62084" y="889258"/>
            <a:ext cx="12590543" cy="558801"/>
          </a:xfrm>
          <a:prstGeom prst="rect">
            <a:avLst/>
          </a:prstGeom>
          <a:ln w="3175">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lgn="l">
              <a:defRPr sz="3200">
                <a:solidFill>
                  <a:srgbClr val="000000"/>
                </a:solidFill>
                <a:latin typeface="Franklin Gothic Medium"/>
                <a:ea typeface="Franklin Gothic Medium"/>
                <a:cs typeface="Franklin Gothic Medium"/>
                <a:sym typeface="Franklin Gothic Medium"/>
              </a:defRPr>
            </a:lvl1pPr>
          </a:lstStyle>
          <a:p>
            <a:pPr/>
            <a:r>
              <a:t>To create a cross-reference, there are two key things that you must do:</a:t>
            </a:r>
          </a:p>
        </p:txBody>
      </p:sp>
      <p:sp>
        <p:nvSpPr>
          <p:cNvPr id="92" name="In your narrative text where you want to create a cross-reference, you'll need to put a reference tag by typing the @ followed by the element's label. For example, @fig-priceHistogram or @tbl-diamondSummary."/>
          <p:cNvSpPr txBox="1"/>
          <p:nvPr/>
        </p:nvSpPr>
        <p:spPr>
          <a:xfrm>
            <a:off x="102931" y="2363522"/>
            <a:ext cx="12798938" cy="1503487"/>
          </a:xfrm>
          <a:prstGeom prst="rect">
            <a:avLst/>
          </a:prstGeom>
          <a:ln w="3175">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lgn="l">
              <a:defRPr sz="3200">
                <a:solidFill>
                  <a:srgbClr val="000000"/>
                </a:solidFill>
                <a:latin typeface="Franklin Gothic Medium"/>
                <a:ea typeface="Franklin Gothic Medium"/>
                <a:cs typeface="Franklin Gothic Medium"/>
                <a:sym typeface="Franklin Gothic Medium"/>
              </a:defRPr>
            </a:pPr>
            <a:r>
              <a:t>In your narrative text where you want to create a cross-reference, you'll need to put a reference tag by typing the </a:t>
            </a:r>
            <a:r>
              <a:rPr sz="2800">
                <a:solidFill>
                  <a:srgbClr val="1D2FEB"/>
                </a:solidFill>
                <a:latin typeface="Monaco"/>
                <a:ea typeface="Monaco"/>
                <a:cs typeface="Monaco"/>
                <a:sym typeface="Monaco"/>
              </a:rPr>
              <a:t>@</a:t>
            </a:r>
            <a:r>
              <a:t> followed by the element's label. For example, </a:t>
            </a:r>
            <a:r>
              <a:rPr sz="2700">
                <a:solidFill>
                  <a:srgbClr val="1D2FEB"/>
                </a:solidFill>
                <a:latin typeface="Monaco"/>
                <a:ea typeface="Monaco"/>
                <a:cs typeface="Monaco"/>
                <a:sym typeface="Monaco"/>
              </a:rPr>
              <a:t>@fig-priceHistogram</a:t>
            </a:r>
            <a:r>
              <a:t> or </a:t>
            </a:r>
            <a:r>
              <a:rPr sz="2700">
                <a:solidFill>
                  <a:srgbClr val="1D2FEB"/>
                </a:solidFill>
                <a:latin typeface="Monaco"/>
                <a:ea typeface="Monaco"/>
                <a:cs typeface="Monaco"/>
                <a:sym typeface="Monaco"/>
              </a:rPr>
              <a:t>@tbl-diamondSummary</a:t>
            </a:r>
            <a:r>
              <a:t>.</a:t>
            </a:r>
          </a:p>
        </p:txBody>
      </p:sp>
      <p:sp>
        <p:nvSpPr>
          <p:cNvPr id="93" name="You must then use reference tags in your narrative text."/>
          <p:cNvSpPr txBox="1"/>
          <p:nvPr/>
        </p:nvSpPr>
        <p:spPr>
          <a:xfrm>
            <a:off x="161822" y="1557213"/>
            <a:ext cx="12681155" cy="558801"/>
          </a:xfrm>
          <a:prstGeom prst="rect">
            <a:avLst/>
          </a:prstGeom>
          <a:ln w="3175">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marL="564444" indent="-564444" algn="l">
              <a:buSzPct val="100000"/>
              <a:buAutoNum type="arabicPeriod" startAt="2"/>
              <a:defRPr sz="3200">
                <a:solidFill>
                  <a:srgbClr val="008900"/>
                </a:solidFill>
                <a:latin typeface="Franklin Gothic Medium"/>
                <a:ea typeface="Franklin Gothic Medium"/>
                <a:cs typeface="Franklin Gothic Medium"/>
                <a:sym typeface="Franklin Gothic Medium"/>
              </a:defRPr>
            </a:lvl1pPr>
          </a:lstStyle>
          <a:p>
            <a:pPr/>
            <a:r>
              <a:t>You must then use reference tags in your narrative text.</a:t>
            </a:r>
          </a:p>
        </p:txBody>
      </p:sp>
      <p:sp>
        <p:nvSpPr>
          <p:cNvPr id="94" name="These reference tags will get converted to the appropriate label (Figure, Table, etc.), number, AND be hyperlinked."/>
          <p:cNvSpPr txBox="1"/>
          <p:nvPr/>
        </p:nvSpPr>
        <p:spPr>
          <a:xfrm>
            <a:off x="102931" y="4253962"/>
            <a:ext cx="12798938" cy="1016001"/>
          </a:xfrm>
          <a:prstGeom prst="rect">
            <a:avLst/>
          </a:prstGeom>
          <a:ln w="3175">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lgn="l">
              <a:defRPr sz="3200">
                <a:solidFill>
                  <a:srgbClr val="000000"/>
                </a:solidFill>
                <a:latin typeface="Franklin Gothic Medium"/>
                <a:ea typeface="Franklin Gothic Medium"/>
                <a:cs typeface="Franklin Gothic Medium"/>
                <a:sym typeface="Franklin Gothic Medium"/>
              </a:defRPr>
            </a:lvl1pPr>
          </a:lstStyle>
          <a:p>
            <a:pPr/>
            <a:r>
              <a:t>These reference tags will get converted to the appropriate label (Figure, Table, etc.), number, AND be hyperlinked.</a:t>
            </a:r>
          </a:p>
        </p:txBody>
      </p:sp>
      <p:sp>
        <p:nvSpPr>
          <p:cNvPr id="95" name="To build a cross-reference to a sub-element such as Figure 5b, you'll do all of the preceding steps. When you make your reference tag, you'll add a number suffix for the desired sub-element."/>
          <p:cNvSpPr txBox="1"/>
          <p:nvPr/>
        </p:nvSpPr>
        <p:spPr>
          <a:xfrm>
            <a:off x="102931" y="5595310"/>
            <a:ext cx="12798938" cy="1473201"/>
          </a:xfrm>
          <a:prstGeom prst="rect">
            <a:avLst/>
          </a:prstGeom>
          <a:ln w="3175">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lgn="l">
              <a:defRPr sz="3200">
                <a:solidFill>
                  <a:srgbClr val="000000"/>
                </a:solidFill>
                <a:latin typeface="Franklin Gothic Medium"/>
                <a:ea typeface="Franklin Gothic Medium"/>
                <a:cs typeface="Franklin Gothic Medium"/>
                <a:sym typeface="Franklin Gothic Medium"/>
              </a:defRPr>
            </a:pPr>
            <a:r>
              <a:t>To build a cross-reference to a </a:t>
            </a:r>
            <a:r>
              <a:rPr sz="3100"/>
              <a:t>sub-element</a:t>
            </a:r>
            <a:r>
              <a:t> such as Figure 5b, you'll do all of the preceding steps. When you make your reference tag, you'll add a number suffix for the desired sub-element.</a:t>
            </a:r>
          </a:p>
        </p:txBody>
      </p:sp>
      <p:sp>
        <p:nvSpPr>
          <p:cNvPr id="96" name="For example, @fig-boxplots-2 would create a reference to the second plot in a set of multiple plots (i.e., Figure #b). Note: faceting does not count as a set of sub-figures for cross-referencing."/>
          <p:cNvSpPr txBox="1"/>
          <p:nvPr/>
        </p:nvSpPr>
        <p:spPr>
          <a:xfrm>
            <a:off x="102931" y="7468316"/>
            <a:ext cx="12798938" cy="1501832"/>
          </a:xfrm>
          <a:prstGeom prst="rect">
            <a:avLst/>
          </a:prstGeom>
          <a:ln w="3175">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lgn="l">
              <a:defRPr sz="3200">
                <a:solidFill>
                  <a:srgbClr val="000000"/>
                </a:solidFill>
                <a:latin typeface="Franklin Gothic Medium"/>
                <a:ea typeface="Franklin Gothic Medium"/>
                <a:cs typeface="Franklin Gothic Medium"/>
                <a:sym typeface="Franklin Gothic Medium"/>
              </a:defRPr>
            </a:pPr>
            <a:r>
              <a:t>For example, </a:t>
            </a:r>
            <a:r>
              <a:rPr sz="2700">
                <a:solidFill>
                  <a:srgbClr val="008900"/>
                </a:solidFill>
                <a:latin typeface="Monaco"/>
                <a:ea typeface="Monaco"/>
                <a:cs typeface="Monaco"/>
                <a:sym typeface="Monaco"/>
              </a:rPr>
              <a:t>@fig-boxplots-2</a:t>
            </a:r>
            <a:r>
              <a:t> would create a reference to the second plot in a set of multiple plots (i.e., Figure #b).</a:t>
            </a:r>
            <a:r>
              <a:rPr>
                <a:solidFill>
                  <a:srgbClr val="BA3EB3"/>
                </a:solidFill>
              </a:rPr>
              <a:t> Note: faceting does not count as a set of sub-figures for cross-referencing.</a:t>
            </a:r>
          </a:p>
        </p:txBody>
      </p:sp>
    </p:spTree>
  </p:cSld>
  <p:clrMapOvr>
    <a:masterClrMapping/>
  </p:clrMapOvr>
  <mc:AlternateContent xmlns:mc="http://schemas.openxmlformats.org/markup-compatibility/2006">
    <mc:Choice xmlns:p14="http://schemas.microsoft.com/office/powerpoint/2010/main" Requires="p14">
      <p:transition spd="slow" advClick="1" p14:dur="1500">
        <p:fade/>
      </p:transition>
    </mc:Choice>
    <mc:Fallback>
      <p:transition spd="slow">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entr" nodeType="afterEffect" presetID="10" grpId="1" fill="hold">
                                  <p:stCondLst>
                                    <p:cond delay="0"/>
                                  </p:stCondLst>
                                  <p:iterate type="el" backwards="0">
                                    <p:tmAbs val="0"/>
                                  </p:iterate>
                                  <p:childTnLst>
                                    <p:set>
                                      <p:cBhvr>
                                        <p:cTn id="6" fill="hold"/>
                                        <p:tgtEl>
                                          <p:spTgt spid="93"/>
                                        </p:tgtEl>
                                        <p:attrNameLst>
                                          <p:attrName>style.visibility</p:attrName>
                                        </p:attrNameLst>
                                      </p:cBhvr>
                                      <p:to>
                                        <p:strVal val="visible"/>
                                      </p:to>
                                    </p:set>
                                    <p:animEffect filter="fade" transition="in">
                                      <p:cBhvr>
                                        <p:cTn id="7" dur="1500"/>
                                        <p:tgtEl>
                                          <p:spTgt spid="93"/>
                                        </p:tgtEl>
                                      </p:cBhvr>
                                    </p:animEffect>
                                  </p:childTnLst>
                                </p:cTn>
                              </p:par>
                            </p:childTnLst>
                          </p:cTn>
                        </p:par>
                      </p:childTnLst>
                    </p:cTn>
                  </p:par>
                  <p:par>
                    <p:cTn id="8" fill="hold">
                      <p:stCondLst>
                        <p:cond delay="indefinite"/>
                      </p:stCondLst>
                      <p:childTnLst>
                        <p:par>
                          <p:cTn id="9" fill="hold">
                            <p:stCondLst>
                              <p:cond delay="0"/>
                            </p:stCondLst>
                            <p:childTnLst>
                              <p:par>
                                <p:cTn id="10" presetClass="entr" nodeType="clickEffect" presetID="10" grpId="2" fill="hold">
                                  <p:stCondLst>
                                    <p:cond delay="0"/>
                                  </p:stCondLst>
                                  <p:iterate type="el" backwards="0">
                                    <p:tmAbs val="0"/>
                                  </p:iterate>
                                  <p:childTnLst>
                                    <p:set>
                                      <p:cBhvr>
                                        <p:cTn id="11" fill="hold"/>
                                        <p:tgtEl>
                                          <p:spTgt spid="92"/>
                                        </p:tgtEl>
                                        <p:attrNameLst>
                                          <p:attrName>style.visibility</p:attrName>
                                        </p:attrNameLst>
                                      </p:cBhvr>
                                      <p:to>
                                        <p:strVal val="visible"/>
                                      </p:to>
                                    </p:set>
                                    <p:animEffect filter="fade" transition="in">
                                      <p:cBhvr>
                                        <p:cTn id="12" dur="1000"/>
                                        <p:tgtEl>
                                          <p:spTgt spid="92"/>
                                        </p:tgtEl>
                                      </p:cBhvr>
                                    </p:animEffect>
                                  </p:childTnLst>
                                </p:cTn>
                              </p:par>
                            </p:childTnLst>
                          </p:cTn>
                        </p:par>
                      </p:childTnLst>
                    </p:cTn>
                  </p:par>
                  <p:par>
                    <p:cTn id="13" fill="hold">
                      <p:stCondLst>
                        <p:cond delay="indefinite"/>
                      </p:stCondLst>
                      <p:childTnLst>
                        <p:par>
                          <p:cTn id="14" fill="hold">
                            <p:stCondLst>
                              <p:cond delay="0"/>
                            </p:stCondLst>
                            <p:childTnLst>
                              <p:par>
                                <p:cTn id="15" presetClass="entr" nodeType="clickEffect" presetID="10" grpId="3" fill="hold">
                                  <p:stCondLst>
                                    <p:cond delay="0"/>
                                  </p:stCondLst>
                                  <p:iterate type="el" backwards="0">
                                    <p:tmAbs val="0"/>
                                  </p:iterate>
                                  <p:childTnLst>
                                    <p:set>
                                      <p:cBhvr>
                                        <p:cTn id="16" fill="hold"/>
                                        <p:tgtEl>
                                          <p:spTgt spid="94"/>
                                        </p:tgtEl>
                                        <p:attrNameLst>
                                          <p:attrName>style.visibility</p:attrName>
                                        </p:attrNameLst>
                                      </p:cBhvr>
                                      <p:to>
                                        <p:strVal val="visible"/>
                                      </p:to>
                                    </p:set>
                                    <p:animEffect filter="fade" transition="in">
                                      <p:cBhvr>
                                        <p:cTn id="17" dur="1000"/>
                                        <p:tgtEl>
                                          <p:spTgt spid="94"/>
                                        </p:tgtEl>
                                      </p:cBhvr>
                                    </p:animEffect>
                                  </p:childTnLst>
                                </p:cTn>
                              </p:par>
                            </p:childTnLst>
                          </p:cTn>
                        </p:par>
                      </p:childTnLst>
                    </p:cTn>
                  </p:par>
                  <p:par>
                    <p:cTn id="18" fill="hold">
                      <p:stCondLst>
                        <p:cond delay="indefinite"/>
                      </p:stCondLst>
                      <p:childTnLst>
                        <p:par>
                          <p:cTn id="19" fill="hold">
                            <p:stCondLst>
                              <p:cond delay="0"/>
                            </p:stCondLst>
                            <p:childTnLst>
                              <p:par>
                                <p:cTn id="20" presetClass="entr" nodeType="clickEffect" presetID="10" grpId="4" fill="hold">
                                  <p:stCondLst>
                                    <p:cond delay="0"/>
                                  </p:stCondLst>
                                  <p:iterate type="el" backwards="0">
                                    <p:tmAbs val="0"/>
                                  </p:iterate>
                                  <p:childTnLst>
                                    <p:set>
                                      <p:cBhvr>
                                        <p:cTn id="21" fill="hold"/>
                                        <p:tgtEl>
                                          <p:spTgt spid="95"/>
                                        </p:tgtEl>
                                        <p:attrNameLst>
                                          <p:attrName>style.visibility</p:attrName>
                                        </p:attrNameLst>
                                      </p:cBhvr>
                                      <p:to>
                                        <p:strVal val="visible"/>
                                      </p:to>
                                    </p:set>
                                    <p:animEffect filter="fade" transition="in">
                                      <p:cBhvr>
                                        <p:cTn id="22" dur="1000"/>
                                        <p:tgtEl>
                                          <p:spTgt spid="95"/>
                                        </p:tgtEl>
                                      </p:cBhvr>
                                    </p:animEffect>
                                  </p:childTnLst>
                                </p:cTn>
                              </p:par>
                            </p:childTnLst>
                          </p:cTn>
                        </p:par>
                      </p:childTnLst>
                    </p:cTn>
                  </p:par>
                  <p:par>
                    <p:cTn id="23" fill="hold">
                      <p:stCondLst>
                        <p:cond delay="indefinite"/>
                      </p:stCondLst>
                      <p:childTnLst>
                        <p:par>
                          <p:cTn id="24" fill="hold">
                            <p:stCondLst>
                              <p:cond delay="0"/>
                            </p:stCondLst>
                            <p:childTnLst>
                              <p:par>
                                <p:cTn id="25" presetClass="entr" nodeType="clickEffect" presetID="10" grpId="5" fill="hold">
                                  <p:stCondLst>
                                    <p:cond delay="0"/>
                                  </p:stCondLst>
                                  <p:iterate type="el" backwards="0">
                                    <p:tmAbs val="0"/>
                                  </p:iterate>
                                  <p:childTnLst>
                                    <p:set>
                                      <p:cBhvr>
                                        <p:cTn id="26" fill="hold"/>
                                        <p:tgtEl>
                                          <p:spTgt spid="96"/>
                                        </p:tgtEl>
                                        <p:attrNameLst>
                                          <p:attrName>style.visibility</p:attrName>
                                        </p:attrNameLst>
                                      </p:cBhvr>
                                      <p:to>
                                        <p:strVal val="visible"/>
                                      </p:to>
                                    </p:set>
                                    <p:animEffect filter="fade" transition="in">
                                      <p:cBhvr>
                                        <p:cTn id="27" dur="1000"/>
                                        <p:tgtEl>
                                          <p:spTgt spid="9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93" grpId="1"/>
      <p:bldP build="whole" bldLvl="1" animBg="1" rev="0" advAuto="0" spid="95" grpId="4"/>
      <p:bldP build="whole" bldLvl="1" animBg="1" rev="0" advAuto="0" spid="92" grpId="2"/>
      <p:bldP build="whole" bldLvl="1" animBg="1" rev="0" advAuto="0" spid="96" grpId="5"/>
      <p:bldP build="whole" bldLvl="1" animBg="1" rev="0" advAuto="0" spid="94" grpId="3"/>
    </p:bldLst>
  </p:timing>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98" name="Slide Number"/>
          <p:cNvSpPr txBox="1"/>
          <p:nvPr>
            <p:ph type="sldNum" sz="quarter" idx="2"/>
          </p:nvPr>
        </p:nvSpPr>
        <p:spPr>
          <a:xfrm>
            <a:off x="6401953" y="9369954"/>
            <a:ext cx="200894" cy="256506"/>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99" name="Practice Cross-Referencing"/>
          <p:cNvSpPr txBox="1"/>
          <p:nvPr>
            <p:ph type="title"/>
          </p:nvPr>
        </p:nvSpPr>
        <p:spPr>
          <a:prstGeom prst="rect">
            <a:avLst/>
          </a:prstGeom>
        </p:spPr>
        <p:txBody>
          <a:bodyPr/>
          <a:lstStyle>
            <a:lvl1pPr defTabSz="572516">
              <a:defRPr sz="4508"/>
            </a:lvl1pPr>
          </a:lstStyle>
          <a:p>
            <a:pPr/>
            <a:r>
              <a:t>Practice Cross-Referencing</a:t>
            </a:r>
          </a:p>
        </p:txBody>
      </p:sp>
      <p:sp>
        <p:nvSpPr>
          <p:cNvPr id="100" name="```{r}…"/>
          <p:cNvSpPr txBox="1"/>
          <p:nvPr/>
        </p:nvSpPr>
        <p:spPr>
          <a:xfrm>
            <a:off x="45105" y="991421"/>
            <a:ext cx="8649901" cy="8277170"/>
          </a:xfrm>
          <a:prstGeom prst="rect">
            <a:avLst/>
          </a:prstGeom>
          <a:ln w="3175">
            <a:miter lim="400000"/>
          </a:ln>
          <a:extLst>
            <a:ext uri="{C572A759-6A51-4108-AA02-DFA0A04FC94B}">
              <ma14:wrappingTextBoxFlag xmlns:ma14="http://schemas.microsoft.com/office/mac/drawingml/2011/main" val="1"/>
            </a:ext>
          </a:extLst>
        </p:spPr>
        <p:txBody>
          <a:bodyPr lIns="38100" tIns="38100" rIns="38100" bIns="38100" anchor="ctr">
            <a:spAutoFit/>
          </a:bodyPr>
          <a:lstStyle/>
          <a:p>
            <a:pPr algn="l">
              <a:defRPr sz="2700">
                <a:solidFill>
                  <a:srgbClr val="000004"/>
                </a:solidFill>
                <a:latin typeface="Monaco"/>
                <a:ea typeface="Monaco"/>
                <a:cs typeface="Monaco"/>
                <a:sym typeface="Monaco"/>
              </a:defRPr>
            </a:pPr>
            <a:r>
              <a:t>```{r}</a:t>
            </a:r>
          </a:p>
          <a:p>
            <a:pPr algn="l">
              <a:defRPr sz="2700">
                <a:solidFill>
                  <a:srgbClr val="000004"/>
                </a:solidFill>
                <a:latin typeface="Monaco"/>
                <a:ea typeface="Monaco"/>
                <a:cs typeface="Monaco"/>
                <a:sym typeface="Monaco"/>
              </a:defRPr>
            </a:pPr>
            <a:r>
              <a:t>#| label: priceHistogram</a:t>
            </a:r>
          </a:p>
          <a:p>
            <a:pPr algn="l">
              <a:defRPr sz="2700">
                <a:solidFill>
                  <a:srgbClr val="000004"/>
                </a:solidFill>
                <a:latin typeface="Monaco"/>
                <a:ea typeface="Monaco"/>
                <a:cs typeface="Monaco"/>
                <a:sym typeface="Monaco"/>
              </a:defRPr>
            </a:pPr>
            <a:r>
              <a:t>#| fig-cap: "Histogram of Diamond Prices"</a:t>
            </a:r>
          </a:p>
          <a:p>
            <a:pPr algn="l">
              <a:defRPr sz="2700">
                <a:solidFill>
                  <a:srgbClr val="000004"/>
                </a:solidFill>
                <a:latin typeface="Monaco"/>
                <a:ea typeface="Monaco"/>
                <a:cs typeface="Monaco"/>
                <a:sym typeface="Monaco"/>
              </a:defRPr>
            </a:pPr>
            <a:r>
              <a:t>#| fig-pos: "H"</a:t>
            </a:r>
          </a:p>
          <a:p>
            <a:pPr algn="l">
              <a:defRPr sz="2700">
                <a:solidFill>
                  <a:srgbClr val="000004"/>
                </a:solidFill>
                <a:latin typeface="Monaco"/>
                <a:ea typeface="Monaco"/>
                <a:cs typeface="Monaco"/>
                <a:sym typeface="Monaco"/>
              </a:defRPr>
            </a:pPr>
            <a:r>
              <a:t>#| fig-width: 5</a:t>
            </a:r>
          </a:p>
          <a:p>
            <a:pPr algn="l">
              <a:defRPr sz="2700">
                <a:solidFill>
                  <a:srgbClr val="000004"/>
                </a:solidFill>
                <a:latin typeface="Monaco"/>
                <a:ea typeface="Monaco"/>
                <a:cs typeface="Monaco"/>
                <a:sym typeface="Monaco"/>
              </a:defRPr>
            </a:pPr>
            <a:r>
              <a:t>#| fig-alt: "insert alt text here"</a:t>
            </a:r>
          </a:p>
          <a:p>
            <a:pPr algn="l">
              <a:defRPr sz="2700">
                <a:solidFill>
                  <a:srgbClr val="000004"/>
                </a:solidFill>
                <a:latin typeface="Monaco"/>
                <a:ea typeface="Monaco"/>
                <a:cs typeface="Monaco"/>
                <a:sym typeface="Monaco"/>
              </a:defRPr>
            </a:pPr>
            <a:r>
              <a:t># Make a histogram of diamond price ----</a:t>
            </a:r>
          </a:p>
          <a:p>
            <a:pPr algn="l">
              <a:defRPr sz="2700">
                <a:solidFill>
                  <a:srgbClr val="000004"/>
                </a:solidFill>
                <a:latin typeface="Monaco"/>
                <a:ea typeface="Monaco"/>
                <a:cs typeface="Monaco"/>
                <a:sym typeface="Monaco"/>
              </a:defRPr>
            </a:pPr>
            <a:r>
              <a:t>library(ggplot2)</a:t>
            </a:r>
          </a:p>
          <a:p>
            <a:pPr algn="l">
              <a:defRPr sz="2700">
                <a:solidFill>
                  <a:srgbClr val="000004"/>
                </a:solidFill>
                <a:latin typeface="Monaco"/>
                <a:ea typeface="Monaco"/>
                <a:cs typeface="Monaco"/>
                <a:sym typeface="Monaco"/>
              </a:defRPr>
            </a:pPr>
            <a:r>
              <a:t>data(diamonds)</a:t>
            </a:r>
          </a:p>
          <a:p>
            <a:pPr algn="l">
              <a:defRPr sz="2700">
                <a:solidFill>
                  <a:srgbClr val="000004"/>
                </a:solidFill>
                <a:latin typeface="Monaco"/>
                <a:ea typeface="Monaco"/>
                <a:cs typeface="Monaco"/>
                <a:sym typeface="Monaco"/>
              </a:defRPr>
            </a:pPr>
          </a:p>
          <a:p>
            <a:pPr algn="l">
              <a:defRPr sz="2700">
                <a:solidFill>
                  <a:srgbClr val="000004"/>
                </a:solidFill>
                <a:latin typeface="Monaco"/>
                <a:ea typeface="Monaco"/>
                <a:cs typeface="Monaco"/>
                <a:sym typeface="Monaco"/>
              </a:defRPr>
            </a:pPr>
            <a:r>
              <a:t>ggplot(</a:t>
            </a:r>
          </a:p>
          <a:p>
            <a:pPr algn="l">
              <a:defRPr sz="2700">
                <a:solidFill>
                  <a:srgbClr val="000004"/>
                </a:solidFill>
                <a:latin typeface="Monaco"/>
                <a:ea typeface="Monaco"/>
                <a:cs typeface="Monaco"/>
                <a:sym typeface="Monaco"/>
              </a:defRPr>
            </a:pPr>
            <a:r>
              <a:t>  data = diamonds,</a:t>
            </a:r>
          </a:p>
          <a:p>
            <a:pPr algn="l">
              <a:defRPr sz="2700">
                <a:solidFill>
                  <a:srgbClr val="000004"/>
                </a:solidFill>
                <a:latin typeface="Monaco"/>
                <a:ea typeface="Monaco"/>
                <a:cs typeface="Monaco"/>
                <a:sym typeface="Monaco"/>
              </a:defRPr>
            </a:pPr>
            <a:r>
              <a:t>  mapping = aes(x = price)</a:t>
            </a:r>
          </a:p>
          <a:p>
            <a:pPr algn="l">
              <a:defRPr sz="2700">
                <a:solidFill>
                  <a:srgbClr val="000004"/>
                </a:solidFill>
                <a:latin typeface="Monaco"/>
                <a:ea typeface="Monaco"/>
                <a:cs typeface="Monaco"/>
                <a:sym typeface="Monaco"/>
              </a:defRPr>
            </a:pPr>
            <a:r>
              <a:t>) +</a:t>
            </a:r>
            <a:br/>
            <a:r>
              <a:t>  geom_histogram() +</a:t>
            </a:r>
          </a:p>
          <a:p>
            <a:pPr algn="l">
              <a:defRPr sz="2700">
                <a:solidFill>
                  <a:srgbClr val="000004"/>
                </a:solidFill>
                <a:latin typeface="Monaco"/>
                <a:ea typeface="Monaco"/>
                <a:cs typeface="Monaco"/>
                <a:sym typeface="Monaco"/>
              </a:defRPr>
            </a:pPr>
            <a:r>
              <a:t>  theme_bw()</a:t>
            </a:r>
          </a:p>
          <a:p>
            <a:pPr algn="l">
              <a:defRPr sz="2700">
                <a:solidFill>
                  <a:srgbClr val="000004"/>
                </a:solidFill>
                <a:latin typeface="Monaco"/>
                <a:ea typeface="Monaco"/>
                <a:cs typeface="Monaco"/>
                <a:sym typeface="Monaco"/>
              </a:defRPr>
            </a:pPr>
          </a:p>
          <a:p>
            <a:pPr algn="l">
              <a:defRPr sz="2700">
                <a:solidFill>
                  <a:srgbClr val="000004"/>
                </a:solidFill>
                <a:latin typeface="Monaco"/>
                <a:ea typeface="Monaco"/>
                <a:cs typeface="Monaco"/>
                <a:sym typeface="Monaco"/>
              </a:defRPr>
            </a:pPr>
            <a:r>
              <a:t>```</a:t>
            </a:r>
          </a:p>
        </p:txBody>
      </p:sp>
      <p:sp>
        <p:nvSpPr>
          <p:cNvPr id="101" name="In our last class you practiced creating a code chunk for a plot using the code to the left."/>
          <p:cNvSpPr txBox="1"/>
          <p:nvPr/>
        </p:nvSpPr>
        <p:spPr>
          <a:xfrm>
            <a:off x="8644203" y="991421"/>
            <a:ext cx="4248813" cy="2362201"/>
          </a:xfrm>
          <a:prstGeom prst="rect">
            <a:avLst/>
          </a:prstGeom>
          <a:ln w="3175">
            <a:miter lim="400000"/>
          </a:ln>
          <a:extLst>
            <a:ext uri="{C572A759-6A51-4108-AA02-DFA0A04FC94B}">
              <ma14:wrappingTextBoxFlag xmlns:ma14="http://schemas.microsoft.com/office/mac/drawingml/2011/main" val="1"/>
            </a:ext>
          </a:extLst>
        </p:spPr>
        <p:txBody>
          <a:bodyPr lIns="38100" tIns="38100" rIns="38100" bIns="38100" anchor="ctr">
            <a:spAutoFit/>
          </a:bodyPr>
          <a:lstStyle>
            <a:lvl1pPr algn="l">
              <a:defRPr sz="3200">
                <a:solidFill>
                  <a:srgbClr val="000004"/>
                </a:solidFill>
                <a:latin typeface="Franklin Gothic Medium"/>
                <a:ea typeface="Franklin Gothic Medium"/>
                <a:cs typeface="Franklin Gothic Medium"/>
                <a:sym typeface="Franklin Gothic Medium"/>
              </a:defRPr>
            </a:lvl1pPr>
          </a:lstStyle>
          <a:p>
            <a:pPr/>
            <a:r>
              <a:t>In our last class you practiced creating a code chunk for a plot using the code to the left. </a:t>
            </a:r>
          </a:p>
        </p:txBody>
      </p:sp>
      <p:sp>
        <p:nvSpPr>
          <p:cNvPr id="102" name="Use this code and create a cross-reference in your narrative text."/>
          <p:cNvSpPr txBox="1"/>
          <p:nvPr/>
        </p:nvSpPr>
        <p:spPr>
          <a:xfrm>
            <a:off x="8644203" y="3627572"/>
            <a:ext cx="4248813" cy="1905001"/>
          </a:xfrm>
          <a:prstGeom prst="rect">
            <a:avLst/>
          </a:prstGeom>
          <a:ln w="3175">
            <a:miter lim="400000"/>
          </a:ln>
          <a:extLst>
            <a:ext uri="{C572A759-6A51-4108-AA02-DFA0A04FC94B}">
              <ma14:wrappingTextBoxFlag xmlns:ma14="http://schemas.microsoft.com/office/mac/drawingml/2011/main" val="1"/>
            </a:ext>
          </a:extLst>
        </p:spPr>
        <p:txBody>
          <a:bodyPr lIns="38100" tIns="38100" rIns="38100" bIns="38100" anchor="ctr">
            <a:spAutoFit/>
          </a:bodyPr>
          <a:lstStyle>
            <a:lvl1pPr algn="l">
              <a:defRPr sz="3200">
                <a:solidFill>
                  <a:srgbClr val="000004"/>
                </a:solidFill>
                <a:latin typeface="Franklin Gothic Medium"/>
                <a:ea typeface="Franklin Gothic Medium"/>
                <a:cs typeface="Franklin Gothic Medium"/>
                <a:sym typeface="Franklin Gothic Medium"/>
              </a:defRPr>
            </a:lvl1pPr>
          </a:lstStyle>
          <a:p>
            <a:pPr/>
            <a:r>
              <a:t>Use this code and create a cross-reference in your narrative text.</a:t>
            </a:r>
          </a:p>
        </p:txBody>
      </p:sp>
      <p:sp>
        <p:nvSpPr>
          <p:cNvPr id="103" name="Are there any issues with this code for cross-referencing? If so, identify the issue(s) and how to fix them."/>
          <p:cNvSpPr txBox="1"/>
          <p:nvPr/>
        </p:nvSpPr>
        <p:spPr>
          <a:xfrm>
            <a:off x="8034603" y="6100830"/>
            <a:ext cx="4715538" cy="2362201"/>
          </a:xfrm>
          <a:prstGeom prst="rect">
            <a:avLst/>
          </a:prstGeom>
          <a:ln w="3175">
            <a:miter lim="400000"/>
          </a:ln>
          <a:extLst>
            <a:ext uri="{C572A759-6A51-4108-AA02-DFA0A04FC94B}">
              <ma14:wrappingTextBoxFlag xmlns:ma14="http://schemas.microsoft.com/office/mac/drawingml/2011/main" val="1"/>
            </a:ext>
          </a:extLst>
        </p:spPr>
        <p:txBody>
          <a:bodyPr lIns="38100" tIns="38100" rIns="38100" bIns="38100" anchor="ctr">
            <a:spAutoFit/>
          </a:bodyPr>
          <a:lstStyle>
            <a:lvl1pPr algn="l">
              <a:defRPr sz="3200">
                <a:solidFill>
                  <a:srgbClr val="000004"/>
                </a:solidFill>
                <a:latin typeface="Franklin Gothic Medium"/>
                <a:ea typeface="Franklin Gothic Medium"/>
                <a:cs typeface="Franklin Gothic Medium"/>
                <a:sym typeface="Franklin Gothic Medium"/>
              </a:defRPr>
            </a:lvl1pPr>
          </a:lstStyle>
          <a:p>
            <a:pPr/>
            <a:r>
              <a:t>Are there any issues with this code for cross-referencing? If so, identify the issue(s) and how to fix them.</a:t>
            </a:r>
          </a:p>
        </p:txBody>
      </p:sp>
    </p:spTree>
  </p:cSld>
  <p:clrMapOvr>
    <a:masterClrMapping/>
  </p:clrMapOvr>
  <mc:AlternateContent xmlns:mc="http://schemas.openxmlformats.org/markup-compatibility/2006">
    <mc:Choice xmlns:p14="http://schemas.microsoft.com/office/powerpoint/2010/main" Requires="p14">
      <p:transition spd="slow" advClick="1" p14:dur="1500">
        <p:fade/>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05" name="Alt-Text and Quarto"/>
          <p:cNvSpPr txBox="1"/>
          <p:nvPr>
            <p:ph type="ctrTitle"/>
          </p:nvPr>
        </p:nvSpPr>
        <p:spPr>
          <a:prstGeom prst="rect">
            <a:avLst/>
          </a:prstGeom>
        </p:spPr>
        <p:txBody>
          <a:bodyPr/>
          <a:lstStyle/>
          <a:p>
            <a:pPr/>
            <a:r>
              <a:t>Alt-Text and Quarto</a:t>
            </a:r>
          </a:p>
        </p:txBody>
      </p:sp>
      <p:sp>
        <p:nvSpPr>
          <p:cNvPr id="106" name="Slide Number"/>
          <p:cNvSpPr txBox="1"/>
          <p:nvPr>
            <p:ph type="sldNum" sz="quarter" idx="2"/>
          </p:nvPr>
        </p:nvSpPr>
        <p:spPr>
          <a:xfrm>
            <a:off x="6401866" y="9369954"/>
            <a:ext cx="201068" cy="256506"/>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107" name="Unit 4"/>
          <p:cNvSpPr txBox="1"/>
          <p:nvPr>
            <p:ph type="subTitle" sz="quarter" idx="1"/>
          </p:nvPr>
        </p:nvSpPr>
        <p:spPr>
          <a:prstGeom prst="rect">
            <a:avLst/>
          </a:prstGeom>
        </p:spPr>
        <p:txBody>
          <a:bodyPr/>
          <a:lstStyle/>
          <a:p>
            <a:pPr/>
            <a:r>
              <a:t>Unit 4</a:t>
            </a:r>
          </a:p>
        </p:txBody>
      </p:sp>
    </p:spTree>
  </p:cSld>
  <p:clrMapOvr>
    <a:masterClrMapping/>
  </p:clrMapOvr>
  <mc:AlternateContent xmlns:mc="http://schemas.openxmlformats.org/markup-compatibility/2006">
    <mc:Choice xmlns:p14="http://schemas.microsoft.com/office/powerpoint/2010/main" Requires="p14">
      <p:transition spd="slow" advClick="1" p14:dur="1500">
        <p:fade/>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09" name="Slide Number"/>
          <p:cNvSpPr txBox="1"/>
          <p:nvPr>
            <p:ph type="sldNum" sz="quarter" idx="2"/>
          </p:nvPr>
        </p:nvSpPr>
        <p:spPr>
          <a:xfrm>
            <a:off x="6401953" y="9369954"/>
            <a:ext cx="200894" cy="256506"/>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110" name="Adding Alt Text in Quarto"/>
          <p:cNvSpPr txBox="1"/>
          <p:nvPr>
            <p:ph type="title"/>
          </p:nvPr>
        </p:nvSpPr>
        <p:spPr>
          <a:xfrm>
            <a:off x="1642467" y="-80434"/>
            <a:ext cx="9719866" cy="885826"/>
          </a:xfrm>
          <a:prstGeom prst="rect">
            <a:avLst/>
          </a:prstGeom>
        </p:spPr>
        <p:txBody>
          <a:bodyPr/>
          <a:lstStyle/>
          <a:p>
            <a:pPr/>
            <a:r>
              <a:t>Adding Alt Text in Quarto</a:t>
            </a:r>
          </a:p>
        </p:txBody>
      </p:sp>
      <p:sp>
        <p:nvSpPr>
          <p:cNvPr id="111" name="We need to define Alt Text for all images we use in our Quarto documents. This includes plots/graphs that we create in R (or any other scripting language) as well as images that we insert from files."/>
          <p:cNvSpPr txBox="1"/>
          <p:nvPr/>
        </p:nvSpPr>
        <p:spPr>
          <a:xfrm>
            <a:off x="147239" y="736600"/>
            <a:ext cx="12710323" cy="1473201"/>
          </a:xfrm>
          <a:prstGeom prst="rect">
            <a:avLst/>
          </a:prstGeom>
          <a:ln w="3175">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lgn="l">
              <a:defRPr sz="3200">
                <a:solidFill>
                  <a:srgbClr val="000004"/>
                </a:solidFill>
                <a:latin typeface="Franklin Gothic Medium"/>
                <a:ea typeface="Franklin Gothic Medium"/>
                <a:cs typeface="Franklin Gothic Medium"/>
                <a:sym typeface="Franklin Gothic Medium"/>
              </a:defRPr>
            </a:pPr>
            <a:r>
              <a:t>We need to define Alt Text for </a:t>
            </a:r>
            <a:r>
              <a:rPr i="1">
                <a:solidFill>
                  <a:srgbClr val="008900"/>
                </a:solidFill>
              </a:rPr>
              <a:t>all</a:t>
            </a:r>
            <a:r>
              <a:t> images we use in our Quarto documents. This includes plots/graphs that we create in R (or any other scripting language) as well as images that we insert from files.</a:t>
            </a:r>
          </a:p>
        </p:txBody>
      </p:sp>
      <p:sp>
        <p:nvSpPr>
          <p:cNvPr id="112" name="In both cases, we will be making use of the option fig-alt."/>
          <p:cNvSpPr txBox="1"/>
          <p:nvPr/>
        </p:nvSpPr>
        <p:spPr>
          <a:xfrm>
            <a:off x="147239" y="2662468"/>
            <a:ext cx="12710323" cy="559397"/>
          </a:xfrm>
          <a:prstGeom prst="rect">
            <a:avLst/>
          </a:prstGeom>
          <a:ln w="3175">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lgn="l">
              <a:defRPr sz="3200">
                <a:solidFill>
                  <a:srgbClr val="000004"/>
                </a:solidFill>
                <a:latin typeface="Franklin Gothic Medium"/>
                <a:ea typeface="Franklin Gothic Medium"/>
                <a:cs typeface="Franklin Gothic Medium"/>
                <a:sym typeface="Franklin Gothic Medium"/>
              </a:defRPr>
            </a:pPr>
            <a:r>
              <a:t>In both cases, we will be making use of the option </a:t>
            </a:r>
            <a:r>
              <a:rPr sz="2800">
                <a:solidFill>
                  <a:srgbClr val="1D2FEB"/>
                </a:solidFill>
                <a:latin typeface="Monaco"/>
                <a:ea typeface="Monaco"/>
                <a:cs typeface="Monaco"/>
                <a:sym typeface="Monaco"/>
              </a:rPr>
              <a:t>fig-alt</a:t>
            </a:r>
            <a:r>
              <a:t>.</a:t>
            </a:r>
          </a:p>
        </p:txBody>
      </p:sp>
      <p:sp>
        <p:nvSpPr>
          <p:cNvPr id="113" name="For plots/graphs we create via code, the fig-alt option is a code chunk option we can specify in two possible ways."/>
          <p:cNvSpPr txBox="1"/>
          <p:nvPr/>
        </p:nvSpPr>
        <p:spPr>
          <a:xfrm>
            <a:off x="147239" y="3505199"/>
            <a:ext cx="12710323" cy="1016001"/>
          </a:xfrm>
          <a:prstGeom prst="rect">
            <a:avLst/>
          </a:prstGeom>
          <a:ln w="3175">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lgn="l">
              <a:defRPr sz="3200">
                <a:solidFill>
                  <a:srgbClr val="000004"/>
                </a:solidFill>
                <a:latin typeface="Franklin Gothic Medium"/>
                <a:ea typeface="Franklin Gothic Medium"/>
                <a:cs typeface="Franklin Gothic Medium"/>
                <a:sym typeface="Franklin Gothic Medium"/>
              </a:defRPr>
            </a:lvl1pPr>
          </a:lstStyle>
          <a:p>
            <a:pPr/>
            <a:r>
              <a:t>For plots/graphs we create via code, the fig-alt option is a code chunk option we can specify in two possible ways.</a:t>
            </a:r>
          </a:p>
        </p:txBody>
      </p:sp>
      <p:sp>
        <p:nvSpPr>
          <p:cNvPr id="114" name="First, we can directly define the value of the Alt Text."/>
          <p:cNvSpPr txBox="1"/>
          <p:nvPr/>
        </p:nvSpPr>
        <p:spPr>
          <a:xfrm>
            <a:off x="147239" y="4808272"/>
            <a:ext cx="12710323" cy="558801"/>
          </a:xfrm>
          <a:prstGeom prst="rect">
            <a:avLst/>
          </a:prstGeom>
          <a:ln w="3175">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lgn="l">
              <a:defRPr sz="3200">
                <a:solidFill>
                  <a:srgbClr val="000004"/>
                </a:solidFill>
                <a:latin typeface="Franklin Gothic Medium"/>
                <a:ea typeface="Franklin Gothic Medium"/>
                <a:cs typeface="Franklin Gothic Medium"/>
                <a:sym typeface="Franklin Gothic Medium"/>
              </a:defRPr>
            </a:lvl1pPr>
          </a:lstStyle>
          <a:p>
            <a:pPr/>
            <a:r>
              <a:t>First, we can directly define the value of the Alt Text.</a:t>
            </a:r>
          </a:p>
        </p:txBody>
      </p:sp>
      <p:sp>
        <p:nvSpPr>
          <p:cNvPr id="115" name="#| label: fig-priceHistogram…"/>
          <p:cNvSpPr txBox="1"/>
          <p:nvPr/>
        </p:nvSpPr>
        <p:spPr>
          <a:xfrm>
            <a:off x="147239" y="5654146"/>
            <a:ext cx="12710323" cy="1901770"/>
          </a:xfrm>
          <a:prstGeom prst="rect">
            <a:avLst/>
          </a:prstGeom>
          <a:ln w="3175">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lgn="l">
              <a:defRPr sz="2700">
                <a:solidFill>
                  <a:srgbClr val="000004"/>
                </a:solidFill>
                <a:latin typeface="Monaco"/>
                <a:ea typeface="Monaco"/>
                <a:cs typeface="Monaco"/>
                <a:sym typeface="Monaco"/>
              </a:defRPr>
            </a:pPr>
            <a:r>
              <a:t>#| label: fig-priceHistogram</a:t>
            </a:r>
          </a:p>
          <a:p>
            <a:pPr algn="l">
              <a:defRPr sz="2700">
                <a:solidFill>
                  <a:srgbClr val="000004"/>
                </a:solidFill>
                <a:latin typeface="Monaco"/>
                <a:ea typeface="Monaco"/>
                <a:cs typeface="Monaco"/>
                <a:sym typeface="Monaco"/>
              </a:defRPr>
            </a:pPr>
            <a:r>
              <a:t>#| fig-cap: "Histogram of Diamond Prices"</a:t>
            </a:r>
          </a:p>
          <a:p>
            <a:pPr algn="l">
              <a:defRPr sz="2700">
                <a:solidFill>
                  <a:srgbClr val="000004"/>
                </a:solidFill>
                <a:latin typeface="Monaco"/>
                <a:ea typeface="Monaco"/>
                <a:cs typeface="Monaco"/>
                <a:sym typeface="Monaco"/>
              </a:defRPr>
            </a:pPr>
            <a:r>
              <a:t>#| fig-alt: "A positively skewed histogram of diamond prices going from 0 U S D to over 17500 U S D."</a:t>
            </a:r>
          </a:p>
        </p:txBody>
      </p:sp>
      <p:sp>
        <p:nvSpPr>
          <p:cNvPr id="116" name="NOTE: the fig-cap and the fig-alt options are BOTH specified and are NOT identical."/>
          <p:cNvSpPr txBox="1"/>
          <p:nvPr/>
        </p:nvSpPr>
        <p:spPr>
          <a:xfrm>
            <a:off x="147239" y="7940619"/>
            <a:ext cx="12710323" cy="1044632"/>
          </a:xfrm>
          <a:prstGeom prst="rect">
            <a:avLst/>
          </a:prstGeom>
          <a:ln w="3175">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lgn="l">
              <a:defRPr sz="3200">
                <a:solidFill>
                  <a:srgbClr val="008900"/>
                </a:solidFill>
                <a:latin typeface="Franklin Gothic Medium"/>
                <a:ea typeface="Franklin Gothic Medium"/>
                <a:cs typeface="Franklin Gothic Medium"/>
                <a:sym typeface="Franklin Gothic Medium"/>
              </a:defRPr>
            </a:pPr>
            <a:r>
              <a:t>NOTE: the </a:t>
            </a:r>
            <a:r>
              <a:rPr sz="2700">
                <a:latin typeface="Monaco"/>
                <a:ea typeface="Monaco"/>
                <a:cs typeface="Monaco"/>
                <a:sym typeface="Monaco"/>
              </a:rPr>
              <a:t>fig-cap</a:t>
            </a:r>
            <a:r>
              <a:t> and the </a:t>
            </a:r>
            <a:r>
              <a:rPr sz="2700">
                <a:latin typeface="Monaco"/>
                <a:ea typeface="Monaco"/>
                <a:cs typeface="Monaco"/>
                <a:sym typeface="Monaco"/>
              </a:rPr>
              <a:t>fig-alt</a:t>
            </a:r>
            <a:r>
              <a:t> options are BOTH specified and are NOT identical.</a:t>
            </a:r>
          </a:p>
        </p:txBody>
      </p:sp>
    </p:spTree>
  </p:cSld>
  <p:clrMapOvr>
    <a:masterClrMapping/>
  </p:clrMapOvr>
  <mc:AlternateContent xmlns:mc="http://schemas.openxmlformats.org/markup-compatibility/2006">
    <mc:Choice xmlns:p14="http://schemas.microsoft.com/office/powerpoint/2010/main" Requires="p14">
      <p:transition spd="slow" advClick="1" p14:dur="1500">
        <p:push dir="l"/>
      </p:transition>
    </mc:Choice>
    <mc:Fallback>
      <p:transition spd="slow">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ID="10" grpId="1" fill="hold">
                                  <p:stCondLst>
                                    <p:cond delay="0"/>
                                  </p:stCondLst>
                                  <p:iterate type="el" backwards="0">
                                    <p:tmAbs val="0"/>
                                  </p:iterate>
                                  <p:childTnLst>
                                    <p:set>
                                      <p:cBhvr>
                                        <p:cTn id="6" fill="hold"/>
                                        <p:tgtEl>
                                          <p:spTgt spid="112"/>
                                        </p:tgtEl>
                                        <p:attrNameLst>
                                          <p:attrName>style.visibility</p:attrName>
                                        </p:attrNameLst>
                                      </p:cBhvr>
                                      <p:to>
                                        <p:strVal val="visible"/>
                                      </p:to>
                                    </p:set>
                                    <p:animEffect filter="fade" transition="in">
                                      <p:cBhvr>
                                        <p:cTn id="7" dur="1000"/>
                                        <p:tgtEl>
                                          <p:spTgt spid="112"/>
                                        </p:tgtEl>
                                      </p:cBhvr>
                                    </p:animEffect>
                                  </p:childTnLst>
                                </p:cTn>
                              </p:par>
                            </p:childTnLst>
                          </p:cTn>
                        </p:par>
                      </p:childTnLst>
                    </p:cTn>
                  </p:par>
                  <p:par>
                    <p:cTn id="8" fill="hold">
                      <p:stCondLst>
                        <p:cond delay="indefinite"/>
                      </p:stCondLst>
                      <p:childTnLst>
                        <p:par>
                          <p:cTn id="9" fill="hold">
                            <p:stCondLst>
                              <p:cond delay="0"/>
                            </p:stCondLst>
                            <p:childTnLst>
                              <p:par>
                                <p:cTn id="10" presetClass="entr" nodeType="clickEffect" presetID="10" grpId="2" fill="hold">
                                  <p:stCondLst>
                                    <p:cond delay="0"/>
                                  </p:stCondLst>
                                  <p:iterate type="el" backwards="0">
                                    <p:tmAbs val="0"/>
                                  </p:iterate>
                                  <p:childTnLst>
                                    <p:set>
                                      <p:cBhvr>
                                        <p:cTn id="11" fill="hold"/>
                                        <p:tgtEl>
                                          <p:spTgt spid="113"/>
                                        </p:tgtEl>
                                        <p:attrNameLst>
                                          <p:attrName>style.visibility</p:attrName>
                                        </p:attrNameLst>
                                      </p:cBhvr>
                                      <p:to>
                                        <p:strVal val="visible"/>
                                      </p:to>
                                    </p:set>
                                    <p:animEffect filter="fade" transition="in">
                                      <p:cBhvr>
                                        <p:cTn id="12" dur="1000"/>
                                        <p:tgtEl>
                                          <p:spTgt spid="113"/>
                                        </p:tgtEl>
                                      </p:cBhvr>
                                    </p:animEffect>
                                  </p:childTnLst>
                                </p:cTn>
                              </p:par>
                            </p:childTnLst>
                          </p:cTn>
                        </p:par>
                      </p:childTnLst>
                    </p:cTn>
                  </p:par>
                  <p:par>
                    <p:cTn id="13" fill="hold">
                      <p:stCondLst>
                        <p:cond delay="indefinite"/>
                      </p:stCondLst>
                      <p:childTnLst>
                        <p:par>
                          <p:cTn id="14" fill="hold">
                            <p:stCondLst>
                              <p:cond delay="0"/>
                            </p:stCondLst>
                            <p:childTnLst>
                              <p:par>
                                <p:cTn id="15" presetClass="entr" nodeType="clickEffect" presetID="10" grpId="3" fill="hold">
                                  <p:stCondLst>
                                    <p:cond delay="0"/>
                                  </p:stCondLst>
                                  <p:iterate type="el" backwards="0">
                                    <p:tmAbs val="0"/>
                                  </p:iterate>
                                  <p:childTnLst>
                                    <p:set>
                                      <p:cBhvr>
                                        <p:cTn id="16" fill="hold"/>
                                        <p:tgtEl>
                                          <p:spTgt spid="114"/>
                                        </p:tgtEl>
                                        <p:attrNameLst>
                                          <p:attrName>style.visibility</p:attrName>
                                        </p:attrNameLst>
                                      </p:cBhvr>
                                      <p:to>
                                        <p:strVal val="visible"/>
                                      </p:to>
                                    </p:set>
                                    <p:animEffect filter="fade" transition="in">
                                      <p:cBhvr>
                                        <p:cTn id="17" dur="1000"/>
                                        <p:tgtEl>
                                          <p:spTgt spid="114"/>
                                        </p:tgtEl>
                                      </p:cBhvr>
                                    </p:animEffect>
                                  </p:childTnLst>
                                </p:cTn>
                              </p:par>
                            </p:childTnLst>
                          </p:cTn>
                        </p:par>
                      </p:childTnLst>
                    </p:cTn>
                  </p:par>
                  <p:par>
                    <p:cTn id="18" fill="hold">
                      <p:stCondLst>
                        <p:cond delay="indefinite"/>
                      </p:stCondLst>
                      <p:childTnLst>
                        <p:par>
                          <p:cTn id="19" fill="hold">
                            <p:stCondLst>
                              <p:cond delay="0"/>
                            </p:stCondLst>
                            <p:childTnLst>
                              <p:par>
                                <p:cTn id="20" presetClass="entr" nodeType="clickEffect" presetID="10" grpId="4" fill="hold">
                                  <p:stCondLst>
                                    <p:cond delay="0"/>
                                  </p:stCondLst>
                                  <p:iterate type="el" backwards="0">
                                    <p:tmAbs val="0"/>
                                  </p:iterate>
                                  <p:childTnLst>
                                    <p:set>
                                      <p:cBhvr>
                                        <p:cTn id="21" fill="hold"/>
                                        <p:tgtEl>
                                          <p:spTgt spid="115"/>
                                        </p:tgtEl>
                                        <p:attrNameLst>
                                          <p:attrName>style.visibility</p:attrName>
                                        </p:attrNameLst>
                                      </p:cBhvr>
                                      <p:to>
                                        <p:strVal val="visible"/>
                                      </p:to>
                                    </p:set>
                                    <p:animEffect filter="fade" transition="in">
                                      <p:cBhvr>
                                        <p:cTn id="22" dur="1000"/>
                                        <p:tgtEl>
                                          <p:spTgt spid="115"/>
                                        </p:tgtEl>
                                      </p:cBhvr>
                                    </p:animEffect>
                                  </p:childTnLst>
                                </p:cTn>
                              </p:par>
                            </p:childTnLst>
                          </p:cTn>
                        </p:par>
                      </p:childTnLst>
                    </p:cTn>
                  </p:par>
                  <p:par>
                    <p:cTn id="23" fill="hold">
                      <p:stCondLst>
                        <p:cond delay="indefinite"/>
                      </p:stCondLst>
                      <p:childTnLst>
                        <p:par>
                          <p:cTn id="24" fill="hold">
                            <p:stCondLst>
                              <p:cond delay="0"/>
                            </p:stCondLst>
                            <p:childTnLst>
                              <p:par>
                                <p:cTn id="25" presetClass="entr" nodeType="clickEffect" presetID="10" grpId="5" fill="hold">
                                  <p:stCondLst>
                                    <p:cond delay="0"/>
                                  </p:stCondLst>
                                  <p:iterate type="el" backwards="0">
                                    <p:tmAbs val="0"/>
                                  </p:iterate>
                                  <p:childTnLst>
                                    <p:set>
                                      <p:cBhvr>
                                        <p:cTn id="26" fill="hold"/>
                                        <p:tgtEl>
                                          <p:spTgt spid="116"/>
                                        </p:tgtEl>
                                        <p:attrNameLst>
                                          <p:attrName>style.visibility</p:attrName>
                                        </p:attrNameLst>
                                      </p:cBhvr>
                                      <p:to>
                                        <p:strVal val="visible"/>
                                      </p:to>
                                    </p:set>
                                    <p:animEffect filter="fade" transition="in">
                                      <p:cBhvr>
                                        <p:cTn id="27" dur="1000"/>
                                        <p:tgtEl>
                                          <p:spTgt spid="11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114" grpId="3"/>
      <p:bldP build="whole" bldLvl="1" animBg="1" rev="0" advAuto="0" spid="113" grpId="2"/>
      <p:bldP build="whole" bldLvl="1" animBg="1" rev="0" advAuto="0" spid="112" grpId="1"/>
      <p:bldP build="whole" bldLvl="1" animBg="1" rev="0" advAuto="0" spid="115" grpId="4"/>
      <p:bldP build="whole" bldLvl="1" animBg="1" rev="0" advAuto="0" spid="116" grpId="5"/>
    </p:bldLst>
  </p:timing>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8" name="Slide Number"/>
          <p:cNvSpPr txBox="1"/>
          <p:nvPr>
            <p:ph type="sldNum" sz="quarter" idx="2"/>
          </p:nvPr>
        </p:nvSpPr>
        <p:spPr>
          <a:xfrm>
            <a:off x="6401953" y="9369954"/>
            <a:ext cx="200894" cy="256506"/>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119" name="Adding Alt Text in Quarto"/>
          <p:cNvSpPr txBox="1"/>
          <p:nvPr>
            <p:ph type="title"/>
          </p:nvPr>
        </p:nvSpPr>
        <p:spPr>
          <a:xfrm>
            <a:off x="1642467" y="-80434"/>
            <a:ext cx="9719866" cy="885826"/>
          </a:xfrm>
          <a:prstGeom prst="rect">
            <a:avLst/>
          </a:prstGeom>
        </p:spPr>
        <p:txBody>
          <a:bodyPr/>
          <a:lstStyle/>
          <a:p>
            <a:pPr/>
            <a:r>
              <a:t>Adding Alt Text in Quarto</a:t>
            </a:r>
          </a:p>
        </p:txBody>
      </p:sp>
      <p:sp>
        <p:nvSpPr>
          <p:cNvPr id="120" name="The second way we can set Alt Text for a plot/graph we make via code depends on three things:"/>
          <p:cNvSpPr txBox="1"/>
          <p:nvPr/>
        </p:nvSpPr>
        <p:spPr>
          <a:xfrm>
            <a:off x="147239" y="773264"/>
            <a:ext cx="12710323" cy="1016001"/>
          </a:xfrm>
          <a:prstGeom prst="rect">
            <a:avLst/>
          </a:prstGeom>
          <a:ln w="3175">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lgn="l">
              <a:defRPr sz="3200">
                <a:solidFill>
                  <a:srgbClr val="000004"/>
                </a:solidFill>
                <a:latin typeface="Franklin Gothic Medium"/>
                <a:ea typeface="Franklin Gothic Medium"/>
                <a:cs typeface="Franklin Gothic Medium"/>
                <a:sym typeface="Franklin Gothic Medium"/>
              </a:defRPr>
            </a:lvl1pPr>
          </a:lstStyle>
          <a:p>
            <a:pPr/>
            <a:r>
              <a:t>The second way we can set Alt Text for a plot/graph we make via code depends on three things:</a:t>
            </a:r>
          </a:p>
        </p:txBody>
      </p:sp>
      <p:sp>
        <p:nvSpPr>
          <p:cNvPr id="121" name="We made the plot/graph via the {ggplot2} package.…"/>
          <p:cNvSpPr txBox="1"/>
          <p:nvPr/>
        </p:nvSpPr>
        <p:spPr>
          <a:xfrm>
            <a:off x="147239" y="1953245"/>
            <a:ext cx="12710323" cy="2444863"/>
          </a:xfrm>
          <a:prstGeom prst="rect">
            <a:avLst/>
          </a:prstGeom>
          <a:ln w="3175">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marL="508000" indent="-508000" algn="l">
              <a:buSzPct val="100000"/>
              <a:buAutoNum type="arabicPeriod" startAt="1"/>
              <a:defRPr sz="3200">
                <a:solidFill>
                  <a:srgbClr val="000004"/>
                </a:solidFill>
                <a:latin typeface="Franklin Gothic Medium"/>
                <a:ea typeface="Franklin Gothic Medium"/>
                <a:cs typeface="Franklin Gothic Medium"/>
                <a:sym typeface="Franklin Gothic Medium"/>
              </a:defRPr>
            </a:pPr>
            <a:r>
              <a:t>We made the plot/graph via the </a:t>
            </a:r>
            <a:r>
              <a:rPr sz="2700">
                <a:latin typeface="Monaco"/>
                <a:ea typeface="Monaco"/>
                <a:cs typeface="Monaco"/>
                <a:sym typeface="Monaco"/>
              </a:rPr>
              <a:t>{ggplot2}</a:t>
            </a:r>
            <a:r>
              <a:t> package.</a:t>
            </a:r>
          </a:p>
          <a:p>
            <a:pPr marL="508000" indent="-508000" algn="l">
              <a:buSzPct val="100000"/>
              <a:buAutoNum type="arabicPeriod" startAt="1"/>
              <a:defRPr sz="3200">
                <a:solidFill>
                  <a:srgbClr val="000004"/>
                </a:solidFill>
                <a:latin typeface="Franklin Gothic Medium"/>
                <a:ea typeface="Franklin Gothic Medium"/>
                <a:cs typeface="Franklin Gothic Medium"/>
                <a:sym typeface="Franklin Gothic Medium"/>
              </a:defRPr>
            </a:pPr>
            <a:r>
              <a:t>There is only one (1) such plot/graph in the code chunk we're working in.</a:t>
            </a:r>
          </a:p>
          <a:p>
            <a:pPr marL="508000" indent="-508000" algn="l">
              <a:buSzPct val="100000"/>
              <a:buAutoNum type="arabicPeriod" startAt="1"/>
              <a:defRPr sz="3200">
                <a:solidFill>
                  <a:srgbClr val="000004"/>
                </a:solidFill>
                <a:latin typeface="Franklin Gothic Medium"/>
                <a:ea typeface="Franklin Gothic Medium"/>
                <a:cs typeface="Franklin Gothic Medium"/>
                <a:sym typeface="Franklin Gothic Medium"/>
              </a:defRPr>
            </a:pPr>
            <a:r>
              <a:t>We specified the Alt Text in the </a:t>
            </a:r>
            <a:r>
              <a:rPr sz="2700">
                <a:solidFill>
                  <a:srgbClr val="1D2FEB"/>
                </a:solidFill>
                <a:latin typeface="Monaco"/>
                <a:ea typeface="Monaco"/>
                <a:cs typeface="Monaco"/>
                <a:sym typeface="Monaco"/>
              </a:rPr>
              <a:t>alt</a:t>
            </a:r>
            <a:r>
              <a:t> argument of the </a:t>
            </a:r>
            <a:r>
              <a:rPr sz="2700">
                <a:solidFill>
                  <a:srgbClr val="008900"/>
                </a:solidFill>
                <a:latin typeface="Monaco"/>
                <a:ea typeface="Monaco"/>
                <a:cs typeface="Monaco"/>
                <a:sym typeface="Monaco"/>
              </a:rPr>
              <a:t>labs</a:t>
            </a:r>
            <a:r>
              <a:t> function of </a:t>
            </a:r>
            <a:r>
              <a:rPr sz="2700">
                <a:latin typeface="Monaco"/>
                <a:ea typeface="Monaco"/>
                <a:cs typeface="Monaco"/>
                <a:sym typeface="Monaco"/>
              </a:rPr>
              <a:t>{ggplot2}</a:t>
            </a:r>
            <a:r>
              <a:t>.</a:t>
            </a:r>
          </a:p>
        </p:txBody>
      </p:sp>
      <p:sp>
        <p:nvSpPr>
          <p:cNvPr id="122" name="If we meet all three of the above criteria, then we can use the following command:"/>
          <p:cNvSpPr txBox="1"/>
          <p:nvPr/>
        </p:nvSpPr>
        <p:spPr>
          <a:xfrm>
            <a:off x="147239" y="4861026"/>
            <a:ext cx="12710323" cy="1016001"/>
          </a:xfrm>
          <a:prstGeom prst="rect">
            <a:avLst/>
          </a:prstGeom>
          <a:ln w="3175">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lgn="l">
              <a:defRPr sz="3200">
                <a:solidFill>
                  <a:srgbClr val="000004"/>
                </a:solidFill>
                <a:latin typeface="Franklin Gothic Medium"/>
                <a:ea typeface="Franklin Gothic Medium"/>
                <a:cs typeface="Franklin Gothic Medium"/>
                <a:sym typeface="Franklin Gothic Medium"/>
              </a:defRPr>
            </a:lvl1pPr>
          </a:lstStyle>
          <a:p>
            <a:pPr/>
            <a:r>
              <a:t>If we meet all three of the above criteria, then we can use the following command:</a:t>
            </a:r>
          </a:p>
        </p:txBody>
      </p:sp>
      <p:sp>
        <p:nvSpPr>
          <p:cNvPr id="123" name="#| fig-alt: !expr get_alt_text(get_last_plot())"/>
          <p:cNvSpPr txBox="1"/>
          <p:nvPr/>
        </p:nvSpPr>
        <p:spPr>
          <a:xfrm>
            <a:off x="147239" y="6240764"/>
            <a:ext cx="12710323" cy="530170"/>
          </a:xfrm>
          <a:prstGeom prst="rect">
            <a:avLst/>
          </a:prstGeom>
          <a:ln w="3175">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lgn="l">
              <a:defRPr sz="2700">
                <a:solidFill>
                  <a:srgbClr val="000004"/>
                </a:solidFill>
                <a:latin typeface="Monaco"/>
                <a:ea typeface="Monaco"/>
                <a:cs typeface="Monaco"/>
                <a:sym typeface="Monaco"/>
              </a:defRPr>
            </a:lvl1pPr>
          </a:lstStyle>
          <a:p>
            <a:pPr/>
            <a:r>
              <a:t>#| fig-alt: !expr get_alt_text(get_last_plot())</a:t>
            </a:r>
          </a:p>
        </p:txBody>
      </p:sp>
      <p:sp>
        <p:nvSpPr>
          <p:cNvPr id="124" name="The functions get_alt_text and get_last_plot are part of {ggplot2} are do exactly what their names imply. Keep in mind that get_last_plot will only grab the most recently rendered {ggplot2} plot."/>
          <p:cNvSpPr txBox="1"/>
          <p:nvPr/>
        </p:nvSpPr>
        <p:spPr>
          <a:xfrm>
            <a:off x="147239" y="7134670"/>
            <a:ext cx="12710323" cy="1987663"/>
          </a:xfrm>
          <a:prstGeom prst="rect">
            <a:avLst/>
          </a:prstGeom>
          <a:ln w="3175">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lgn="l">
              <a:defRPr sz="3200">
                <a:solidFill>
                  <a:srgbClr val="000004"/>
                </a:solidFill>
                <a:latin typeface="Franklin Gothic Medium"/>
                <a:ea typeface="Franklin Gothic Medium"/>
                <a:cs typeface="Franklin Gothic Medium"/>
                <a:sym typeface="Franklin Gothic Medium"/>
              </a:defRPr>
            </a:pPr>
            <a:r>
              <a:t>The functions </a:t>
            </a:r>
            <a:r>
              <a:rPr sz="2700">
                <a:latin typeface="Monaco"/>
                <a:ea typeface="Monaco"/>
                <a:cs typeface="Monaco"/>
                <a:sym typeface="Monaco"/>
              </a:rPr>
              <a:t>get_alt_text</a:t>
            </a:r>
            <a:r>
              <a:t> and </a:t>
            </a:r>
            <a:r>
              <a:rPr sz="2700">
                <a:latin typeface="Monaco"/>
                <a:ea typeface="Monaco"/>
                <a:cs typeface="Monaco"/>
                <a:sym typeface="Monaco"/>
              </a:rPr>
              <a:t>get_last_plot</a:t>
            </a:r>
            <a:r>
              <a:t> are part of </a:t>
            </a:r>
            <a:r>
              <a:rPr sz="2700">
                <a:latin typeface="Monaco"/>
                <a:ea typeface="Monaco"/>
                <a:cs typeface="Monaco"/>
                <a:sym typeface="Monaco"/>
              </a:rPr>
              <a:t>{ggplot2}</a:t>
            </a:r>
            <a:r>
              <a:t> are do exactly what their names imply. Keep in mind that </a:t>
            </a:r>
            <a:r>
              <a:rPr sz="2700">
                <a:latin typeface="Monaco"/>
                <a:ea typeface="Monaco"/>
                <a:cs typeface="Monaco"/>
                <a:sym typeface="Monaco"/>
              </a:rPr>
              <a:t>get_last_plot</a:t>
            </a:r>
            <a:r>
              <a:t> will only grab the most recently rendered </a:t>
            </a:r>
            <a:r>
              <a:rPr sz="2700">
                <a:latin typeface="Monaco"/>
                <a:ea typeface="Monaco"/>
                <a:cs typeface="Monaco"/>
                <a:sym typeface="Monaco"/>
              </a:rPr>
              <a:t>{ggplot2}</a:t>
            </a:r>
            <a:r>
              <a:t> plot.</a:t>
            </a:r>
          </a:p>
        </p:txBody>
      </p:sp>
    </p:spTree>
  </p:cSld>
  <p:clrMapOvr>
    <a:masterClrMapping/>
  </p:clrMapOvr>
  <mc:AlternateContent xmlns:mc="http://schemas.openxmlformats.org/markup-compatibility/2006">
    <mc:Choice xmlns:p14="http://schemas.microsoft.com/office/powerpoint/2010/main" Requires="p14">
      <p:transition spd="slow" advClick="1" p14:dur="1500">
        <p:fade/>
      </p:transition>
    </mc:Choice>
    <mc:Fallback>
      <p:transition spd="slow">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ID="10" grpId="1" fill="hold">
                                  <p:stCondLst>
                                    <p:cond delay="0"/>
                                  </p:stCondLst>
                                  <p:iterate type="el" backwards="0">
                                    <p:tmAbs val="0"/>
                                  </p:iterate>
                                  <p:childTnLst>
                                    <p:set>
                                      <p:cBhvr>
                                        <p:cTn id="6" fill="hold"/>
                                        <p:tgtEl>
                                          <p:spTgt spid="121"/>
                                        </p:tgtEl>
                                        <p:attrNameLst>
                                          <p:attrName>style.visibility</p:attrName>
                                        </p:attrNameLst>
                                      </p:cBhvr>
                                      <p:to>
                                        <p:strVal val="visible"/>
                                      </p:to>
                                    </p:set>
                                    <p:animEffect filter="fade" transition="in">
                                      <p:cBhvr>
                                        <p:cTn id="7" dur="1000"/>
                                        <p:tgtEl>
                                          <p:spTgt spid="121"/>
                                        </p:tgtEl>
                                      </p:cBhvr>
                                    </p:animEffect>
                                  </p:childTnLst>
                                </p:cTn>
                              </p:par>
                            </p:childTnLst>
                          </p:cTn>
                        </p:par>
                      </p:childTnLst>
                    </p:cTn>
                  </p:par>
                  <p:par>
                    <p:cTn id="8" fill="hold">
                      <p:stCondLst>
                        <p:cond delay="indefinite"/>
                      </p:stCondLst>
                      <p:childTnLst>
                        <p:par>
                          <p:cTn id="9" fill="hold">
                            <p:stCondLst>
                              <p:cond delay="0"/>
                            </p:stCondLst>
                            <p:childTnLst>
                              <p:par>
                                <p:cTn id="10" presetClass="entr" nodeType="clickEffect" presetID="10" grpId="2" fill="hold">
                                  <p:stCondLst>
                                    <p:cond delay="0"/>
                                  </p:stCondLst>
                                  <p:iterate type="el" backwards="0">
                                    <p:tmAbs val="0"/>
                                  </p:iterate>
                                  <p:childTnLst>
                                    <p:set>
                                      <p:cBhvr>
                                        <p:cTn id="11" fill="hold"/>
                                        <p:tgtEl>
                                          <p:spTgt spid="122"/>
                                        </p:tgtEl>
                                        <p:attrNameLst>
                                          <p:attrName>style.visibility</p:attrName>
                                        </p:attrNameLst>
                                      </p:cBhvr>
                                      <p:to>
                                        <p:strVal val="visible"/>
                                      </p:to>
                                    </p:set>
                                    <p:animEffect filter="fade" transition="in">
                                      <p:cBhvr>
                                        <p:cTn id="12" dur="1000"/>
                                        <p:tgtEl>
                                          <p:spTgt spid="122"/>
                                        </p:tgtEl>
                                      </p:cBhvr>
                                    </p:animEffect>
                                  </p:childTnLst>
                                </p:cTn>
                              </p:par>
                            </p:childTnLst>
                          </p:cTn>
                        </p:par>
                      </p:childTnLst>
                    </p:cTn>
                  </p:par>
                  <p:par>
                    <p:cTn id="13" fill="hold">
                      <p:stCondLst>
                        <p:cond delay="indefinite"/>
                      </p:stCondLst>
                      <p:childTnLst>
                        <p:par>
                          <p:cTn id="14" fill="hold">
                            <p:stCondLst>
                              <p:cond delay="0"/>
                            </p:stCondLst>
                            <p:childTnLst>
                              <p:par>
                                <p:cTn id="15" presetClass="entr" nodeType="clickEffect" presetID="10" grpId="3" fill="hold">
                                  <p:stCondLst>
                                    <p:cond delay="0"/>
                                  </p:stCondLst>
                                  <p:iterate type="el" backwards="0">
                                    <p:tmAbs val="0"/>
                                  </p:iterate>
                                  <p:childTnLst>
                                    <p:set>
                                      <p:cBhvr>
                                        <p:cTn id="16" fill="hold"/>
                                        <p:tgtEl>
                                          <p:spTgt spid="123"/>
                                        </p:tgtEl>
                                        <p:attrNameLst>
                                          <p:attrName>style.visibility</p:attrName>
                                        </p:attrNameLst>
                                      </p:cBhvr>
                                      <p:to>
                                        <p:strVal val="visible"/>
                                      </p:to>
                                    </p:set>
                                    <p:animEffect filter="fade" transition="in">
                                      <p:cBhvr>
                                        <p:cTn id="17" dur="1000"/>
                                        <p:tgtEl>
                                          <p:spTgt spid="123"/>
                                        </p:tgtEl>
                                      </p:cBhvr>
                                    </p:animEffect>
                                  </p:childTnLst>
                                </p:cTn>
                              </p:par>
                            </p:childTnLst>
                          </p:cTn>
                        </p:par>
                      </p:childTnLst>
                    </p:cTn>
                  </p:par>
                  <p:par>
                    <p:cTn id="18" fill="hold">
                      <p:stCondLst>
                        <p:cond delay="indefinite"/>
                      </p:stCondLst>
                      <p:childTnLst>
                        <p:par>
                          <p:cTn id="19" fill="hold">
                            <p:stCondLst>
                              <p:cond delay="0"/>
                            </p:stCondLst>
                            <p:childTnLst>
                              <p:par>
                                <p:cTn id="20" presetClass="entr" nodeType="clickEffect" presetID="10" grpId="4" fill="hold">
                                  <p:stCondLst>
                                    <p:cond delay="0"/>
                                  </p:stCondLst>
                                  <p:iterate type="el" backwards="0">
                                    <p:tmAbs val="0"/>
                                  </p:iterate>
                                  <p:childTnLst>
                                    <p:set>
                                      <p:cBhvr>
                                        <p:cTn id="21" fill="hold"/>
                                        <p:tgtEl>
                                          <p:spTgt spid="124"/>
                                        </p:tgtEl>
                                        <p:attrNameLst>
                                          <p:attrName>style.visibility</p:attrName>
                                        </p:attrNameLst>
                                      </p:cBhvr>
                                      <p:to>
                                        <p:strVal val="visible"/>
                                      </p:to>
                                    </p:set>
                                    <p:animEffect filter="fade" transition="in">
                                      <p:cBhvr>
                                        <p:cTn id="22" dur="1000"/>
                                        <p:tgtEl>
                                          <p:spTgt spid="12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122" grpId="2"/>
      <p:bldP build="whole" bldLvl="1" animBg="1" rev="0" advAuto="0" spid="123" grpId="3"/>
      <p:bldP build="whole" bldLvl="1" animBg="1" rev="0" advAuto="0" spid="124" grpId="4"/>
      <p:bldP build="whole" bldLvl="1" animBg="1" rev="0" advAuto="0" spid="121" grpId="1"/>
    </p:bldLst>
  </p:timing>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6" name="Slide Number"/>
          <p:cNvSpPr txBox="1"/>
          <p:nvPr>
            <p:ph type="sldNum" sz="quarter" idx="2"/>
          </p:nvPr>
        </p:nvSpPr>
        <p:spPr>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127" name="Alt Text for Inserted Images"/>
          <p:cNvSpPr txBox="1"/>
          <p:nvPr>
            <p:ph type="title"/>
          </p:nvPr>
        </p:nvSpPr>
        <p:spPr>
          <a:prstGeom prst="rect">
            <a:avLst/>
          </a:prstGeom>
        </p:spPr>
        <p:txBody>
          <a:bodyPr/>
          <a:lstStyle>
            <a:lvl1pPr defTabSz="554990">
              <a:defRPr sz="4370"/>
            </a:lvl1pPr>
          </a:lstStyle>
          <a:p>
            <a:pPr/>
            <a:r>
              <a:t>Alt Text for Inserted Images</a:t>
            </a:r>
          </a:p>
        </p:txBody>
      </p:sp>
      <p:sp>
        <p:nvSpPr>
          <p:cNvPr id="128" name="When you are inserting an image from a file into your Quarto document, we will use the fig-alt label in a little bit different of a way."/>
          <p:cNvSpPr txBox="1"/>
          <p:nvPr/>
        </p:nvSpPr>
        <p:spPr>
          <a:xfrm>
            <a:off x="162023" y="977900"/>
            <a:ext cx="12680753" cy="990601"/>
          </a:xfrm>
          <a:prstGeom prst="rect">
            <a:avLst/>
          </a:prstGeom>
          <a:ln w="3175">
            <a:miter lim="400000"/>
          </a:ln>
          <a:extLst>
            <a:ext uri="{C572A759-6A51-4108-AA02-DFA0A04FC94B}">
              <ma14:wrappingTextBoxFlag xmlns:ma14="http://schemas.microsoft.com/office/mac/drawingml/2011/main" val="1"/>
            </a:ext>
          </a:extLst>
        </p:spPr>
        <p:txBody>
          <a:bodyPr wrap="none" lIns="38100" tIns="38100" rIns="38100" bIns="38100" anchor="ctr">
            <a:spAutoFit/>
          </a:bodyPr>
          <a:lstStyle>
            <a:lvl1pPr algn="l">
              <a:defRPr sz="3200">
                <a:solidFill>
                  <a:srgbClr val="000004"/>
                </a:solidFill>
                <a:latin typeface="Franklin Gothic Medium"/>
                <a:ea typeface="Franklin Gothic Medium"/>
                <a:cs typeface="Franklin Gothic Medium"/>
                <a:sym typeface="Franklin Gothic Medium"/>
              </a:defRPr>
            </a:lvl1pPr>
          </a:lstStyle>
          <a:p>
            <a:pPr/>
            <a:r>
              <a:t>When you are inserting an image from a file into your Quarto document, we will use the fig-alt label in a little bit different of a way.</a:t>
            </a:r>
          </a:p>
        </p:txBody>
      </p:sp>
      <p:sp>
        <p:nvSpPr>
          <p:cNvPr id="129" name="First, you need to make sure that you know where your image file is."/>
          <p:cNvSpPr txBox="1"/>
          <p:nvPr/>
        </p:nvSpPr>
        <p:spPr>
          <a:xfrm>
            <a:off x="162023" y="2535766"/>
            <a:ext cx="11890972" cy="533401"/>
          </a:xfrm>
          <a:prstGeom prst="rect">
            <a:avLst/>
          </a:prstGeom>
          <a:ln w="3175">
            <a:miter lim="400000"/>
          </a:ln>
          <a:extLst>
            <a:ext uri="{C572A759-6A51-4108-AA02-DFA0A04FC94B}">
              <ma14:wrappingTextBoxFlag xmlns:ma14="http://schemas.microsoft.com/office/mac/drawingml/2011/main" val="1"/>
            </a:ext>
          </a:extLst>
        </p:spPr>
        <p:txBody>
          <a:bodyPr wrap="none" lIns="38100" tIns="38100" rIns="38100" bIns="38100" anchor="ctr">
            <a:spAutoFit/>
          </a:bodyPr>
          <a:lstStyle>
            <a:lvl1pPr algn="l">
              <a:defRPr sz="3200">
                <a:solidFill>
                  <a:srgbClr val="000004"/>
                </a:solidFill>
                <a:latin typeface="Franklin Gothic Medium"/>
                <a:ea typeface="Franklin Gothic Medium"/>
                <a:cs typeface="Franklin Gothic Medium"/>
                <a:sym typeface="Franklin Gothic Medium"/>
              </a:defRPr>
            </a:lvl1pPr>
          </a:lstStyle>
          <a:p>
            <a:pPr/>
            <a:r>
              <a:t>First, you need to make sure that you know where your image file is.</a:t>
            </a:r>
          </a:p>
        </p:txBody>
      </p:sp>
      <p:sp>
        <p:nvSpPr>
          <p:cNvPr id="130" name="We recommend that you add this file to an images sub-directory for your current R Project directory that you're working in."/>
          <p:cNvSpPr txBox="1"/>
          <p:nvPr/>
        </p:nvSpPr>
        <p:spPr>
          <a:xfrm>
            <a:off x="134143" y="3263900"/>
            <a:ext cx="12736513" cy="990601"/>
          </a:xfrm>
          <a:prstGeom prst="rect">
            <a:avLst/>
          </a:prstGeom>
          <a:ln w="3175">
            <a:miter lim="400000"/>
          </a:ln>
          <a:extLst>
            <a:ext uri="{C572A759-6A51-4108-AA02-DFA0A04FC94B}">
              <ma14:wrappingTextBoxFlag xmlns:ma14="http://schemas.microsoft.com/office/mac/drawingml/2011/main" val="1"/>
            </a:ext>
          </a:extLst>
        </p:spPr>
        <p:txBody>
          <a:bodyPr wrap="none" lIns="38100" tIns="38100" rIns="38100" bIns="38100" anchor="ctr">
            <a:spAutoFit/>
          </a:bodyPr>
          <a:lstStyle>
            <a:lvl1pPr algn="l">
              <a:defRPr sz="3200">
                <a:solidFill>
                  <a:srgbClr val="008900"/>
                </a:solidFill>
                <a:latin typeface="Franklin Gothic Medium"/>
                <a:ea typeface="Franklin Gothic Medium"/>
                <a:cs typeface="Franklin Gothic Medium"/>
                <a:sym typeface="Franklin Gothic Medium"/>
              </a:defRPr>
            </a:lvl1pPr>
          </a:lstStyle>
          <a:p>
            <a:pPr/>
            <a:r>
              <a:t>We recommend that you add this file to an images sub-directory for your current R Project directory that you're working in.</a:t>
            </a:r>
          </a:p>
        </p:txBody>
      </p:sp>
      <p:sp>
        <p:nvSpPr>
          <p:cNvPr id="131" name="Second, you need to insert this image into your Quarto file."/>
          <p:cNvSpPr txBox="1"/>
          <p:nvPr/>
        </p:nvSpPr>
        <p:spPr>
          <a:xfrm>
            <a:off x="145090" y="4714875"/>
            <a:ext cx="10343953" cy="533401"/>
          </a:xfrm>
          <a:prstGeom prst="rect">
            <a:avLst/>
          </a:prstGeom>
          <a:ln w="3175">
            <a:miter lim="400000"/>
          </a:ln>
          <a:extLst>
            <a:ext uri="{C572A759-6A51-4108-AA02-DFA0A04FC94B}">
              <ma14:wrappingTextBoxFlag xmlns:ma14="http://schemas.microsoft.com/office/mac/drawingml/2011/main" val="1"/>
            </a:ext>
          </a:extLst>
        </p:spPr>
        <p:txBody>
          <a:bodyPr wrap="none" lIns="38100" tIns="38100" rIns="38100" bIns="38100" anchor="ctr">
            <a:spAutoFit/>
          </a:bodyPr>
          <a:lstStyle>
            <a:lvl1pPr algn="l">
              <a:defRPr sz="3200">
                <a:solidFill>
                  <a:srgbClr val="000004"/>
                </a:solidFill>
                <a:latin typeface="Franklin Gothic Medium"/>
                <a:ea typeface="Franklin Gothic Medium"/>
                <a:cs typeface="Franklin Gothic Medium"/>
                <a:sym typeface="Franklin Gothic Medium"/>
              </a:defRPr>
            </a:lvl1pPr>
          </a:lstStyle>
          <a:p>
            <a:pPr/>
            <a:r>
              <a:t>Second, you need to insert this image into your Quarto file. </a:t>
            </a:r>
          </a:p>
        </p:txBody>
      </p:sp>
      <p:sp>
        <p:nvSpPr>
          <p:cNvPr id="132" name="![A green cup](images/cupGreen.png){#fig-greenCup fig-alt=&quot;Green cup flipped upside down.&quot; height=100pt}"/>
          <p:cNvSpPr txBox="1"/>
          <p:nvPr/>
        </p:nvSpPr>
        <p:spPr>
          <a:xfrm>
            <a:off x="169333" y="5496615"/>
            <a:ext cx="12680753" cy="887891"/>
          </a:xfrm>
          <a:prstGeom prst="rect">
            <a:avLst/>
          </a:prstGeom>
          <a:ln w="3175">
            <a:miter lim="400000"/>
          </a:ln>
          <a:extLst>
            <a:ext uri="{C572A759-6A51-4108-AA02-DFA0A04FC94B}">
              <ma14:wrappingTextBoxFlag xmlns:ma14="http://schemas.microsoft.com/office/mac/drawingml/2011/main" val="1"/>
            </a:ext>
          </a:extLst>
        </p:spPr>
        <p:txBody>
          <a:bodyPr lIns="38100" tIns="38100" rIns="38100" bIns="38100" anchor="ctr">
            <a:spAutoFit/>
          </a:bodyPr>
          <a:lstStyle>
            <a:lvl1pPr algn="l">
              <a:defRPr sz="2500">
                <a:solidFill>
                  <a:srgbClr val="000004"/>
                </a:solidFill>
                <a:latin typeface="Monaco"/>
                <a:ea typeface="Monaco"/>
                <a:cs typeface="Monaco"/>
                <a:sym typeface="Monaco"/>
              </a:defRPr>
            </a:lvl1pPr>
          </a:lstStyle>
          <a:p>
            <a:pPr/>
            <a:r>
              <a:t>![A green cup](images/cupGreen.png){#fig-greenCup fig-alt="Green cup flipped upside down." height=100pt}</a:t>
            </a:r>
          </a:p>
        </p:txBody>
      </p:sp>
      <p:sp>
        <p:nvSpPr>
          <p:cNvPr id="133" name="Note:…"/>
          <p:cNvSpPr txBox="1"/>
          <p:nvPr/>
        </p:nvSpPr>
        <p:spPr>
          <a:xfrm>
            <a:off x="94290" y="6628341"/>
            <a:ext cx="12488401" cy="2362201"/>
          </a:xfrm>
          <a:prstGeom prst="rect">
            <a:avLst/>
          </a:prstGeom>
          <a:ln w="3175">
            <a:miter lim="400000"/>
          </a:ln>
          <a:extLst>
            <a:ext uri="{C572A759-6A51-4108-AA02-DFA0A04FC94B}">
              <ma14:wrappingTextBoxFlag xmlns:ma14="http://schemas.microsoft.com/office/mac/drawingml/2011/main" val="1"/>
            </a:ext>
          </a:extLst>
        </p:spPr>
        <p:txBody>
          <a:bodyPr lIns="38100" tIns="38100" rIns="38100" bIns="38100" anchor="ctr">
            <a:spAutoFit/>
          </a:bodyPr>
          <a:lstStyle/>
          <a:p>
            <a:pPr algn="l">
              <a:defRPr sz="3200">
                <a:solidFill>
                  <a:srgbClr val="000004"/>
                </a:solidFill>
                <a:latin typeface="Franklin Gothic Medium"/>
                <a:ea typeface="Franklin Gothic Medium"/>
                <a:cs typeface="Franklin Gothic Medium"/>
                <a:sym typeface="Franklin Gothic Medium"/>
              </a:defRPr>
            </a:pPr>
            <a:r>
              <a:t>Note:</a:t>
            </a:r>
          </a:p>
          <a:p>
            <a:pPr marL="508000" indent="-508000" algn="l">
              <a:buSzPct val="171000"/>
              <a:buChar char="•"/>
              <a:defRPr sz="3200">
                <a:solidFill>
                  <a:srgbClr val="000004"/>
                </a:solidFill>
                <a:latin typeface="Franklin Gothic Medium"/>
                <a:ea typeface="Franklin Gothic Medium"/>
                <a:cs typeface="Franklin Gothic Medium"/>
                <a:sym typeface="Franklin Gothic Medium"/>
              </a:defRPr>
            </a:pPr>
            <a:r>
              <a:t>The text in the square brackets is your figure caption.</a:t>
            </a:r>
          </a:p>
          <a:p>
            <a:pPr marL="508000" indent="-508000" algn="l">
              <a:buSzPct val="171000"/>
              <a:buChar char="•"/>
              <a:defRPr sz="3200">
                <a:solidFill>
                  <a:srgbClr val="000004"/>
                </a:solidFill>
                <a:latin typeface="Franklin Gothic Medium"/>
                <a:ea typeface="Franklin Gothic Medium"/>
                <a:cs typeface="Franklin Gothic Medium"/>
                <a:sym typeface="Franklin Gothic Medium"/>
              </a:defRPr>
            </a:pPr>
            <a:r>
              <a:t>The </a:t>
            </a:r>
            <a:r>
              <a:rPr>
                <a:solidFill>
                  <a:srgbClr val="1D2FEB"/>
                </a:solidFill>
              </a:rPr>
              <a:t>relative file path to the image file</a:t>
            </a:r>
            <a:r>
              <a:t> appears in parentheses.</a:t>
            </a:r>
          </a:p>
          <a:p>
            <a:pPr marL="508000" indent="-508000" algn="l">
              <a:buSzPct val="171000"/>
              <a:buChar char="•"/>
              <a:defRPr sz="3200">
                <a:solidFill>
                  <a:srgbClr val="000004"/>
                </a:solidFill>
                <a:latin typeface="Franklin Gothic Medium"/>
                <a:ea typeface="Franklin Gothic Medium"/>
                <a:cs typeface="Franklin Gothic Medium"/>
                <a:sym typeface="Franklin Gothic Medium"/>
              </a:defRPr>
            </a:pPr>
            <a:r>
              <a:t>Your figure label appears first in the curly braces starting with #.</a:t>
            </a:r>
          </a:p>
          <a:p>
            <a:pPr marL="508000" indent="-508000" algn="l">
              <a:buSzPct val="171000"/>
              <a:buChar char="•"/>
              <a:defRPr sz="3200">
                <a:solidFill>
                  <a:srgbClr val="000004"/>
                </a:solidFill>
                <a:latin typeface="Franklin Gothic Medium"/>
                <a:ea typeface="Franklin Gothic Medium"/>
                <a:cs typeface="Franklin Gothic Medium"/>
                <a:sym typeface="Franklin Gothic Medium"/>
              </a:defRPr>
            </a:pPr>
            <a:r>
              <a:t>We use an equals sign instead of a colon to set the alt text.</a:t>
            </a:r>
          </a:p>
        </p:txBody>
      </p:sp>
    </p:spTree>
  </p:cSld>
  <p:clrMapOvr>
    <a:masterClrMapping/>
  </p:clrMapOvr>
  <mc:AlternateContent xmlns:mc="http://schemas.openxmlformats.org/markup-compatibility/2006">
    <mc:Choice xmlns:p14="http://schemas.microsoft.com/office/powerpoint/2010/main" Requires="p14">
      <p:transition spd="slow" advClick="1" p14:dur="1500">
        <p:fade/>
      </p:transition>
    </mc:Choice>
    <mc:Fallback>
      <p:transition spd="slow">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ID="10" grpId="1" fill="hold">
                                  <p:stCondLst>
                                    <p:cond delay="0"/>
                                  </p:stCondLst>
                                  <p:iterate type="el" backwards="0">
                                    <p:tmAbs val="0"/>
                                  </p:iterate>
                                  <p:childTnLst>
                                    <p:set>
                                      <p:cBhvr>
                                        <p:cTn id="6" fill="hold"/>
                                        <p:tgtEl>
                                          <p:spTgt spid="129"/>
                                        </p:tgtEl>
                                        <p:attrNameLst>
                                          <p:attrName>style.visibility</p:attrName>
                                        </p:attrNameLst>
                                      </p:cBhvr>
                                      <p:to>
                                        <p:strVal val="visible"/>
                                      </p:to>
                                    </p:set>
                                    <p:animEffect filter="fade" transition="in">
                                      <p:cBhvr>
                                        <p:cTn id="7" dur="1000"/>
                                        <p:tgtEl>
                                          <p:spTgt spid="129"/>
                                        </p:tgtEl>
                                      </p:cBhvr>
                                    </p:animEffect>
                                  </p:childTnLst>
                                </p:cTn>
                              </p:par>
                            </p:childTnLst>
                          </p:cTn>
                        </p:par>
                      </p:childTnLst>
                    </p:cTn>
                  </p:par>
                  <p:par>
                    <p:cTn id="8" fill="hold">
                      <p:stCondLst>
                        <p:cond delay="indefinite"/>
                      </p:stCondLst>
                      <p:childTnLst>
                        <p:par>
                          <p:cTn id="9" fill="hold">
                            <p:stCondLst>
                              <p:cond delay="0"/>
                            </p:stCondLst>
                            <p:childTnLst>
                              <p:par>
                                <p:cTn id="10" presetClass="entr" nodeType="clickEffect" presetID="10" grpId="2" fill="hold">
                                  <p:stCondLst>
                                    <p:cond delay="0"/>
                                  </p:stCondLst>
                                  <p:iterate type="el" backwards="0">
                                    <p:tmAbs val="0"/>
                                  </p:iterate>
                                  <p:childTnLst>
                                    <p:set>
                                      <p:cBhvr>
                                        <p:cTn id="11" fill="hold"/>
                                        <p:tgtEl>
                                          <p:spTgt spid="130"/>
                                        </p:tgtEl>
                                        <p:attrNameLst>
                                          <p:attrName>style.visibility</p:attrName>
                                        </p:attrNameLst>
                                      </p:cBhvr>
                                      <p:to>
                                        <p:strVal val="visible"/>
                                      </p:to>
                                    </p:set>
                                    <p:animEffect filter="fade" transition="in">
                                      <p:cBhvr>
                                        <p:cTn id="12" dur="1000"/>
                                        <p:tgtEl>
                                          <p:spTgt spid="130"/>
                                        </p:tgtEl>
                                      </p:cBhvr>
                                    </p:animEffect>
                                  </p:childTnLst>
                                </p:cTn>
                              </p:par>
                            </p:childTnLst>
                          </p:cTn>
                        </p:par>
                      </p:childTnLst>
                    </p:cTn>
                  </p:par>
                  <p:par>
                    <p:cTn id="13" fill="hold">
                      <p:stCondLst>
                        <p:cond delay="indefinite"/>
                      </p:stCondLst>
                      <p:childTnLst>
                        <p:par>
                          <p:cTn id="14" fill="hold">
                            <p:stCondLst>
                              <p:cond delay="0"/>
                            </p:stCondLst>
                            <p:childTnLst>
                              <p:par>
                                <p:cTn id="15" presetClass="entr" nodeType="clickEffect" presetID="10" grpId="3" fill="hold">
                                  <p:stCondLst>
                                    <p:cond delay="0"/>
                                  </p:stCondLst>
                                  <p:iterate type="el" backwards="0">
                                    <p:tmAbs val="0"/>
                                  </p:iterate>
                                  <p:childTnLst>
                                    <p:set>
                                      <p:cBhvr>
                                        <p:cTn id="16" fill="hold"/>
                                        <p:tgtEl>
                                          <p:spTgt spid="131"/>
                                        </p:tgtEl>
                                        <p:attrNameLst>
                                          <p:attrName>style.visibility</p:attrName>
                                        </p:attrNameLst>
                                      </p:cBhvr>
                                      <p:to>
                                        <p:strVal val="visible"/>
                                      </p:to>
                                    </p:set>
                                    <p:animEffect filter="fade" transition="in">
                                      <p:cBhvr>
                                        <p:cTn id="17" dur="1000"/>
                                        <p:tgtEl>
                                          <p:spTgt spid="131"/>
                                        </p:tgtEl>
                                      </p:cBhvr>
                                    </p:animEffect>
                                  </p:childTnLst>
                                </p:cTn>
                              </p:par>
                            </p:childTnLst>
                          </p:cTn>
                        </p:par>
                      </p:childTnLst>
                    </p:cTn>
                  </p:par>
                  <p:par>
                    <p:cTn id="18" fill="hold">
                      <p:stCondLst>
                        <p:cond delay="indefinite"/>
                      </p:stCondLst>
                      <p:childTnLst>
                        <p:par>
                          <p:cTn id="19" fill="hold">
                            <p:stCondLst>
                              <p:cond delay="0"/>
                            </p:stCondLst>
                            <p:childTnLst>
                              <p:par>
                                <p:cTn id="20" presetClass="entr" nodeType="clickEffect" presetID="10" grpId="4" fill="hold">
                                  <p:stCondLst>
                                    <p:cond delay="0"/>
                                  </p:stCondLst>
                                  <p:iterate type="el" backwards="0">
                                    <p:tmAbs val="0"/>
                                  </p:iterate>
                                  <p:childTnLst>
                                    <p:set>
                                      <p:cBhvr>
                                        <p:cTn id="21" fill="hold"/>
                                        <p:tgtEl>
                                          <p:spTgt spid="132"/>
                                        </p:tgtEl>
                                        <p:attrNameLst>
                                          <p:attrName>style.visibility</p:attrName>
                                        </p:attrNameLst>
                                      </p:cBhvr>
                                      <p:to>
                                        <p:strVal val="visible"/>
                                      </p:to>
                                    </p:set>
                                    <p:animEffect filter="fade" transition="in">
                                      <p:cBhvr>
                                        <p:cTn id="22" dur="1000"/>
                                        <p:tgtEl>
                                          <p:spTgt spid="132"/>
                                        </p:tgtEl>
                                      </p:cBhvr>
                                    </p:animEffect>
                                  </p:childTnLst>
                                </p:cTn>
                              </p:par>
                            </p:childTnLst>
                          </p:cTn>
                        </p:par>
                      </p:childTnLst>
                    </p:cTn>
                  </p:par>
                  <p:par>
                    <p:cTn id="23" fill="hold">
                      <p:stCondLst>
                        <p:cond delay="indefinite"/>
                      </p:stCondLst>
                      <p:childTnLst>
                        <p:par>
                          <p:cTn id="24" fill="hold">
                            <p:stCondLst>
                              <p:cond delay="0"/>
                            </p:stCondLst>
                            <p:childTnLst>
                              <p:par>
                                <p:cTn id="25" presetClass="entr" nodeType="clickEffect" presetID="10" grpId="5" fill="hold">
                                  <p:stCondLst>
                                    <p:cond delay="0"/>
                                  </p:stCondLst>
                                  <p:iterate type="el" backwards="0">
                                    <p:tmAbs val="0"/>
                                  </p:iterate>
                                  <p:childTnLst>
                                    <p:set>
                                      <p:cBhvr>
                                        <p:cTn id="26" fill="hold"/>
                                        <p:tgtEl>
                                          <p:spTgt spid="133"/>
                                        </p:tgtEl>
                                        <p:attrNameLst>
                                          <p:attrName>style.visibility</p:attrName>
                                        </p:attrNameLst>
                                      </p:cBhvr>
                                      <p:to>
                                        <p:strVal val="visible"/>
                                      </p:to>
                                    </p:set>
                                    <p:animEffect filter="fade" transition="in">
                                      <p:cBhvr>
                                        <p:cTn id="27" dur="1000"/>
                                        <p:tgtEl>
                                          <p:spTgt spid="13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130" grpId="2"/>
      <p:bldP build="whole" bldLvl="1" animBg="1" rev="0" advAuto="0" spid="129" grpId="1"/>
      <p:bldP build="whole" bldLvl="1" animBg="1" rev="0" advAuto="0" spid="131" grpId="3"/>
      <p:bldP build="whole" bldLvl="1" animBg="1" rev="0" advAuto="0" spid="133" grpId="5"/>
      <p:bldP build="whole" bldLvl="1" animBg="1" rev="0" advAuto="0" spid="132" grpId="4"/>
    </p:bldLst>
  </p:timing>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5" name="Slide Number"/>
          <p:cNvSpPr txBox="1"/>
          <p:nvPr>
            <p:ph type="sldNum" sz="quarter" idx="2"/>
          </p:nvPr>
        </p:nvSpPr>
        <p:spPr>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136" name="Alt Text Reminders"/>
          <p:cNvSpPr txBox="1"/>
          <p:nvPr>
            <p:ph type="title"/>
          </p:nvPr>
        </p:nvSpPr>
        <p:spPr>
          <a:prstGeom prst="rect">
            <a:avLst/>
          </a:prstGeom>
        </p:spPr>
        <p:txBody>
          <a:bodyPr/>
          <a:lstStyle/>
          <a:p>
            <a:pPr/>
            <a:r>
              <a:t>Alt Text Reminders</a:t>
            </a:r>
          </a:p>
        </p:txBody>
      </p:sp>
      <p:sp>
        <p:nvSpPr>
          <p:cNvPr id="137" name="Remember,"/>
          <p:cNvSpPr txBox="1"/>
          <p:nvPr/>
        </p:nvSpPr>
        <p:spPr>
          <a:xfrm>
            <a:off x="169697" y="1206500"/>
            <a:ext cx="2128045" cy="533401"/>
          </a:xfrm>
          <a:prstGeom prst="rect">
            <a:avLst/>
          </a:prstGeom>
          <a:ln w="3175">
            <a:miter lim="400000"/>
          </a:ln>
          <a:extLst>
            <a:ext uri="{C572A759-6A51-4108-AA02-DFA0A04FC94B}">
              <ma14:wrappingTextBoxFlag xmlns:ma14="http://schemas.microsoft.com/office/mac/drawingml/2011/main" val="1"/>
            </a:ext>
          </a:extLst>
        </p:spPr>
        <p:txBody>
          <a:bodyPr wrap="none" lIns="38100" tIns="38100" rIns="38100" bIns="38100" anchor="ctr">
            <a:spAutoFit/>
          </a:bodyPr>
          <a:lstStyle>
            <a:lvl1pPr algn="l">
              <a:defRPr sz="3200">
                <a:solidFill>
                  <a:srgbClr val="000004"/>
                </a:solidFill>
                <a:latin typeface="Franklin Gothic Medium"/>
                <a:ea typeface="Franklin Gothic Medium"/>
                <a:cs typeface="Franklin Gothic Medium"/>
                <a:sym typeface="Franklin Gothic Medium"/>
              </a:defRPr>
            </a:lvl1pPr>
          </a:lstStyle>
          <a:p>
            <a:pPr/>
            <a:r>
              <a:t>Remember,</a:t>
            </a:r>
          </a:p>
        </p:txBody>
      </p:sp>
      <p:sp>
        <p:nvSpPr>
          <p:cNvPr id="138" name="All images need alt text.…"/>
          <p:cNvSpPr txBox="1"/>
          <p:nvPr/>
        </p:nvSpPr>
        <p:spPr>
          <a:xfrm>
            <a:off x="393170" y="1900372"/>
            <a:ext cx="12218459" cy="4749801"/>
          </a:xfrm>
          <a:prstGeom prst="rect">
            <a:avLst/>
          </a:prstGeom>
          <a:ln w="3175">
            <a:miter lim="400000"/>
          </a:ln>
          <a:extLst>
            <a:ext uri="{C572A759-6A51-4108-AA02-DFA0A04FC94B}">
              <ma14:wrappingTextBoxFlag xmlns:ma14="http://schemas.microsoft.com/office/mac/drawingml/2011/main" val="1"/>
            </a:ext>
          </a:extLst>
        </p:spPr>
        <p:txBody>
          <a:bodyPr lIns="38100" tIns="38100" rIns="38100" bIns="38100" anchor="ctr">
            <a:spAutoFit/>
          </a:bodyPr>
          <a:lstStyle/>
          <a:p>
            <a:pPr marL="508000" indent="-508000" algn="l">
              <a:spcBef>
                <a:spcPts val="2000"/>
              </a:spcBef>
              <a:buSzPct val="171000"/>
              <a:buChar char="•"/>
              <a:defRPr sz="3200">
                <a:solidFill>
                  <a:srgbClr val="000004"/>
                </a:solidFill>
                <a:latin typeface="Franklin Gothic Medium"/>
                <a:ea typeface="Franklin Gothic Medium"/>
                <a:cs typeface="Franklin Gothic Medium"/>
                <a:sym typeface="Franklin Gothic Medium"/>
              </a:defRPr>
            </a:pPr>
            <a:r>
              <a:t>All images need alt text.</a:t>
            </a:r>
          </a:p>
          <a:p>
            <a:pPr marL="508000" indent="-508000" algn="l">
              <a:spcBef>
                <a:spcPts val="2000"/>
              </a:spcBef>
              <a:buSzPct val="171000"/>
              <a:buChar char="•"/>
              <a:defRPr sz="3200">
                <a:solidFill>
                  <a:srgbClr val="000004"/>
                </a:solidFill>
                <a:latin typeface="Franklin Gothic Medium"/>
                <a:ea typeface="Franklin Gothic Medium"/>
                <a:cs typeface="Franklin Gothic Medium"/>
                <a:sym typeface="Franklin Gothic Medium"/>
              </a:defRPr>
            </a:pPr>
            <a:r>
              <a:t>Alt Text should be descriptive and concise (~140 characters max).</a:t>
            </a:r>
          </a:p>
          <a:p>
            <a:pPr marL="508000" indent="-508000" algn="l">
              <a:spcBef>
                <a:spcPts val="2000"/>
              </a:spcBef>
              <a:buSzPct val="171000"/>
              <a:buChar char="•"/>
              <a:defRPr sz="3200">
                <a:solidFill>
                  <a:srgbClr val="000004"/>
                </a:solidFill>
                <a:latin typeface="Franklin Gothic Medium"/>
                <a:ea typeface="Franklin Gothic Medium"/>
                <a:cs typeface="Franklin Gothic Medium"/>
                <a:sym typeface="Franklin Gothic Medium"/>
              </a:defRPr>
            </a:pPr>
            <a:r>
              <a:t>You do not need to describe every single thing; focus only on the most important element(s).</a:t>
            </a:r>
          </a:p>
          <a:p>
            <a:pPr marL="508000" indent="-508000" algn="l">
              <a:spcBef>
                <a:spcPts val="2000"/>
              </a:spcBef>
              <a:buSzPct val="171000"/>
              <a:buChar char="•"/>
              <a:defRPr sz="3200">
                <a:solidFill>
                  <a:srgbClr val="000004"/>
                </a:solidFill>
                <a:latin typeface="Franklin Gothic Medium"/>
                <a:ea typeface="Franklin Gothic Medium"/>
                <a:cs typeface="Franklin Gothic Medium"/>
                <a:sym typeface="Franklin Gothic Medium"/>
              </a:defRPr>
            </a:pPr>
            <a:r>
              <a:t>You may use ASU's Image Accessibility tool to help you come up with Alt Text for any image file.</a:t>
            </a:r>
          </a:p>
          <a:p>
            <a:pPr marL="508000" indent="-508000" algn="l">
              <a:spcBef>
                <a:spcPts val="2000"/>
              </a:spcBef>
              <a:buSzPct val="171000"/>
              <a:buChar char="•"/>
              <a:defRPr sz="3200">
                <a:solidFill>
                  <a:srgbClr val="000004"/>
                </a:solidFill>
                <a:latin typeface="Franklin Gothic Medium"/>
                <a:ea typeface="Franklin Gothic Medium"/>
                <a:cs typeface="Franklin Gothic Medium"/>
                <a:sym typeface="Franklin Gothic Medium"/>
              </a:defRPr>
            </a:pPr>
            <a:r>
              <a:t>Make sure that you proof-read and fix any text this tool or any other tool generates for you.</a:t>
            </a:r>
          </a:p>
        </p:txBody>
      </p:sp>
    </p:spTree>
  </p:cSld>
  <p:clrMapOvr>
    <a:masterClrMapping/>
  </p:clrMapOvr>
  <mc:AlternateContent xmlns:mc="http://schemas.openxmlformats.org/markup-compatibility/2006">
    <mc:Choice xmlns:p14="http://schemas.microsoft.com/office/powerpoint/2010/main" Requires="p14">
      <p:transition spd="slow" advClick="1" p14:dur="1500">
        <p:fade/>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40" name="Adding Citations"/>
          <p:cNvSpPr txBox="1"/>
          <p:nvPr>
            <p:ph type="ctrTitle"/>
          </p:nvPr>
        </p:nvSpPr>
        <p:spPr>
          <a:xfrm>
            <a:off x="2100592" y="2414058"/>
            <a:ext cx="8803616" cy="2476501"/>
          </a:xfrm>
          <a:prstGeom prst="rect">
            <a:avLst/>
          </a:prstGeom>
        </p:spPr>
        <p:txBody>
          <a:bodyPr/>
          <a:lstStyle/>
          <a:p>
            <a:pPr/>
            <a:r>
              <a:t>Adding Citations</a:t>
            </a:r>
          </a:p>
        </p:txBody>
      </p:sp>
      <p:sp>
        <p:nvSpPr>
          <p:cNvPr id="141" name="Slide Number"/>
          <p:cNvSpPr txBox="1"/>
          <p:nvPr>
            <p:ph type="sldNum" sz="quarter" idx="2"/>
          </p:nvPr>
        </p:nvSpPr>
        <p:spPr>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142" name="Unit 4"/>
          <p:cNvSpPr txBox="1"/>
          <p:nvPr>
            <p:ph type="subTitle" sz="quarter" idx="1"/>
          </p:nvPr>
        </p:nvSpPr>
        <p:spPr>
          <a:prstGeom prst="rect">
            <a:avLst/>
          </a:prstGeom>
        </p:spPr>
        <p:txBody>
          <a:bodyPr/>
          <a:lstStyle/>
          <a:p>
            <a:pPr/>
            <a:r>
              <a:t>Unit 4</a:t>
            </a:r>
          </a:p>
        </p:txBody>
      </p:sp>
    </p:spTree>
  </p:cSld>
  <p:clrMapOvr>
    <a:masterClrMapping/>
  </p:clrMapOvr>
  <mc:AlternateContent xmlns:mc="http://schemas.openxmlformats.org/markup-compatibility/2006">
    <mc:Choice xmlns:p14="http://schemas.microsoft.com/office/powerpoint/2010/main" Requires="p14">
      <p:transition spd="slow" advClick="1" p14:dur="1500">
        <p:fade/>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44" name="Slide Number"/>
          <p:cNvSpPr txBox="1"/>
          <p:nvPr>
            <p:ph type="sldNum" sz="quarter" idx="2"/>
          </p:nvPr>
        </p:nvSpPr>
        <p:spPr>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145" name="Referencing Others Work"/>
          <p:cNvSpPr txBox="1"/>
          <p:nvPr>
            <p:ph type="title"/>
          </p:nvPr>
        </p:nvSpPr>
        <p:spPr>
          <a:prstGeom prst="rect">
            <a:avLst/>
          </a:prstGeom>
        </p:spPr>
        <p:txBody>
          <a:bodyPr/>
          <a:lstStyle/>
          <a:p>
            <a:pPr/>
            <a:r>
              <a:t>Referencing Others Work</a:t>
            </a:r>
          </a:p>
        </p:txBody>
      </p:sp>
      <p:sp>
        <p:nvSpPr>
          <p:cNvPr id="146" name="A standard part of science is reviewing the work of others that might pertain to our current project."/>
          <p:cNvSpPr txBox="1"/>
          <p:nvPr/>
        </p:nvSpPr>
        <p:spPr>
          <a:xfrm>
            <a:off x="165385" y="965089"/>
            <a:ext cx="12674031" cy="990601"/>
          </a:xfrm>
          <a:prstGeom prst="rect">
            <a:avLst/>
          </a:prstGeom>
          <a:ln w="3175">
            <a:miter lim="400000"/>
          </a:ln>
          <a:extLst>
            <a:ext uri="{C572A759-6A51-4108-AA02-DFA0A04FC94B}">
              <ma14:wrappingTextBoxFlag xmlns:ma14="http://schemas.microsoft.com/office/mac/drawingml/2011/main" val="1"/>
            </a:ext>
          </a:extLst>
        </p:spPr>
        <p:txBody>
          <a:bodyPr lIns="38100" tIns="38100" rIns="38100" bIns="38100" anchor="ctr">
            <a:spAutoFit/>
          </a:bodyPr>
          <a:lstStyle>
            <a:lvl1pPr algn="l">
              <a:defRPr sz="3200">
                <a:solidFill>
                  <a:srgbClr val="000004"/>
                </a:solidFill>
                <a:latin typeface="Franklin Gothic Medium"/>
                <a:ea typeface="Franklin Gothic Medium"/>
                <a:cs typeface="Franklin Gothic Medium"/>
                <a:sym typeface="Franklin Gothic Medium"/>
              </a:defRPr>
            </a:lvl1pPr>
          </a:lstStyle>
          <a:p>
            <a:pPr/>
            <a:r>
              <a:t>A standard part of science is reviewing the work of others that might pertain to our current project.</a:t>
            </a:r>
          </a:p>
        </p:txBody>
      </p:sp>
      <p:sp>
        <p:nvSpPr>
          <p:cNvPr id="147" name="We want to be sure that we acknowledge the insight that we gain from others as well as anything that we might use from them in our work."/>
          <p:cNvSpPr txBox="1"/>
          <p:nvPr/>
        </p:nvSpPr>
        <p:spPr>
          <a:xfrm>
            <a:off x="162024" y="2095303"/>
            <a:ext cx="12240106" cy="1447801"/>
          </a:xfrm>
          <a:prstGeom prst="rect">
            <a:avLst/>
          </a:prstGeom>
          <a:ln w="3175">
            <a:miter lim="400000"/>
          </a:ln>
          <a:extLst>
            <a:ext uri="{C572A759-6A51-4108-AA02-DFA0A04FC94B}">
              <ma14:wrappingTextBoxFlag xmlns:ma14="http://schemas.microsoft.com/office/mac/drawingml/2011/main" val="1"/>
            </a:ext>
          </a:extLst>
        </p:spPr>
        <p:txBody>
          <a:bodyPr lIns="38100" tIns="38100" rIns="38100" bIns="38100" anchor="ctr">
            <a:spAutoFit/>
          </a:bodyPr>
          <a:lstStyle>
            <a:lvl1pPr algn="l">
              <a:defRPr sz="3200">
                <a:solidFill>
                  <a:srgbClr val="000004"/>
                </a:solidFill>
                <a:latin typeface="Franklin Gothic Medium"/>
                <a:ea typeface="Franklin Gothic Medium"/>
                <a:cs typeface="Franklin Gothic Medium"/>
                <a:sym typeface="Franklin Gothic Medium"/>
              </a:defRPr>
            </a:lvl1pPr>
          </a:lstStyle>
          <a:p>
            <a:pPr/>
            <a:r>
              <a:t>We want to be sure that we acknowledge the insight that we gain from others as well as anything that we might use from them in our work.</a:t>
            </a:r>
          </a:p>
        </p:txBody>
      </p:sp>
      <p:sp>
        <p:nvSpPr>
          <p:cNvPr id="148" name="This includes…"/>
          <p:cNvSpPr txBox="1"/>
          <p:nvPr/>
        </p:nvSpPr>
        <p:spPr>
          <a:xfrm>
            <a:off x="162024" y="3844120"/>
            <a:ext cx="12240106" cy="3276601"/>
          </a:xfrm>
          <a:prstGeom prst="rect">
            <a:avLst/>
          </a:prstGeom>
          <a:ln w="3175">
            <a:miter lim="400000"/>
          </a:ln>
          <a:extLst>
            <a:ext uri="{C572A759-6A51-4108-AA02-DFA0A04FC94B}">
              <ma14:wrappingTextBoxFlag xmlns:ma14="http://schemas.microsoft.com/office/mac/drawingml/2011/main" val="1"/>
            </a:ext>
          </a:extLst>
        </p:spPr>
        <p:txBody>
          <a:bodyPr lIns="38100" tIns="38100" rIns="38100" bIns="38100" anchor="ctr">
            <a:spAutoFit/>
          </a:bodyPr>
          <a:lstStyle/>
          <a:p>
            <a:pPr algn="l">
              <a:defRPr sz="3200">
                <a:solidFill>
                  <a:srgbClr val="000004"/>
                </a:solidFill>
                <a:latin typeface="Franklin Gothic Medium"/>
                <a:ea typeface="Franklin Gothic Medium"/>
                <a:cs typeface="Franklin Gothic Medium"/>
                <a:sym typeface="Franklin Gothic Medium"/>
              </a:defRPr>
            </a:pPr>
            <a:r>
              <a:t>This includes</a:t>
            </a:r>
          </a:p>
          <a:p>
            <a:pPr marL="927100" indent="-609600" algn="l">
              <a:buSzPct val="171000"/>
              <a:buChar char="•"/>
              <a:defRPr sz="3200">
                <a:solidFill>
                  <a:srgbClr val="000004"/>
                </a:solidFill>
                <a:latin typeface="Franklin Gothic Medium"/>
                <a:ea typeface="Franklin Gothic Medium"/>
                <a:cs typeface="Franklin Gothic Medium"/>
                <a:sym typeface="Franklin Gothic Medium"/>
              </a:defRPr>
            </a:pPr>
            <a:r>
              <a:t>Ideas and findings,</a:t>
            </a:r>
          </a:p>
          <a:p>
            <a:pPr marL="927100" indent="-609600" algn="l">
              <a:buSzPct val="171000"/>
              <a:buChar char="•"/>
              <a:defRPr sz="3200">
                <a:solidFill>
                  <a:srgbClr val="000004"/>
                </a:solidFill>
                <a:latin typeface="Franklin Gothic Medium"/>
                <a:ea typeface="Franklin Gothic Medium"/>
                <a:cs typeface="Franklin Gothic Medium"/>
                <a:sym typeface="Franklin Gothic Medium"/>
              </a:defRPr>
            </a:pPr>
            <a:r>
              <a:t>Data,</a:t>
            </a:r>
          </a:p>
          <a:p>
            <a:pPr marL="927100" indent="-609600" algn="l">
              <a:buSzPct val="171000"/>
              <a:buChar char="•"/>
              <a:defRPr sz="3200">
                <a:solidFill>
                  <a:srgbClr val="000004"/>
                </a:solidFill>
                <a:latin typeface="Franklin Gothic Medium"/>
                <a:ea typeface="Franklin Gothic Medium"/>
                <a:cs typeface="Franklin Gothic Medium"/>
                <a:sym typeface="Franklin Gothic Medium"/>
              </a:defRPr>
            </a:pPr>
            <a:r>
              <a:t>Code,</a:t>
            </a:r>
          </a:p>
          <a:p>
            <a:pPr marL="927100" indent="-609600" algn="l">
              <a:buSzPct val="171000"/>
              <a:buChar char="•"/>
              <a:defRPr sz="3200">
                <a:solidFill>
                  <a:srgbClr val="000004"/>
                </a:solidFill>
                <a:latin typeface="Franklin Gothic Medium"/>
                <a:ea typeface="Franklin Gothic Medium"/>
                <a:cs typeface="Franklin Gothic Medium"/>
                <a:sym typeface="Franklin Gothic Medium"/>
              </a:defRPr>
            </a:pPr>
            <a:r>
              <a:t>Methodology,</a:t>
            </a:r>
          </a:p>
          <a:p>
            <a:pPr marL="927100" indent="-609600" algn="l">
              <a:buSzPct val="171000"/>
              <a:buChar char="•"/>
              <a:defRPr sz="3200">
                <a:solidFill>
                  <a:srgbClr val="000004"/>
                </a:solidFill>
                <a:latin typeface="Franklin Gothic Medium"/>
                <a:ea typeface="Franklin Gothic Medium"/>
                <a:cs typeface="Franklin Gothic Medium"/>
                <a:sym typeface="Franklin Gothic Medium"/>
              </a:defRPr>
            </a:pPr>
            <a:r>
              <a:t>Images,</a:t>
            </a:r>
          </a:p>
          <a:p>
            <a:pPr marL="927100" indent="-609600" algn="l">
              <a:buSzPct val="171000"/>
              <a:buChar char="•"/>
              <a:defRPr sz="3200">
                <a:solidFill>
                  <a:srgbClr val="000004"/>
                </a:solidFill>
                <a:latin typeface="Franklin Gothic Medium"/>
                <a:ea typeface="Franklin Gothic Medium"/>
                <a:cs typeface="Franklin Gothic Medium"/>
                <a:sym typeface="Franklin Gothic Medium"/>
              </a:defRPr>
            </a:pPr>
            <a:r>
              <a:t>and the list goes on.</a:t>
            </a:r>
          </a:p>
        </p:txBody>
      </p:sp>
      <p:sp>
        <p:nvSpPr>
          <p:cNvPr id="149" name="Practicing Open Science and being a good/ethical Statistician/Data Scientist includes giving credit to others when appropriate."/>
          <p:cNvSpPr txBox="1"/>
          <p:nvPr/>
        </p:nvSpPr>
        <p:spPr>
          <a:xfrm>
            <a:off x="162024" y="7421738"/>
            <a:ext cx="12240106" cy="990601"/>
          </a:xfrm>
          <a:prstGeom prst="rect">
            <a:avLst/>
          </a:prstGeom>
          <a:ln w="3175">
            <a:miter lim="400000"/>
          </a:ln>
          <a:extLst>
            <a:ext uri="{C572A759-6A51-4108-AA02-DFA0A04FC94B}">
              <ma14:wrappingTextBoxFlag xmlns:ma14="http://schemas.microsoft.com/office/mac/drawingml/2011/main" val="1"/>
            </a:ext>
          </a:extLst>
        </p:spPr>
        <p:txBody>
          <a:bodyPr lIns="38100" tIns="38100" rIns="38100" bIns="38100" anchor="ctr">
            <a:spAutoFit/>
          </a:bodyPr>
          <a:lstStyle>
            <a:lvl1pPr algn="l">
              <a:defRPr sz="3200">
                <a:solidFill>
                  <a:srgbClr val="000004"/>
                </a:solidFill>
                <a:latin typeface="Franklin Gothic Medium"/>
                <a:ea typeface="Franklin Gothic Medium"/>
                <a:cs typeface="Franklin Gothic Medium"/>
                <a:sym typeface="Franklin Gothic Medium"/>
              </a:defRPr>
            </a:lvl1pPr>
          </a:lstStyle>
          <a:p>
            <a:pPr/>
            <a:r>
              <a:t>Practicing Open Science and being a good/ethical Statistician/Data Scientist includes giving credit to others when appropriate.</a:t>
            </a:r>
          </a:p>
        </p:txBody>
      </p:sp>
    </p:spTree>
  </p:cSld>
  <p:clrMapOvr>
    <a:masterClrMapping/>
  </p:clrMapOvr>
  <mc:AlternateContent xmlns:mc="http://schemas.openxmlformats.org/markup-compatibility/2006">
    <mc:Choice xmlns:p14="http://schemas.microsoft.com/office/powerpoint/2010/main" Requires="p14">
      <p:transition spd="slow" advClick="1" p14:dur="1500">
        <p:push dir="l"/>
      </p:transition>
    </mc:Choice>
    <mc:Fallback>
      <p:transition spd="slow">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ID="10" grpId="1" fill="hold">
                                  <p:stCondLst>
                                    <p:cond delay="0"/>
                                  </p:stCondLst>
                                  <p:iterate type="el" backwards="0">
                                    <p:tmAbs val="0"/>
                                  </p:iterate>
                                  <p:childTnLst>
                                    <p:set>
                                      <p:cBhvr>
                                        <p:cTn id="6" fill="hold"/>
                                        <p:tgtEl>
                                          <p:spTgt spid="147"/>
                                        </p:tgtEl>
                                        <p:attrNameLst>
                                          <p:attrName>style.visibility</p:attrName>
                                        </p:attrNameLst>
                                      </p:cBhvr>
                                      <p:to>
                                        <p:strVal val="visible"/>
                                      </p:to>
                                    </p:set>
                                    <p:animEffect filter="fade" transition="in">
                                      <p:cBhvr>
                                        <p:cTn id="7" dur="1000"/>
                                        <p:tgtEl>
                                          <p:spTgt spid="147"/>
                                        </p:tgtEl>
                                      </p:cBhvr>
                                    </p:animEffect>
                                  </p:childTnLst>
                                </p:cTn>
                              </p:par>
                            </p:childTnLst>
                          </p:cTn>
                        </p:par>
                      </p:childTnLst>
                    </p:cTn>
                  </p:par>
                  <p:par>
                    <p:cTn id="8" fill="hold">
                      <p:stCondLst>
                        <p:cond delay="indefinite"/>
                      </p:stCondLst>
                      <p:childTnLst>
                        <p:par>
                          <p:cTn id="9" fill="hold">
                            <p:stCondLst>
                              <p:cond delay="0"/>
                            </p:stCondLst>
                            <p:childTnLst>
                              <p:par>
                                <p:cTn id="10" presetClass="entr" nodeType="clickEffect" presetID="10" grpId="2" fill="hold">
                                  <p:stCondLst>
                                    <p:cond delay="0"/>
                                  </p:stCondLst>
                                  <p:iterate type="el" backwards="0">
                                    <p:tmAbs val="0"/>
                                  </p:iterate>
                                  <p:childTnLst>
                                    <p:set>
                                      <p:cBhvr>
                                        <p:cTn id="11" fill="hold"/>
                                        <p:tgtEl>
                                          <p:spTgt spid="148"/>
                                        </p:tgtEl>
                                        <p:attrNameLst>
                                          <p:attrName>style.visibility</p:attrName>
                                        </p:attrNameLst>
                                      </p:cBhvr>
                                      <p:to>
                                        <p:strVal val="visible"/>
                                      </p:to>
                                    </p:set>
                                    <p:animEffect filter="fade" transition="in">
                                      <p:cBhvr>
                                        <p:cTn id="12" dur="1000"/>
                                        <p:tgtEl>
                                          <p:spTgt spid="148"/>
                                        </p:tgtEl>
                                      </p:cBhvr>
                                    </p:animEffect>
                                  </p:childTnLst>
                                </p:cTn>
                              </p:par>
                            </p:childTnLst>
                          </p:cTn>
                        </p:par>
                      </p:childTnLst>
                    </p:cTn>
                  </p:par>
                  <p:par>
                    <p:cTn id="13" fill="hold">
                      <p:stCondLst>
                        <p:cond delay="indefinite"/>
                      </p:stCondLst>
                      <p:childTnLst>
                        <p:par>
                          <p:cTn id="14" fill="hold">
                            <p:stCondLst>
                              <p:cond delay="0"/>
                            </p:stCondLst>
                            <p:childTnLst>
                              <p:par>
                                <p:cTn id="15" presetClass="entr" nodeType="clickEffect" presetID="10" grpId="3" fill="hold">
                                  <p:stCondLst>
                                    <p:cond delay="0"/>
                                  </p:stCondLst>
                                  <p:iterate type="el" backwards="0">
                                    <p:tmAbs val="0"/>
                                  </p:iterate>
                                  <p:childTnLst>
                                    <p:set>
                                      <p:cBhvr>
                                        <p:cTn id="16" fill="hold"/>
                                        <p:tgtEl>
                                          <p:spTgt spid="149"/>
                                        </p:tgtEl>
                                        <p:attrNameLst>
                                          <p:attrName>style.visibility</p:attrName>
                                        </p:attrNameLst>
                                      </p:cBhvr>
                                      <p:to>
                                        <p:strVal val="visible"/>
                                      </p:to>
                                    </p:set>
                                    <p:animEffect filter="fade" transition="in">
                                      <p:cBhvr>
                                        <p:cTn id="17" dur="1000"/>
                                        <p:tgtEl>
                                          <p:spTgt spid="14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147" grpId="1"/>
      <p:bldP build="whole" bldLvl="1" animBg="1" rev="0" advAuto="0" spid="148" grpId="2"/>
      <p:bldP build="whole" bldLvl="1" animBg="1" rev="0" advAuto="0" spid="149" grpId="3"/>
    </p:bldLst>
  </p:timing>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1" name="Slide Number"/>
          <p:cNvSpPr txBox="1"/>
          <p:nvPr>
            <p:ph type="sldNum" sz="quarter" idx="2"/>
          </p:nvPr>
        </p:nvSpPr>
        <p:spPr>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152" name="Why Given Credit?"/>
          <p:cNvSpPr txBox="1"/>
          <p:nvPr>
            <p:ph type="title"/>
          </p:nvPr>
        </p:nvSpPr>
        <p:spPr>
          <a:prstGeom prst="rect">
            <a:avLst/>
          </a:prstGeom>
        </p:spPr>
        <p:txBody>
          <a:bodyPr/>
          <a:lstStyle/>
          <a:p>
            <a:pPr/>
            <a:r>
              <a:t>Why Given Credit?</a:t>
            </a:r>
          </a:p>
        </p:txBody>
      </p:sp>
      <p:sp>
        <p:nvSpPr>
          <p:cNvPr id="153" name="Practicing Open Science and being a good/ethical Statistician/Data Scientist includes giving credit to others when appropriate."/>
          <p:cNvSpPr txBox="1"/>
          <p:nvPr/>
        </p:nvSpPr>
        <p:spPr>
          <a:xfrm>
            <a:off x="162024" y="977900"/>
            <a:ext cx="12550364" cy="990601"/>
          </a:xfrm>
          <a:prstGeom prst="rect">
            <a:avLst/>
          </a:prstGeom>
          <a:ln w="3175">
            <a:miter lim="400000"/>
          </a:ln>
          <a:extLst>
            <a:ext uri="{C572A759-6A51-4108-AA02-DFA0A04FC94B}">
              <ma14:wrappingTextBoxFlag xmlns:ma14="http://schemas.microsoft.com/office/mac/drawingml/2011/main" val="1"/>
            </a:ext>
          </a:extLst>
        </p:spPr>
        <p:txBody>
          <a:bodyPr lIns="38100" tIns="38100" rIns="38100" bIns="38100" anchor="ctr">
            <a:spAutoFit/>
          </a:bodyPr>
          <a:lstStyle>
            <a:lvl1pPr algn="l">
              <a:defRPr sz="3200">
                <a:solidFill>
                  <a:srgbClr val="000004"/>
                </a:solidFill>
                <a:latin typeface="Franklin Gothic Medium"/>
                <a:ea typeface="Franklin Gothic Medium"/>
                <a:cs typeface="Franklin Gothic Medium"/>
                <a:sym typeface="Franklin Gothic Medium"/>
              </a:defRPr>
            </a:lvl1pPr>
          </a:lstStyle>
          <a:p>
            <a:pPr/>
            <a:r>
              <a:t>Practicing Open Science and being a good/ethical Statistician/Data Scientist includes giving credit to others when appropriate.</a:t>
            </a:r>
          </a:p>
        </p:txBody>
      </p:sp>
      <p:sp>
        <p:nvSpPr>
          <p:cNvPr id="154" name="With people around you, brainstorm reasons why giving credit would be good for both Open Science and us."/>
          <p:cNvSpPr txBox="1"/>
          <p:nvPr/>
        </p:nvSpPr>
        <p:spPr>
          <a:xfrm>
            <a:off x="227218" y="2645439"/>
            <a:ext cx="12550364" cy="990601"/>
          </a:xfrm>
          <a:prstGeom prst="rect">
            <a:avLst/>
          </a:prstGeom>
          <a:ln w="3175">
            <a:miter lim="400000"/>
          </a:ln>
          <a:extLst>
            <a:ext uri="{C572A759-6A51-4108-AA02-DFA0A04FC94B}">
              <ma14:wrappingTextBoxFlag xmlns:ma14="http://schemas.microsoft.com/office/mac/drawingml/2011/main" val="1"/>
            </a:ext>
          </a:extLst>
        </p:spPr>
        <p:txBody>
          <a:bodyPr lIns="38100" tIns="38100" rIns="38100" bIns="38100" anchor="ctr">
            <a:spAutoFit/>
          </a:bodyPr>
          <a:lstStyle>
            <a:lvl1pPr algn="l">
              <a:defRPr sz="3200">
                <a:solidFill>
                  <a:srgbClr val="000004"/>
                </a:solidFill>
                <a:latin typeface="Franklin Gothic Medium"/>
                <a:ea typeface="Franklin Gothic Medium"/>
                <a:cs typeface="Franklin Gothic Medium"/>
                <a:sym typeface="Franklin Gothic Medium"/>
              </a:defRPr>
            </a:lvl1pPr>
          </a:lstStyle>
          <a:p>
            <a:pPr/>
            <a:r>
              <a:t>With people around you, brainstorm reasons why giving credit would be good for both Open Science and us.</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advClick="1" p14:dur="1500">
        <p159:morph option="byObject"/>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6" name="Slide Number"/>
          <p:cNvSpPr txBox="1"/>
          <p:nvPr>
            <p:ph type="sldNum" sz="quarter" idx="2"/>
          </p:nvPr>
        </p:nvSpPr>
        <p:spPr>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157" name="Adding Citations in Quarto"/>
          <p:cNvSpPr txBox="1"/>
          <p:nvPr>
            <p:ph type="title"/>
          </p:nvPr>
        </p:nvSpPr>
        <p:spPr>
          <a:prstGeom prst="rect">
            <a:avLst/>
          </a:prstGeom>
        </p:spPr>
        <p:txBody>
          <a:bodyPr/>
          <a:lstStyle>
            <a:lvl1pPr defTabSz="578358">
              <a:defRPr sz="4554"/>
            </a:lvl1pPr>
          </a:lstStyle>
          <a:p>
            <a:pPr/>
            <a:r>
              <a:t>Adding Citations in Quarto</a:t>
            </a:r>
          </a:p>
        </p:txBody>
      </p:sp>
      <p:sp>
        <p:nvSpPr>
          <p:cNvPr id="158" name="There are two things that you'll need in order to add citations to your work in a Quarto document: a CSL file and a bibliographic file."/>
          <p:cNvSpPr txBox="1"/>
          <p:nvPr/>
        </p:nvSpPr>
        <p:spPr>
          <a:xfrm>
            <a:off x="227218" y="977900"/>
            <a:ext cx="12550364" cy="990601"/>
          </a:xfrm>
          <a:prstGeom prst="rect">
            <a:avLst/>
          </a:prstGeom>
          <a:ln w="3175">
            <a:miter lim="400000"/>
          </a:ln>
          <a:extLst>
            <a:ext uri="{C572A759-6A51-4108-AA02-DFA0A04FC94B}">
              <ma14:wrappingTextBoxFlag xmlns:ma14="http://schemas.microsoft.com/office/mac/drawingml/2011/main" val="1"/>
            </a:ext>
          </a:extLst>
        </p:spPr>
        <p:txBody>
          <a:bodyPr lIns="38100" tIns="38100" rIns="38100" bIns="38100" anchor="ctr">
            <a:spAutoFit/>
          </a:bodyPr>
          <a:lstStyle>
            <a:lvl1pPr algn="l">
              <a:defRPr sz="3200">
                <a:solidFill>
                  <a:srgbClr val="000004"/>
                </a:solidFill>
                <a:latin typeface="Franklin Gothic Medium"/>
                <a:ea typeface="Franklin Gothic Medium"/>
                <a:cs typeface="Franklin Gothic Medium"/>
                <a:sym typeface="Franklin Gothic Medium"/>
              </a:defRPr>
            </a:lvl1pPr>
          </a:lstStyle>
          <a:p>
            <a:pPr/>
            <a:r>
              <a:t>There are two things that you'll need in order to add citations to your work in a Quarto document: a CSL file and a bibliographic file.</a:t>
            </a:r>
          </a:p>
        </p:txBody>
      </p:sp>
      <p:sp>
        <p:nvSpPr>
          <p:cNvPr id="159" name="The Citation Style Language (CSL) file tells Quarto how to format all of your references in your document. Common examples include"/>
          <p:cNvSpPr txBox="1"/>
          <p:nvPr/>
        </p:nvSpPr>
        <p:spPr>
          <a:xfrm>
            <a:off x="210285" y="2438203"/>
            <a:ext cx="12141583" cy="990601"/>
          </a:xfrm>
          <a:prstGeom prst="rect">
            <a:avLst/>
          </a:prstGeom>
          <a:ln w="3175">
            <a:miter lim="400000"/>
          </a:ln>
          <a:extLst>
            <a:ext uri="{C572A759-6A51-4108-AA02-DFA0A04FC94B}">
              <ma14:wrappingTextBoxFlag xmlns:ma14="http://schemas.microsoft.com/office/mac/drawingml/2011/main" val="1"/>
            </a:ext>
          </a:extLst>
        </p:spPr>
        <p:txBody>
          <a:bodyPr lIns="38100" tIns="38100" rIns="38100" bIns="38100" anchor="ctr">
            <a:spAutoFit/>
          </a:bodyPr>
          <a:lstStyle>
            <a:lvl1pPr algn="l">
              <a:defRPr sz="3200">
                <a:solidFill>
                  <a:srgbClr val="000004"/>
                </a:solidFill>
                <a:latin typeface="Franklin Gothic Medium"/>
                <a:ea typeface="Franklin Gothic Medium"/>
                <a:cs typeface="Franklin Gothic Medium"/>
                <a:sym typeface="Franklin Gothic Medium"/>
              </a:defRPr>
            </a:lvl1pPr>
          </a:lstStyle>
          <a:p>
            <a:pPr/>
            <a:r>
              <a:t>The Citation Style Language (CSL) file tells Quarto how to format all of your references in your document. Common examples include</a:t>
            </a:r>
          </a:p>
        </p:txBody>
      </p:sp>
      <p:sp>
        <p:nvSpPr>
          <p:cNvPr id="160" name="American Psychological Association (APA)…"/>
          <p:cNvSpPr txBox="1"/>
          <p:nvPr/>
        </p:nvSpPr>
        <p:spPr>
          <a:xfrm>
            <a:off x="210285" y="3458239"/>
            <a:ext cx="12141583" cy="1905001"/>
          </a:xfrm>
          <a:prstGeom prst="rect">
            <a:avLst/>
          </a:prstGeom>
          <a:ln w="3175">
            <a:miter lim="400000"/>
          </a:ln>
          <a:extLst>
            <a:ext uri="{C572A759-6A51-4108-AA02-DFA0A04FC94B}">
              <ma14:wrappingTextBoxFlag xmlns:ma14="http://schemas.microsoft.com/office/mac/drawingml/2011/main" val="1"/>
            </a:ext>
          </a:extLst>
        </p:spPr>
        <p:txBody>
          <a:bodyPr lIns="38100" tIns="38100" rIns="38100" bIns="38100" anchor="ctr">
            <a:spAutoFit/>
          </a:bodyPr>
          <a:lstStyle/>
          <a:p>
            <a:pPr marL="508000" indent="-508000" algn="l">
              <a:buSzPct val="171000"/>
              <a:buChar char="•"/>
              <a:defRPr sz="3200">
                <a:solidFill>
                  <a:srgbClr val="000004"/>
                </a:solidFill>
                <a:latin typeface="Franklin Gothic Medium"/>
                <a:ea typeface="Franklin Gothic Medium"/>
                <a:cs typeface="Franklin Gothic Medium"/>
                <a:sym typeface="Franklin Gothic Medium"/>
              </a:defRPr>
            </a:pPr>
            <a:r>
              <a:t>American Psychological Association (APA)</a:t>
            </a:r>
          </a:p>
          <a:p>
            <a:pPr marL="508000" indent="-508000" algn="l">
              <a:buSzPct val="171000"/>
              <a:buChar char="•"/>
              <a:defRPr sz="3200">
                <a:solidFill>
                  <a:srgbClr val="000004"/>
                </a:solidFill>
                <a:latin typeface="Franklin Gothic Medium"/>
                <a:ea typeface="Franklin Gothic Medium"/>
                <a:cs typeface="Franklin Gothic Medium"/>
                <a:sym typeface="Franklin Gothic Medium"/>
              </a:defRPr>
            </a:pPr>
            <a:r>
              <a:t>Modern Language Association (MLA)</a:t>
            </a:r>
          </a:p>
          <a:p>
            <a:pPr marL="508000" indent="-508000" algn="l">
              <a:buSzPct val="171000"/>
              <a:buChar char="•"/>
              <a:defRPr sz="3200">
                <a:solidFill>
                  <a:srgbClr val="BA3EB3"/>
                </a:solidFill>
                <a:latin typeface="Franklin Gothic Medium"/>
                <a:ea typeface="Franklin Gothic Medium"/>
                <a:cs typeface="Franklin Gothic Medium"/>
                <a:sym typeface="Franklin Gothic Medium"/>
              </a:defRPr>
            </a:pPr>
            <a:r>
              <a:t>Chicago (Quarto's default if you don't specify a CSL)</a:t>
            </a:r>
          </a:p>
          <a:p>
            <a:pPr marL="508000" indent="-508000" algn="l">
              <a:buSzPct val="171000"/>
              <a:buChar char="•"/>
              <a:defRPr sz="3200">
                <a:solidFill>
                  <a:srgbClr val="000004"/>
                </a:solidFill>
                <a:latin typeface="Franklin Gothic Medium"/>
                <a:ea typeface="Franklin Gothic Medium"/>
                <a:cs typeface="Franklin Gothic Medium"/>
                <a:sym typeface="Franklin Gothic Medium"/>
              </a:defRPr>
            </a:pPr>
            <a:r>
              <a:t>American Statistical Association (AmStat)</a:t>
            </a:r>
          </a:p>
        </p:txBody>
      </p:sp>
      <p:sp>
        <p:nvSpPr>
          <p:cNvPr id="161" name="You can download CSL files from https://www.zotero.org/styles."/>
          <p:cNvSpPr txBox="1"/>
          <p:nvPr/>
        </p:nvSpPr>
        <p:spPr>
          <a:xfrm>
            <a:off x="210285" y="6132678"/>
            <a:ext cx="12141583" cy="533401"/>
          </a:xfrm>
          <a:prstGeom prst="rect">
            <a:avLst/>
          </a:prstGeom>
          <a:ln w="3175">
            <a:miter lim="400000"/>
          </a:ln>
          <a:extLst>
            <a:ext uri="{C572A759-6A51-4108-AA02-DFA0A04FC94B}">
              <ma14:wrappingTextBoxFlag xmlns:ma14="http://schemas.microsoft.com/office/mac/drawingml/2011/main" val="1"/>
            </a:ext>
          </a:extLst>
        </p:spPr>
        <p:txBody>
          <a:bodyPr lIns="38100" tIns="38100" rIns="38100" bIns="38100" anchor="ctr">
            <a:spAutoFit/>
          </a:bodyPr>
          <a:lstStyle/>
          <a:p>
            <a:pPr algn="l">
              <a:defRPr sz="3200">
                <a:solidFill>
                  <a:srgbClr val="000004"/>
                </a:solidFill>
                <a:latin typeface="Franklin Gothic Medium"/>
                <a:ea typeface="Franklin Gothic Medium"/>
                <a:cs typeface="Franklin Gothic Medium"/>
                <a:sym typeface="Franklin Gothic Medium"/>
              </a:defRPr>
            </a:pPr>
            <a:r>
              <a:t>You can download CSL files from </a:t>
            </a:r>
            <a:r>
              <a:rPr u="sng">
                <a:solidFill>
                  <a:srgbClr val="1D2FEB"/>
                </a:solidFill>
                <a:hlinkClick r:id="rId2" invalidUrl="" action="" tgtFrame="" tooltip="" history="1" highlightClick="0" endSnd="0"/>
              </a:rPr>
              <a:t>https://www.zotero.org/styles</a:t>
            </a:r>
            <a:r>
              <a:t>.</a:t>
            </a:r>
          </a:p>
        </p:txBody>
      </p:sp>
      <p:sp>
        <p:nvSpPr>
          <p:cNvPr id="162" name="Make sure that the CSL file is in the same directory as your QMD file and you specify csl: fileName.csl in your YAML header."/>
          <p:cNvSpPr txBox="1"/>
          <p:nvPr/>
        </p:nvSpPr>
        <p:spPr>
          <a:xfrm>
            <a:off x="210285" y="7250518"/>
            <a:ext cx="12141583" cy="990601"/>
          </a:xfrm>
          <a:prstGeom prst="rect">
            <a:avLst/>
          </a:prstGeom>
          <a:ln w="3175">
            <a:miter lim="400000"/>
          </a:ln>
          <a:extLst>
            <a:ext uri="{C572A759-6A51-4108-AA02-DFA0A04FC94B}">
              <ma14:wrappingTextBoxFlag xmlns:ma14="http://schemas.microsoft.com/office/mac/drawingml/2011/main" val="1"/>
            </a:ext>
          </a:extLst>
        </p:spPr>
        <p:txBody>
          <a:bodyPr lIns="38100" tIns="38100" rIns="38100" bIns="38100" anchor="ctr">
            <a:spAutoFit/>
          </a:bodyPr>
          <a:lstStyle/>
          <a:p>
            <a:pPr algn="l">
              <a:defRPr sz="3200">
                <a:solidFill>
                  <a:srgbClr val="000004"/>
                </a:solidFill>
                <a:latin typeface="Franklin Gothic Medium"/>
                <a:ea typeface="Franklin Gothic Medium"/>
                <a:cs typeface="Franklin Gothic Medium"/>
                <a:sym typeface="Franklin Gothic Medium"/>
              </a:defRPr>
            </a:pPr>
            <a:r>
              <a:t>Make sure that the CSL file is in the same directory as your QMD file and you specify </a:t>
            </a:r>
            <a:r>
              <a:rPr sz="2700">
                <a:solidFill>
                  <a:srgbClr val="008900"/>
                </a:solidFill>
                <a:latin typeface="Monaco"/>
                <a:ea typeface="Monaco"/>
                <a:cs typeface="Monaco"/>
                <a:sym typeface="Monaco"/>
              </a:rPr>
              <a:t>csl: fileName.csl</a:t>
            </a:r>
            <a:r>
              <a:t> in your YAML header.</a:t>
            </a:r>
          </a:p>
        </p:txBody>
      </p:sp>
    </p:spTree>
  </p:cSld>
  <p:clrMapOvr>
    <a:masterClrMapping/>
  </p:clrMapOvr>
  <mc:AlternateContent xmlns:mc="http://schemas.openxmlformats.org/markup-compatibility/2006">
    <mc:Choice xmlns:p14="http://schemas.microsoft.com/office/powerpoint/2010/main" Requires="p14">
      <p:transition spd="slow" advClick="1" p14:dur="1500">
        <p:fade/>
      </p:transition>
    </mc:Choice>
    <mc:Fallback>
      <p:transition spd="slow">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ID="10" grpId="1" fill="hold">
                                  <p:stCondLst>
                                    <p:cond delay="0"/>
                                  </p:stCondLst>
                                  <p:iterate type="el" backwards="0">
                                    <p:tmAbs val="0"/>
                                  </p:iterate>
                                  <p:childTnLst>
                                    <p:set>
                                      <p:cBhvr>
                                        <p:cTn id="6" fill="hold"/>
                                        <p:tgtEl>
                                          <p:spTgt spid="159"/>
                                        </p:tgtEl>
                                        <p:attrNameLst>
                                          <p:attrName>style.visibility</p:attrName>
                                        </p:attrNameLst>
                                      </p:cBhvr>
                                      <p:to>
                                        <p:strVal val="visible"/>
                                      </p:to>
                                    </p:set>
                                    <p:animEffect filter="fade" transition="in">
                                      <p:cBhvr>
                                        <p:cTn id="7" dur="1000"/>
                                        <p:tgtEl>
                                          <p:spTgt spid="159"/>
                                        </p:tgtEl>
                                      </p:cBhvr>
                                    </p:animEffect>
                                  </p:childTnLst>
                                </p:cTn>
                              </p:par>
                            </p:childTnLst>
                          </p:cTn>
                        </p:par>
                      </p:childTnLst>
                    </p:cTn>
                  </p:par>
                  <p:par>
                    <p:cTn id="8" fill="hold">
                      <p:stCondLst>
                        <p:cond delay="indefinite"/>
                      </p:stCondLst>
                      <p:childTnLst>
                        <p:par>
                          <p:cTn id="9" fill="hold">
                            <p:stCondLst>
                              <p:cond delay="0"/>
                            </p:stCondLst>
                            <p:childTnLst>
                              <p:par>
                                <p:cTn id="10" presetClass="entr" nodeType="clickEffect" presetID="10" grpId="2" fill="hold">
                                  <p:stCondLst>
                                    <p:cond delay="0"/>
                                  </p:stCondLst>
                                  <p:iterate type="el" backwards="0">
                                    <p:tmAbs val="0"/>
                                  </p:iterate>
                                  <p:childTnLst>
                                    <p:set>
                                      <p:cBhvr>
                                        <p:cTn id="11" fill="hold"/>
                                        <p:tgtEl>
                                          <p:spTgt spid="160"/>
                                        </p:tgtEl>
                                        <p:attrNameLst>
                                          <p:attrName>style.visibility</p:attrName>
                                        </p:attrNameLst>
                                      </p:cBhvr>
                                      <p:to>
                                        <p:strVal val="visible"/>
                                      </p:to>
                                    </p:set>
                                    <p:animEffect filter="fade" transition="in">
                                      <p:cBhvr>
                                        <p:cTn id="12" dur="1000"/>
                                        <p:tgtEl>
                                          <p:spTgt spid="160"/>
                                        </p:tgtEl>
                                      </p:cBhvr>
                                    </p:animEffect>
                                  </p:childTnLst>
                                </p:cTn>
                              </p:par>
                            </p:childTnLst>
                          </p:cTn>
                        </p:par>
                      </p:childTnLst>
                    </p:cTn>
                  </p:par>
                  <p:par>
                    <p:cTn id="13" fill="hold">
                      <p:stCondLst>
                        <p:cond delay="indefinite"/>
                      </p:stCondLst>
                      <p:childTnLst>
                        <p:par>
                          <p:cTn id="14" fill="hold">
                            <p:stCondLst>
                              <p:cond delay="0"/>
                            </p:stCondLst>
                            <p:childTnLst>
                              <p:par>
                                <p:cTn id="15" presetClass="entr" nodeType="clickEffect" presetID="10" grpId="3" fill="hold">
                                  <p:stCondLst>
                                    <p:cond delay="0"/>
                                  </p:stCondLst>
                                  <p:iterate type="el" backwards="0">
                                    <p:tmAbs val="0"/>
                                  </p:iterate>
                                  <p:childTnLst>
                                    <p:set>
                                      <p:cBhvr>
                                        <p:cTn id="16" fill="hold"/>
                                        <p:tgtEl>
                                          <p:spTgt spid="161"/>
                                        </p:tgtEl>
                                        <p:attrNameLst>
                                          <p:attrName>style.visibility</p:attrName>
                                        </p:attrNameLst>
                                      </p:cBhvr>
                                      <p:to>
                                        <p:strVal val="visible"/>
                                      </p:to>
                                    </p:set>
                                    <p:animEffect filter="fade" transition="in">
                                      <p:cBhvr>
                                        <p:cTn id="17" dur="1000"/>
                                        <p:tgtEl>
                                          <p:spTgt spid="161"/>
                                        </p:tgtEl>
                                      </p:cBhvr>
                                    </p:animEffect>
                                  </p:childTnLst>
                                </p:cTn>
                              </p:par>
                            </p:childTnLst>
                          </p:cTn>
                        </p:par>
                      </p:childTnLst>
                    </p:cTn>
                  </p:par>
                  <p:par>
                    <p:cTn id="18" fill="hold">
                      <p:stCondLst>
                        <p:cond delay="indefinite"/>
                      </p:stCondLst>
                      <p:childTnLst>
                        <p:par>
                          <p:cTn id="19" fill="hold">
                            <p:stCondLst>
                              <p:cond delay="0"/>
                            </p:stCondLst>
                            <p:childTnLst>
                              <p:par>
                                <p:cTn id="20" presetClass="entr" nodeType="clickEffect" presetID="10" grpId="4" fill="hold">
                                  <p:stCondLst>
                                    <p:cond delay="0"/>
                                  </p:stCondLst>
                                  <p:iterate type="el" backwards="0">
                                    <p:tmAbs val="0"/>
                                  </p:iterate>
                                  <p:childTnLst>
                                    <p:set>
                                      <p:cBhvr>
                                        <p:cTn id="21" fill="hold"/>
                                        <p:tgtEl>
                                          <p:spTgt spid="162"/>
                                        </p:tgtEl>
                                        <p:attrNameLst>
                                          <p:attrName>style.visibility</p:attrName>
                                        </p:attrNameLst>
                                      </p:cBhvr>
                                      <p:to>
                                        <p:strVal val="visible"/>
                                      </p:to>
                                    </p:set>
                                    <p:animEffect filter="fade" transition="in">
                                      <p:cBhvr>
                                        <p:cTn id="22" dur="1000"/>
                                        <p:tgtEl>
                                          <p:spTgt spid="16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161" grpId="3"/>
      <p:bldP build="whole" bldLvl="1" animBg="1" rev="0" advAuto="0" spid="162" grpId="4"/>
      <p:bldP build="whole" bldLvl="1" animBg="1" rev="0" advAuto="0" spid="159" grpId="1"/>
      <p:bldP build="whole" bldLvl="1" animBg="1" rev="0" advAuto="0" spid="160" grpId="2"/>
    </p:bldLst>
  </p:timing>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64" name="Slide Number"/>
          <p:cNvSpPr txBox="1"/>
          <p:nvPr>
            <p:ph type="sldNum" sz="quarter" idx="2"/>
          </p:nvPr>
        </p:nvSpPr>
        <p:spPr>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165" name="Creating Bibliographic Files"/>
          <p:cNvSpPr txBox="1"/>
          <p:nvPr>
            <p:ph type="title"/>
          </p:nvPr>
        </p:nvSpPr>
        <p:spPr>
          <a:prstGeom prst="rect">
            <a:avLst/>
          </a:prstGeom>
        </p:spPr>
        <p:txBody>
          <a:bodyPr/>
          <a:lstStyle>
            <a:lvl1pPr defTabSz="554990">
              <a:defRPr sz="4370"/>
            </a:lvl1pPr>
          </a:lstStyle>
          <a:p>
            <a:pPr/>
            <a:r>
              <a:t>Creating Bibliographic Files</a:t>
            </a:r>
          </a:p>
        </p:txBody>
      </p:sp>
      <p:sp>
        <p:nvSpPr>
          <p:cNvPr id="166" name="The second thing that you need is a bibliographic file that houses all of your references."/>
          <p:cNvSpPr txBox="1"/>
          <p:nvPr/>
        </p:nvSpPr>
        <p:spPr>
          <a:xfrm>
            <a:off x="227218" y="842433"/>
            <a:ext cx="12550364" cy="990601"/>
          </a:xfrm>
          <a:prstGeom prst="rect">
            <a:avLst/>
          </a:prstGeom>
          <a:ln w="3175">
            <a:miter lim="400000"/>
          </a:ln>
          <a:extLst>
            <a:ext uri="{C572A759-6A51-4108-AA02-DFA0A04FC94B}">
              <ma14:wrappingTextBoxFlag xmlns:ma14="http://schemas.microsoft.com/office/mac/drawingml/2011/main" val="1"/>
            </a:ext>
          </a:extLst>
        </p:spPr>
        <p:txBody>
          <a:bodyPr lIns="38100" tIns="38100" rIns="38100" bIns="38100" anchor="ctr">
            <a:spAutoFit/>
          </a:bodyPr>
          <a:lstStyle>
            <a:lvl1pPr algn="l">
              <a:defRPr sz="3200">
                <a:solidFill>
                  <a:srgbClr val="000004"/>
                </a:solidFill>
                <a:latin typeface="Franklin Gothic Medium"/>
                <a:ea typeface="Franklin Gothic Medium"/>
                <a:cs typeface="Franklin Gothic Medium"/>
                <a:sym typeface="Franklin Gothic Medium"/>
              </a:defRPr>
            </a:lvl1pPr>
          </a:lstStyle>
          <a:p>
            <a:pPr/>
            <a:r>
              <a:t>The second thing that you need is a bibliographic file that houses all of your references. </a:t>
            </a:r>
          </a:p>
        </p:txBody>
      </p:sp>
      <p:sp>
        <p:nvSpPr>
          <p:cNvPr id="167" name="Unless you know what you're doing, a good practice is to use another tool to create this file such as a reference manager (EndNote, Mendeley, Zotero) or an online tool (e.g., Zoterobib)."/>
          <p:cNvSpPr txBox="1"/>
          <p:nvPr/>
        </p:nvSpPr>
        <p:spPr>
          <a:xfrm>
            <a:off x="210285" y="2084621"/>
            <a:ext cx="12584230" cy="1447801"/>
          </a:xfrm>
          <a:prstGeom prst="rect">
            <a:avLst/>
          </a:prstGeom>
          <a:ln w="3175">
            <a:miter lim="400000"/>
          </a:ln>
          <a:extLst>
            <a:ext uri="{C572A759-6A51-4108-AA02-DFA0A04FC94B}">
              <ma14:wrappingTextBoxFlag xmlns:ma14="http://schemas.microsoft.com/office/mac/drawingml/2011/main" val="1"/>
            </a:ext>
          </a:extLst>
        </p:spPr>
        <p:txBody>
          <a:bodyPr lIns="38100" tIns="38100" rIns="38100" bIns="38100" anchor="ctr">
            <a:spAutoFit/>
          </a:bodyPr>
          <a:lstStyle>
            <a:lvl1pPr algn="l">
              <a:defRPr sz="3200">
                <a:solidFill>
                  <a:srgbClr val="000004"/>
                </a:solidFill>
                <a:latin typeface="Franklin Gothic Medium"/>
                <a:ea typeface="Franklin Gothic Medium"/>
                <a:cs typeface="Franklin Gothic Medium"/>
                <a:sym typeface="Franklin Gothic Medium"/>
              </a:defRPr>
            </a:lvl1pPr>
          </a:lstStyle>
          <a:p>
            <a:pPr/>
            <a:r>
              <a:t>Unless you know what you're doing, a good practice is to use another tool to create this file such as a reference manager (EndNote, Mendeley, Zotero) or an online tool (e.g., Zoterobib).</a:t>
            </a:r>
          </a:p>
        </p:txBody>
      </p:sp>
      <p:sp>
        <p:nvSpPr>
          <p:cNvPr id="168" name="Check out https://guides.libraries.psu.edu/zotero as well as…"/>
          <p:cNvSpPr txBox="1"/>
          <p:nvPr/>
        </p:nvSpPr>
        <p:spPr>
          <a:xfrm>
            <a:off x="821075" y="5294478"/>
            <a:ext cx="12141583" cy="990601"/>
          </a:xfrm>
          <a:prstGeom prst="rect">
            <a:avLst/>
          </a:prstGeom>
          <a:ln w="3175">
            <a:miter lim="400000"/>
          </a:ln>
          <a:extLst>
            <a:ext uri="{C572A759-6A51-4108-AA02-DFA0A04FC94B}">
              <ma14:wrappingTextBoxFlag xmlns:ma14="http://schemas.microsoft.com/office/mac/drawingml/2011/main" val="1"/>
            </a:ext>
          </a:extLst>
        </p:spPr>
        <p:txBody>
          <a:bodyPr lIns="38100" tIns="38100" rIns="38100" bIns="38100" anchor="ctr">
            <a:spAutoFit/>
          </a:bodyPr>
          <a:lstStyle/>
          <a:p>
            <a:pPr algn="l">
              <a:defRPr sz="3200">
                <a:solidFill>
                  <a:srgbClr val="000004"/>
                </a:solidFill>
                <a:latin typeface="Franklin Gothic Medium"/>
                <a:ea typeface="Franklin Gothic Medium"/>
                <a:cs typeface="Franklin Gothic Medium"/>
                <a:sym typeface="Franklin Gothic Medium"/>
              </a:defRPr>
            </a:pPr>
            <a:r>
              <a:t>Check out </a:t>
            </a:r>
            <a:r>
              <a:rPr u="sng">
                <a:solidFill>
                  <a:srgbClr val="1D2FEB"/>
                </a:solidFill>
                <a:hlinkClick r:id="rId2" invalidUrl="" action="" tgtFrame="" tooltip="" history="1" highlightClick="0" endSnd="0"/>
              </a:rPr>
              <a:t>https://guides.libraries.psu.edu/zotero</a:t>
            </a:r>
            <a:r>
              <a:t> as well as </a:t>
            </a:r>
          </a:p>
          <a:p>
            <a:pPr algn="l">
              <a:defRPr sz="3200">
                <a:solidFill>
                  <a:srgbClr val="1D2FEB"/>
                </a:solidFill>
                <a:latin typeface="Franklin Gothic Medium"/>
                <a:ea typeface="Franklin Gothic Medium"/>
                <a:cs typeface="Franklin Gothic Medium"/>
                <a:sym typeface="Franklin Gothic Medium"/>
              </a:defRPr>
            </a:pPr>
            <a:r>
              <a:rPr u="sng">
                <a:hlinkClick r:id="rId3" invalidUrl="" action="" tgtFrame="" tooltip="" history="1" highlightClick="0" endSnd="0"/>
              </a:rPr>
              <a:t>https://www.zotero.org/</a:t>
            </a:r>
            <a:r>
              <a:rPr>
                <a:solidFill>
                  <a:srgbClr val="000004"/>
                </a:solidFill>
              </a:rPr>
              <a:t>.</a:t>
            </a:r>
          </a:p>
        </p:txBody>
      </p:sp>
      <p:sp>
        <p:nvSpPr>
          <p:cNvPr id="169" name="We recommend using Zotero as a reference manager as this is a free tool (so is Mendeley) and R Studio Desktop will automatically connect with it."/>
          <p:cNvSpPr txBox="1"/>
          <p:nvPr/>
        </p:nvSpPr>
        <p:spPr>
          <a:xfrm>
            <a:off x="210285" y="3784009"/>
            <a:ext cx="12584230" cy="1447801"/>
          </a:xfrm>
          <a:prstGeom prst="rect">
            <a:avLst/>
          </a:prstGeom>
          <a:ln w="3175">
            <a:miter lim="400000"/>
          </a:ln>
          <a:extLst>
            <a:ext uri="{C572A759-6A51-4108-AA02-DFA0A04FC94B}">
              <ma14:wrappingTextBoxFlag xmlns:ma14="http://schemas.microsoft.com/office/mac/drawingml/2011/main" val="1"/>
            </a:ext>
          </a:extLst>
        </p:spPr>
        <p:txBody>
          <a:bodyPr lIns="38100" tIns="38100" rIns="38100" bIns="38100" anchor="ctr">
            <a:spAutoFit/>
          </a:bodyPr>
          <a:lstStyle>
            <a:lvl1pPr algn="l">
              <a:defRPr sz="3200">
                <a:solidFill>
                  <a:srgbClr val="000004"/>
                </a:solidFill>
                <a:latin typeface="Franklin Gothic Medium"/>
                <a:ea typeface="Franklin Gothic Medium"/>
                <a:cs typeface="Franklin Gothic Medium"/>
                <a:sym typeface="Franklin Gothic Medium"/>
              </a:defRPr>
            </a:lvl1pPr>
          </a:lstStyle>
          <a:p>
            <a:pPr/>
            <a:r>
              <a:t>We recommend using Zotero as a reference manager as this is a free tool (so is Mendeley) and R Studio Desktop will automatically connect with it.</a:t>
            </a:r>
          </a:p>
        </p:txBody>
      </p:sp>
      <p:sp>
        <p:nvSpPr>
          <p:cNvPr id="170" name="A reference manager will help you keep your references organized across your entire career. For a quick project, an online tool such as Zoterobib is sufficient."/>
          <p:cNvSpPr txBox="1"/>
          <p:nvPr/>
        </p:nvSpPr>
        <p:spPr>
          <a:xfrm>
            <a:off x="210285" y="6824616"/>
            <a:ext cx="12584230" cy="1447801"/>
          </a:xfrm>
          <a:prstGeom prst="rect">
            <a:avLst/>
          </a:prstGeom>
          <a:ln w="3175">
            <a:miter lim="400000"/>
          </a:ln>
          <a:extLst>
            <a:ext uri="{C572A759-6A51-4108-AA02-DFA0A04FC94B}">
              <ma14:wrappingTextBoxFlag xmlns:ma14="http://schemas.microsoft.com/office/mac/drawingml/2011/main" val="1"/>
            </a:ext>
          </a:extLst>
        </p:spPr>
        <p:txBody>
          <a:bodyPr lIns="38100" tIns="38100" rIns="38100" bIns="38100" anchor="ctr">
            <a:spAutoFit/>
          </a:bodyPr>
          <a:lstStyle/>
          <a:p>
            <a:pPr algn="l">
              <a:defRPr sz="3200">
                <a:solidFill>
                  <a:srgbClr val="000004"/>
                </a:solidFill>
                <a:latin typeface="Franklin Gothic Medium"/>
                <a:ea typeface="Franklin Gothic Medium"/>
                <a:cs typeface="Franklin Gothic Medium"/>
                <a:sym typeface="Franklin Gothic Medium"/>
              </a:defRPr>
            </a:pPr>
            <a:r>
              <a:t>A reference manager will help you keep your references organized across your entire career. For a quick project, an online tool such as </a:t>
            </a:r>
            <a:r>
              <a:rPr u="sng">
                <a:solidFill>
                  <a:srgbClr val="1D2FEB"/>
                </a:solidFill>
                <a:hlinkClick r:id="rId4" invalidUrl="" action="" tgtFrame="" tooltip="" history="1" highlightClick="0" endSnd="0"/>
              </a:rPr>
              <a:t>Zoterobib</a:t>
            </a:r>
            <a:r>
              <a:t> is sufficient.</a:t>
            </a:r>
          </a:p>
        </p:txBody>
      </p:sp>
    </p:spTree>
  </p:cSld>
  <p:clrMapOvr>
    <a:masterClrMapping/>
  </p:clrMapOvr>
  <mc:AlternateContent xmlns:mc="http://schemas.openxmlformats.org/markup-compatibility/2006">
    <mc:Choice xmlns:p14="http://schemas.microsoft.com/office/powerpoint/2010/main" Requires="p14">
      <p:transition spd="slow" advClick="1" p14:dur="1500">
        <p:fade/>
      </p:transition>
    </mc:Choice>
    <mc:Fallback>
      <p:transition spd="slow">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ID="10" grpId="1" fill="hold">
                                  <p:stCondLst>
                                    <p:cond delay="0"/>
                                  </p:stCondLst>
                                  <p:iterate type="el" backwards="0">
                                    <p:tmAbs val="0"/>
                                  </p:iterate>
                                  <p:childTnLst>
                                    <p:set>
                                      <p:cBhvr>
                                        <p:cTn id="6" fill="hold"/>
                                        <p:tgtEl>
                                          <p:spTgt spid="167"/>
                                        </p:tgtEl>
                                        <p:attrNameLst>
                                          <p:attrName>style.visibility</p:attrName>
                                        </p:attrNameLst>
                                      </p:cBhvr>
                                      <p:to>
                                        <p:strVal val="visible"/>
                                      </p:to>
                                    </p:set>
                                    <p:animEffect filter="fade" transition="in">
                                      <p:cBhvr>
                                        <p:cTn id="7" dur="1000"/>
                                        <p:tgtEl>
                                          <p:spTgt spid="167"/>
                                        </p:tgtEl>
                                      </p:cBhvr>
                                    </p:animEffect>
                                  </p:childTnLst>
                                </p:cTn>
                              </p:par>
                            </p:childTnLst>
                          </p:cTn>
                        </p:par>
                      </p:childTnLst>
                    </p:cTn>
                  </p:par>
                  <p:par>
                    <p:cTn id="8" fill="hold">
                      <p:stCondLst>
                        <p:cond delay="indefinite"/>
                      </p:stCondLst>
                      <p:childTnLst>
                        <p:par>
                          <p:cTn id="9" fill="hold">
                            <p:stCondLst>
                              <p:cond delay="0"/>
                            </p:stCondLst>
                            <p:childTnLst>
                              <p:par>
                                <p:cTn id="10" presetClass="entr" nodeType="clickEffect" presetID="10" grpId="2" fill="hold">
                                  <p:stCondLst>
                                    <p:cond delay="0"/>
                                  </p:stCondLst>
                                  <p:iterate type="el" backwards="0">
                                    <p:tmAbs val="0"/>
                                  </p:iterate>
                                  <p:childTnLst>
                                    <p:set>
                                      <p:cBhvr>
                                        <p:cTn id="11" fill="hold"/>
                                        <p:tgtEl>
                                          <p:spTgt spid="168"/>
                                        </p:tgtEl>
                                        <p:attrNameLst>
                                          <p:attrName>style.visibility</p:attrName>
                                        </p:attrNameLst>
                                      </p:cBhvr>
                                      <p:to>
                                        <p:strVal val="visible"/>
                                      </p:to>
                                    </p:set>
                                    <p:animEffect filter="fade" transition="in">
                                      <p:cBhvr>
                                        <p:cTn id="12" dur="1000"/>
                                        <p:tgtEl>
                                          <p:spTgt spid="168"/>
                                        </p:tgtEl>
                                      </p:cBhvr>
                                    </p:animEffect>
                                  </p:childTnLst>
                                </p:cTn>
                              </p:par>
                            </p:childTnLst>
                          </p:cTn>
                        </p:par>
                      </p:childTnLst>
                    </p:cTn>
                  </p:par>
                  <p:par>
                    <p:cTn id="13" fill="hold">
                      <p:stCondLst>
                        <p:cond delay="indefinite"/>
                      </p:stCondLst>
                      <p:childTnLst>
                        <p:par>
                          <p:cTn id="14" fill="hold">
                            <p:stCondLst>
                              <p:cond delay="0"/>
                            </p:stCondLst>
                            <p:childTnLst>
                              <p:par>
                                <p:cTn id="15" presetClass="entr" nodeType="clickEffect" presetID="10" grpId="3" fill="hold">
                                  <p:stCondLst>
                                    <p:cond delay="0"/>
                                  </p:stCondLst>
                                  <p:iterate type="el" backwards="0">
                                    <p:tmAbs val="0"/>
                                  </p:iterate>
                                  <p:childTnLst>
                                    <p:set>
                                      <p:cBhvr>
                                        <p:cTn id="16" fill="hold"/>
                                        <p:tgtEl>
                                          <p:spTgt spid="169"/>
                                        </p:tgtEl>
                                        <p:attrNameLst>
                                          <p:attrName>style.visibility</p:attrName>
                                        </p:attrNameLst>
                                      </p:cBhvr>
                                      <p:to>
                                        <p:strVal val="visible"/>
                                      </p:to>
                                    </p:set>
                                    <p:animEffect filter="fade" transition="in">
                                      <p:cBhvr>
                                        <p:cTn id="17" dur="1000"/>
                                        <p:tgtEl>
                                          <p:spTgt spid="169"/>
                                        </p:tgtEl>
                                      </p:cBhvr>
                                    </p:animEffect>
                                  </p:childTnLst>
                                </p:cTn>
                              </p:par>
                            </p:childTnLst>
                          </p:cTn>
                        </p:par>
                      </p:childTnLst>
                    </p:cTn>
                  </p:par>
                  <p:par>
                    <p:cTn id="18" fill="hold">
                      <p:stCondLst>
                        <p:cond delay="indefinite"/>
                      </p:stCondLst>
                      <p:childTnLst>
                        <p:par>
                          <p:cTn id="19" fill="hold">
                            <p:stCondLst>
                              <p:cond delay="0"/>
                            </p:stCondLst>
                            <p:childTnLst>
                              <p:par>
                                <p:cTn id="20" presetClass="entr" nodeType="clickEffect" presetID="10" grpId="4" fill="hold">
                                  <p:stCondLst>
                                    <p:cond delay="0"/>
                                  </p:stCondLst>
                                  <p:iterate type="el" backwards="0">
                                    <p:tmAbs val="0"/>
                                  </p:iterate>
                                  <p:childTnLst>
                                    <p:set>
                                      <p:cBhvr>
                                        <p:cTn id="21" fill="hold"/>
                                        <p:tgtEl>
                                          <p:spTgt spid="170"/>
                                        </p:tgtEl>
                                        <p:attrNameLst>
                                          <p:attrName>style.visibility</p:attrName>
                                        </p:attrNameLst>
                                      </p:cBhvr>
                                      <p:to>
                                        <p:strVal val="visible"/>
                                      </p:to>
                                    </p:set>
                                    <p:animEffect filter="fade" transition="in">
                                      <p:cBhvr>
                                        <p:cTn id="22" dur="1000"/>
                                        <p:tgtEl>
                                          <p:spTgt spid="17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168" grpId="2"/>
      <p:bldP build="whole" bldLvl="1" animBg="1" rev="0" advAuto="0" spid="167" grpId="1"/>
      <p:bldP build="whole" bldLvl="1" animBg="1" rev="0" advAuto="0" spid="169" grpId="3"/>
      <p:bldP build="whole" bldLvl="1" animBg="1" rev="0" advAuto="0" spid="170" grpId="4"/>
    </p:bldLst>
  </p:timing>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2" name="Slide Number"/>
          <p:cNvSpPr txBox="1"/>
          <p:nvPr>
            <p:ph type="sldNum" sz="quarter" idx="2"/>
          </p:nvPr>
        </p:nvSpPr>
        <p:spPr>
          <a:xfrm>
            <a:off x="6345870" y="9369954"/>
            <a:ext cx="313060" cy="256506"/>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173" name="Using Zoterobib"/>
          <p:cNvSpPr txBox="1"/>
          <p:nvPr>
            <p:ph type="title"/>
          </p:nvPr>
        </p:nvSpPr>
        <p:spPr>
          <a:prstGeom prst="rect">
            <a:avLst/>
          </a:prstGeom>
        </p:spPr>
        <p:txBody>
          <a:bodyPr/>
          <a:lstStyle/>
          <a:p>
            <a:pPr/>
            <a:r>
              <a:t>Using Zoterobib</a:t>
            </a:r>
          </a:p>
        </p:txBody>
      </p:sp>
      <p:sp>
        <p:nvSpPr>
          <p:cNvPr id="174" name="Let's go to Zoterobib: https://zbib.org/"/>
          <p:cNvSpPr txBox="1"/>
          <p:nvPr/>
        </p:nvSpPr>
        <p:spPr>
          <a:xfrm>
            <a:off x="162024" y="1206500"/>
            <a:ext cx="12550364" cy="533401"/>
          </a:xfrm>
          <a:prstGeom prst="rect">
            <a:avLst/>
          </a:prstGeom>
          <a:ln w="3175">
            <a:miter lim="400000"/>
          </a:ln>
          <a:extLst>
            <a:ext uri="{C572A759-6A51-4108-AA02-DFA0A04FC94B}">
              <ma14:wrappingTextBoxFlag xmlns:ma14="http://schemas.microsoft.com/office/mac/drawingml/2011/main" val="1"/>
            </a:ext>
          </a:extLst>
        </p:spPr>
        <p:txBody>
          <a:bodyPr lIns="38100" tIns="38100" rIns="38100" bIns="38100" anchor="ctr">
            <a:spAutoFit/>
          </a:bodyPr>
          <a:lstStyle/>
          <a:p>
            <a:pPr algn="l">
              <a:defRPr sz="3200">
                <a:solidFill>
                  <a:srgbClr val="000004"/>
                </a:solidFill>
                <a:latin typeface="Franklin Gothic Medium"/>
                <a:ea typeface="Franklin Gothic Medium"/>
                <a:cs typeface="Franklin Gothic Medium"/>
                <a:sym typeface="Franklin Gothic Medium"/>
              </a:defRPr>
            </a:pPr>
            <a:r>
              <a:t>Let's go to Zoterobib: </a:t>
            </a:r>
            <a:r>
              <a:rPr u="sng">
                <a:solidFill>
                  <a:srgbClr val="1D2FEB"/>
                </a:solidFill>
                <a:hlinkClick r:id="rId2" invalidUrl="" action="" tgtFrame="" tooltip="" history="1" highlightClick="0" endSnd="0"/>
              </a:rPr>
              <a:t>https://zbib.org/</a:t>
            </a:r>
          </a:p>
        </p:txBody>
      </p:sp>
      <p:sp>
        <p:nvSpPr>
          <p:cNvPr id="175" name="We are going to create a set of references at this webpage:…"/>
          <p:cNvSpPr txBox="1"/>
          <p:nvPr/>
        </p:nvSpPr>
        <p:spPr>
          <a:xfrm>
            <a:off x="227218" y="1968499"/>
            <a:ext cx="12550364" cy="3733801"/>
          </a:xfrm>
          <a:prstGeom prst="rect">
            <a:avLst/>
          </a:prstGeom>
          <a:ln w="3175">
            <a:miter lim="400000"/>
          </a:ln>
          <a:extLst>
            <a:ext uri="{C572A759-6A51-4108-AA02-DFA0A04FC94B}">
              <ma14:wrappingTextBoxFlag xmlns:ma14="http://schemas.microsoft.com/office/mac/drawingml/2011/main" val="1"/>
            </a:ext>
          </a:extLst>
        </p:spPr>
        <p:txBody>
          <a:bodyPr lIns="38100" tIns="38100" rIns="38100" bIns="38100" anchor="ctr">
            <a:spAutoFit/>
          </a:bodyPr>
          <a:lstStyle/>
          <a:p>
            <a:pPr algn="l">
              <a:defRPr sz="3200">
                <a:solidFill>
                  <a:srgbClr val="000004"/>
                </a:solidFill>
                <a:latin typeface="Franklin Gothic Medium"/>
                <a:ea typeface="Franklin Gothic Medium"/>
                <a:cs typeface="Franklin Gothic Medium"/>
                <a:sym typeface="Franklin Gothic Medium"/>
              </a:defRPr>
            </a:pPr>
            <a:r>
              <a:t>We are going to create a set of references at this webpage:</a:t>
            </a:r>
          </a:p>
          <a:p>
            <a:pPr marL="508000" indent="-508000" algn="l">
              <a:buSzPct val="171000"/>
              <a:buChar char="•"/>
              <a:defRPr sz="3200">
                <a:solidFill>
                  <a:srgbClr val="000004"/>
                </a:solidFill>
                <a:latin typeface="Franklin Gothic Medium"/>
                <a:ea typeface="Franklin Gothic Medium"/>
                <a:cs typeface="Franklin Gothic Medium"/>
                <a:sym typeface="Franklin Gothic Medium"/>
              </a:defRPr>
            </a:pPr>
            <a:r>
              <a:t>The Quarto Crash Course e-book</a:t>
            </a:r>
          </a:p>
          <a:p>
            <a:pPr lvl="1" marL="1465384" indent="-703384" algn="l">
              <a:buSzPct val="171000"/>
              <a:buChar char="•"/>
              <a:defRPr sz="3200">
                <a:solidFill>
                  <a:srgbClr val="000004"/>
                </a:solidFill>
                <a:latin typeface="Franklin Gothic Medium"/>
                <a:ea typeface="Franklin Gothic Medium"/>
                <a:cs typeface="Franklin Gothic Medium"/>
                <a:sym typeface="Franklin Gothic Medium"/>
              </a:defRPr>
            </a:pPr>
            <a:r>
              <a:rPr u="sng">
                <a:hlinkClick r:id="rId3" invalidUrl="" action="" tgtFrame="" tooltip="" history="1" highlightClick="0" endSnd="0"/>
              </a:rPr>
              <a:t>https://neilhatfield.github.io/STAT184/quarto_crash_course</a:t>
            </a:r>
          </a:p>
          <a:p>
            <a:pPr marL="508000" indent="-508000" algn="l">
              <a:buSzPct val="171000"/>
              <a:buChar char="•"/>
              <a:defRPr sz="3200">
                <a:solidFill>
                  <a:srgbClr val="000004"/>
                </a:solidFill>
                <a:latin typeface="Franklin Gothic Medium"/>
                <a:ea typeface="Franklin Gothic Medium"/>
                <a:cs typeface="Franklin Gothic Medium"/>
                <a:sym typeface="Franklin Gothic Medium"/>
              </a:defRPr>
            </a:pPr>
            <a:r>
              <a:t>Kaplan and Beckman Data Computing e-book</a:t>
            </a:r>
          </a:p>
          <a:p>
            <a:pPr lvl="1" marL="1465384" indent="-703384" algn="l">
              <a:buSzPct val="171000"/>
              <a:buChar char="•"/>
              <a:defRPr sz="3200">
                <a:solidFill>
                  <a:srgbClr val="000004"/>
                </a:solidFill>
                <a:latin typeface="Franklin Gothic Medium"/>
                <a:ea typeface="Franklin Gothic Medium"/>
                <a:cs typeface="Franklin Gothic Medium"/>
                <a:sym typeface="Franklin Gothic Medium"/>
              </a:defRPr>
            </a:pPr>
            <a:r>
              <a:rPr u="sng">
                <a:hlinkClick r:id="rId4" invalidUrl="" action="" tgtFrame="" tooltip="" history="1" highlightClick="0" endSnd="0"/>
              </a:rPr>
              <a:t>https://dtkaplan.github.io/DataComputingEbook/</a:t>
            </a:r>
          </a:p>
          <a:p>
            <a:pPr lvl="1" marL="1465384" indent="-703384" algn="l">
              <a:buSzPct val="171000"/>
              <a:buChar char="•"/>
              <a:defRPr sz="3200">
                <a:solidFill>
                  <a:srgbClr val="000004"/>
                </a:solidFill>
                <a:latin typeface="Franklin Gothic Medium"/>
                <a:ea typeface="Franklin Gothic Medium"/>
                <a:cs typeface="Franklin Gothic Medium"/>
                <a:sym typeface="Franklin Gothic Medium"/>
              </a:defRPr>
            </a:pPr>
            <a:r>
              <a:t>Needs fixing</a:t>
            </a:r>
          </a:p>
          <a:p>
            <a:pPr marL="508000" indent="-508000" algn="l">
              <a:buSzPct val="171000"/>
              <a:buChar char="•"/>
              <a:defRPr sz="3200">
                <a:solidFill>
                  <a:srgbClr val="000004"/>
                </a:solidFill>
                <a:latin typeface="Franklin Gothic Medium"/>
                <a:ea typeface="Franklin Gothic Medium"/>
                <a:cs typeface="Franklin Gothic Medium"/>
                <a:sym typeface="Franklin Gothic Medium"/>
              </a:defRPr>
            </a:pPr>
            <a:r>
              <a:t>The Diamonds Data Set</a:t>
            </a:r>
          </a:p>
          <a:p>
            <a:pPr lvl="1" marL="1465384" indent="-703384" algn="l">
              <a:buSzPct val="171000"/>
              <a:buChar char="•"/>
              <a:defRPr sz="3200">
                <a:solidFill>
                  <a:srgbClr val="000004"/>
                </a:solidFill>
                <a:latin typeface="Franklin Gothic Medium"/>
                <a:ea typeface="Franklin Gothic Medium"/>
                <a:cs typeface="Franklin Gothic Medium"/>
                <a:sym typeface="Franklin Gothic Medium"/>
              </a:defRPr>
            </a:pPr>
            <a:r>
              <a:t>DOI: 10.5281/zenodo.3522105</a:t>
            </a:r>
          </a:p>
        </p:txBody>
      </p:sp>
      <p:sp>
        <p:nvSpPr>
          <p:cNvPr id="176" name="When you have all three, let's download the BibTeX file by clicking the downward pointing arrow next to Copy to Clipboard."/>
          <p:cNvSpPr txBox="1"/>
          <p:nvPr/>
        </p:nvSpPr>
        <p:spPr>
          <a:xfrm>
            <a:off x="311836" y="6244166"/>
            <a:ext cx="12250739" cy="990601"/>
          </a:xfrm>
          <a:prstGeom prst="rect">
            <a:avLst/>
          </a:prstGeom>
          <a:ln w="3175">
            <a:miter lim="400000"/>
          </a:ln>
          <a:extLst>
            <a:ext uri="{C572A759-6A51-4108-AA02-DFA0A04FC94B}">
              <ma14:wrappingTextBoxFlag xmlns:ma14="http://schemas.microsoft.com/office/mac/drawingml/2011/main" val="1"/>
            </a:ext>
          </a:extLst>
        </p:spPr>
        <p:txBody>
          <a:bodyPr wrap="none" lIns="38100" tIns="38100" rIns="38100" bIns="38100" anchor="ctr">
            <a:spAutoFit/>
          </a:bodyPr>
          <a:lstStyle>
            <a:lvl1pPr algn="l">
              <a:defRPr sz="3200">
                <a:solidFill>
                  <a:srgbClr val="000004"/>
                </a:solidFill>
                <a:latin typeface="Franklin Gothic Medium"/>
                <a:ea typeface="Franklin Gothic Medium"/>
                <a:cs typeface="Franklin Gothic Medium"/>
                <a:sym typeface="Franklin Gothic Medium"/>
              </a:defRPr>
            </a:lvl1pPr>
          </a:lstStyle>
          <a:p>
            <a:pPr/>
            <a:r>
              <a:t>When you have all three, let's download the BibTeX file by clicking the downward pointing arrow next to Copy to Clipboard.</a:t>
            </a:r>
          </a:p>
        </p:txBody>
      </p:sp>
      <p:sp>
        <p:nvSpPr>
          <p:cNvPr id="177" name="Save the file in the same directory as your QMD file."/>
          <p:cNvSpPr txBox="1"/>
          <p:nvPr/>
        </p:nvSpPr>
        <p:spPr>
          <a:xfrm>
            <a:off x="311836" y="7776633"/>
            <a:ext cx="9052125" cy="533401"/>
          </a:xfrm>
          <a:prstGeom prst="rect">
            <a:avLst/>
          </a:prstGeom>
          <a:ln w="3175">
            <a:miter lim="400000"/>
          </a:ln>
          <a:extLst>
            <a:ext uri="{C572A759-6A51-4108-AA02-DFA0A04FC94B}">
              <ma14:wrappingTextBoxFlag xmlns:ma14="http://schemas.microsoft.com/office/mac/drawingml/2011/main" val="1"/>
            </a:ext>
          </a:extLst>
        </p:spPr>
        <p:txBody>
          <a:bodyPr wrap="none" lIns="38100" tIns="38100" rIns="38100" bIns="38100" anchor="ctr">
            <a:spAutoFit/>
          </a:bodyPr>
          <a:lstStyle>
            <a:lvl1pPr algn="l">
              <a:defRPr sz="3200">
                <a:solidFill>
                  <a:srgbClr val="000004"/>
                </a:solidFill>
                <a:latin typeface="Franklin Gothic Medium"/>
                <a:ea typeface="Franklin Gothic Medium"/>
                <a:cs typeface="Franklin Gothic Medium"/>
                <a:sym typeface="Franklin Gothic Medium"/>
              </a:defRPr>
            </a:lvl1pPr>
          </a:lstStyle>
          <a:p>
            <a:pPr/>
            <a:r>
              <a:t>Save the file in the same directory as your QMD file.</a:t>
            </a:r>
          </a:p>
        </p:txBody>
      </p:sp>
    </p:spTree>
  </p:cSld>
  <p:clrMapOvr>
    <a:masterClrMapping/>
  </p:clrMapOvr>
  <mc:AlternateContent xmlns:mc="http://schemas.openxmlformats.org/markup-compatibility/2006">
    <mc:Choice xmlns:p14="http://schemas.microsoft.com/office/powerpoint/2010/main" Requires="p14">
      <p:transition spd="slow" advClick="1" p14:dur="1500">
        <p:fade/>
      </p:transition>
    </mc:Choice>
    <mc:Fallback>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9" name="Slide Number"/>
          <p:cNvSpPr txBox="1"/>
          <p:nvPr>
            <p:ph type="sldNum" sz="quarter" idx="2"/>
          </p:nvPr>
        </p:nvSpPr>
        <p:spPr>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180" name="Inserting Citations"/>
          <p:cNvSpPr txBox="1"/>
          <p:nvPr>
            <p:ph type="title"/>
          </p:nvPr>
        </p:nvSpPr>
        <p:spPr>
          <a:prstGeom prst="rect">
            <a:avLst/>
          </a:prstGeom>
        </p:spPr>
        <p:txBody>
          <a:bodyPr/>
          <a:lstStyle/>
          <a:p>
            <a:pPr/>
            <a:r>
              <a:t>Inserting Citations</a:t>
            </a:r>
          </a:p>
        </p:txBody>
      </p:sp>
      <p:sp>
        <p:nvSpPr>
          <p:cNvPr id="181" name="First, we need to add our bibliographic file to our YAML header."/>
          <p:cNvSpPr txBox="1"/>
          <p:nvPr/>
        </p:nvSpPr>
        <p:spPr>
          <a:xfrm>
            <a:off x="162024" y="1003300"/>
            <a:ext cx="12550364" cy="533401"/>
          </a:xfrm>
          <a:prstGeom prst="rect">
            <a:avLst/>
          </a:prstGeom>
          <a:ln w="3175">
            <a:miter lim="400000"/>
          </a:ln>
          <a:extLst>
            <a:ext uri="{C572A759-6A51-4108-AA02-DFA0A04FC94B}">
              <ma14:wrappingTextBoxFlag xmlns:ma14="http://schemas.microsoft.com/office/mac/drawingml/2011/main" val="1"/>
            </a:ext>
          </a:extLst>
        </p:spPr>
        <p:txBody>
          <a:bodyPr lIns="38100" tIns="38100" rIns="38100" bIns="38100" anchor="ctr">
            <a:spAutoFit/>
          </a:bodyPr>
          <a:lstStyle>
            <a:lvl1pPr algn="l">
              <a:defRPr sz="3200">
                <a:solidFill>
                  <a:srgbClr val="000004"/>
                </a:solidFill>
                <a:latin typeface="Franklin Gothic Medium"/>
                <a:ea typeface="Franklin Gothic Medium"/>
                <a:cs typeface="Franklin Gothic Medium"/>
                <a:sym typeface="Franklin Gothic Medium"/>
              </a:defRPr>
            </a:lvl1pPr>
          </a:lstStyle>
          <a:p>
            <a:pPr/>
            <a:r>
              <a:t>First, we need to add our bibliographic file to our YAML header.</a:t>
            </a:r>
          </a:p>
        </p:txBody>
      </p:sp>
      <p:sp>
        <p:nvSpPr>
          <p:cNvPr id="182" name="bibliography: fileName.bib"/>
          <p:cNvSpPr txBox="1"/>
          <p:nvPr/>
        </p:nvSpPr>
        <p:spPr>
          <a:xfrm>
            <a:off x="162024" y="1649941"/>
            <a:ext cx="12550364" cy="504771"/>
          </a:xfrm>
          <a:prstGeom prst="rect">
            <a:avLst/>
          </a:prstGeom>
          <a:ln w="3175">
            <a:miter lim="400000"/>
          </a:ln>
          <a:extLst>
            <a:ext uri="{C572A759-6A51-4108-AA02-DFA0A04FC94B}">
              <ma14:wrappingTextBoxFlag xmlns:ma14="http://schemas.microsoft.com/office/mac/drawingml/2011/main" val="1"/>
            </a:ext>
          </a:extLst>
        </p:spPr>
        <p:txBody>
          <a:bodyPr lIns="38100" tIns="38100" rIns="38100" bIns="38100" anchor="ctr">
            <a:spAutoFit/>
          </a:bodyPr>
          <a:lstStyle>
            <a:lvl1pPr algn="l">
              <a:defRPr sz="2700">
                <a:solidFill>
                  <a:srgbClr val="000004"/>
                </a:solidFill>
                <a:latin typeface="Monaco"/>
                <a:ea typeface="Monaco"/>
                <a:cs typeface="Monaco"/>
                <a:sym typeface="Monaco"/>
              </a:defRPr>
            </a:lvl1pPr>
          </a:lstStyle>
          <a:p>
            <a:pPr/>
            <a:r>
              <a:t>bibliography: fileName.bib</a:t>
            </a:r>
          </a:p>
        </p:txBody>
      </p:sp>
      <p:sp>
        <p:nvSpPr>
          <p:cNvPr id="183" name="Second, we need to identify a place to add a citation. For us, let's add a bit of narrative text before the histogram of diamond prices."/>
          <p:cNvSpPr txBox="1"/>
          <p:nvPr/>
        </p:nvSpPr>
        <p:spPr>
          <a:xfrm>
            <a:off x="227218" y="2696633"/>
            <a:ext cx="12550364" cy="990601"/>
          </a:xfrm>
          <a:prstGeom prst="rect">
            <a:avLst/>
          </a:prstGeom>
          <a:ln w="3175">
            <a:miter lim="400000"/>
          </a:ln>
          <a:extLst>
            <a:ext uri="{C572A759-6A51-4108-AA02-DFA0A04FC94B}">
              <ma14:wrappingTextBoxFlag xmlns:ma14="http://schemas.microsoft.com/office/mac/drawingml/2011/main" val="1"/>
            </a:ext>
          </a:extLst>
        </p:spPr>
        <p:txBody>
          <a:bodyPr lIns="38100" tIns="38100" rIns="38100" bIns="38100" anchor="ctr">
            <a:spAutoFit/>
          </a:bodyPr>
          <a:lstStyle>
            <a:lvl1pPr algn="l">
              <a:defRPr sz="3200">
                <a:solidFill>
                  <a:srgbClr val="000004"/>
                </a:solidFill>
                <a:latin typeface="Franklin Gothic Medium"/>
                <a:ea typeface="Franklin Gothic Medium"/>
                <a:cs typeface="Franklin Gothic Medium"/>
                <a:sym typeface="Franklin Gothic Medium"/>
              </a:defRPr>
            </a:lvl1pPr>
          </a:lstStyle>
          <a:p>
            <a:pPr/>
            <a:r>
              <a:t>Second, we need to identify a place to add a citation. For us, let's add a bit of narrative text before the histogram of diamond prices.</a:t>
            </a:r>
          </a:p>
        </p:txBody>
      </p:sp>
      <p:sp>
        <p:nvSpPr>
          <p:cNvPr id="184" name="Then we are going to use RStudio Desktop's built-in tools from the Visual Mode to help us."/>
          <p:cNvSpPr txBox="1"/>
          <p:nvPr/>
        </p:nvSpPr>
        <p:spPr>
          <a:xfrm>
            <a:off x="227218" y="4101706"/>
            <a:ext cx="12550364" cy="990601"/>
          </a:xfrm>
          <a:prstGeom prst="rect">
            <a:avLst/>
          </a:prstGeom>
          <a:ln w="3175">
            <a:miter lim="400000"/>
          </a:ln>
          <a:extLst>
            <a:ext uri="{C572A759-6A51-4108-AA02-DFA0A04FC94B}">
              <ma14:wrappingTextBoxFlag xmlns:ma14="http://schemas.microsoft.com/office/mac/drawingml/2011/main" val="1"/>
            </a:ext>
          </a:extLst>
        </p:spPr>
        <p:txBody>
          <a:bodyPr lIns="38100" tIns="38100" rIns="38100" bIns="38100" anchor="ctr">
            <a:spAutoFit/>
          </a:bodyPr>
          <a:lstStyle/>
          <a:p>
            <a:pPr algn="l">
              <a:defRPr sz="3200">
                <a:solidFill>
                  <a:srgbClr val="000004"/>
                </a:solidFill>
                <a:latin typeface="Franklin Gothic Medium"/>
                <a:ea typeface="Franklin Gothic Medium"/>
                <a:cs typeface="Franklin Gothic Medium"/>
                <a:sym typeface="Franklin Gothic Medium"/>
              </a:defRPr>
            </a:pPr>
            <a:r>
              <a:t>Then we are going to use RStudio Desktop's built-in tools from the </a:t>
            </a:r>
            <a:r>
              <a:rPr i="1"/>
              <a:t>Visual Mode</a:t>
            </a:r>
            <a:r>
              <a:t> to help us.</a:t>
            </a:r>
          </a:p>
        </p:txBody>
      </p:sp>
      <p:sp>
        <p:nvSpPr>
          <p:cNvPr id="185" name="Let's add a citation for the diamonds data and for our use of the {ggplot2} package."/>
          <p:cNvSpPr txBox="1"/>
          <p:nvPr/>
        </p:nvSpPr>
        <p:spPr>
          <a:xfrm>
            <a:off x="227218" y="5506779"/>
            <a:ext cx="12550364" cy="990601"/>
          </a:xfrm>
          <a:prstGeom prst="rect">
            <a:avLst/>
          </a:prstGeom>
          <a:ln w="3175">
            <a:miter lim="400000"/>
          </a:ln>
          <a:extLst>
            <a:ext uri="{C572A759-6A51-4108-AA02-DFA0A04FC94B}">
              <ma14:wrappingTextBoxFlag xmlns:ma14="http://schemas.microsoft.com/office/mac/drawingml/2011/main" val="1"/>
            </a:ext>
          </a:extLst>
        </p:spPr>
        <p:txBody>
          <a:bodyPr lIns="38100" tIns="38100" rIns="38100" bIns="38100" anchor="ctr">
            <a:spAutoFit/>
          </a:bodyPr>
          <a:lstStyle/>
          <a:p>
            <a:pPr algn="l">
              <a:defRPr sz="3200">
                <a:solidFill>
                  <a:srgbClr val="000004"/>
                </a:solidFill>
                <a:latin typeface="Franklin Gothic Medium"/>
                <a:ea typeface="Franklin Gothic Medium"/>
                <a:cs typeface="Franklin Gothic Medium"/>
                <a:sym typeface="Franklin Gothic Medium"/>
              </a:defRPr>
            </a:pPr>
            <a:r>
              <a:t>Let's add a citation for the diamonds data and for our use of the </a:t>
            </a:r>
            <a:r>
              <a:rPr sz="2700">
                <a:latin typeface="Monaco"/>
                <a:ea typeface="Monaco"/>
                <a:cs typeface="Monaco"/>
                <a:sym typeface="Monaco"/>
              </a:rPr>
              <a:t>{ggplot2}</a:t>
            </a:r>
            <a:r>
              <a:t> package.</a:t>
            </a:r>
          </a:p>
        </p:txBody>
      </p:sp>
      <p:sp>
        <p:nvSpPr>
          <p:cNvPr id="186" name="We can update the BibTeX file by manually copy/pasting new entries from another file as well as letting RStudio Desktop update the file for us."/>
          <p:cNvSpPr txBox="1"/>
          <p:nvPr/>
        </p:nvSpPr>
        <p:spPr>
          <a:xfrm>
            <a:off x="162024" y="7209766"/>
            <a:ext cx="12550364" cy="1447801"/>
          </a:xfrm>
          <a:prstGeom prst="rect">
            <a:avLst/>
          </a:prstGeom>
          <a:ln w="3175">
            <a:miter lim="400000"/>
          </a:ln>
          <a:extLst>
            <a:ext uri="{C572A759-6A51-4108-AA02-DFA0A04FC94B}">
              <ma14:wrappingTextBoxFlag xmlns:ma14="http://schemas.microsoft.com/office/mac/drawingml/2011/main" val="1"/>
            </a:ext>
          </a:extLst>
        </p:spPr>
        <p:txBody>
          <a:bodyPr lIns="38100" tIns="38100" rIns="38100" bIns="38100" anchor="ctr">
            <a:spAutoFit/>
          </a:bodyPr>
          <a:lstStyle>
            <a:lvl1pPr algn="l">
              <a:defRPr sz="3200">
                <a:solidFill>
                  <a:srgbClr val="000004"/>
                </a:solidFill>
                <a:latin typeface="Franklin Gothic Medium"/>
                <a:ea typeface="Franklin Gothic Medium"/>
                <a:cs typeface="Franklin Gothic Medium"/>
                <a:sym typeface="Franklin Gothic Medium"/>
              </a:defRPr>
            </a:lvl1pPr>
          </a:lstStyle>
          <a:p>
            <a:pPr/>
            <a:r>
              <a:t>We can update the BibTeX file by manually copy/pasting new entries from another file as well as letting RStudio Desktop update the file for us.</a:t>
            </a:r>
          </a:p>
        </p:txBody>
      </p:sp>
    </p:spTree>
  </p:cSld>
  <p:clrMapOvr>
    <a:masterClrMapping/>
  </p:clrMapOvr>
  <mc:AlternateContent xmlns:mc="http://schemas.openxmlformats.org/markup-compatibility/2006">
    <mc:Choice xmlns:p14="http://schemas.microsoft.com/office/powerpoint/2010/main" Requires="p14">
      <p:transition spd="slow" advClick="1" p14:dur="1500">
        <p:fade/>
      </p:transition>
    </mc:Choice>
    <mc:Fallback>
      <p:transition spd="slow">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ID="10" grpId="1" fill="hold">
                                  <p:stCondLst>
                                    <p:cond delay="0"/>
                                  </p:stCondLst>
                                  <p:iterate type="el" backwards="0">
                                    <p:tmAbs val="0"/>
                                  </p:iterate>
                                  <p:childTnLst>
                                    <p:set>
                                      <p:cBhvr>
                                        <p:cTn id="6" fill="hold"/>
                                        <p:tgtEl>
                                          <p:spTgt spid="182"/>
                                        </p:tgtEl>
                                        <p:attrNameLst>
                                          <p:attrName>style.visibility</p:attrName>
                                        </p:attrNameLst>
                                      </p:cBhvr>
                                      <p:to>
                                        <p:strVal val="visible"/>
                                      </p:to>
                                    </p:set>
                                    <p:animEffect filter="fade" transition="in">
                                      <p:cBhvr>
                                        <p:cTn id="7" dur="1000"/>
                                        <p:tgtEl>
                                          <p:spTgt spid="18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182" grpId="1"/>
    </p:bldLst>
  </p:timing>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8" name="Slide Number"/>
          <p:cNvSpPr txBox="1"/>
          <p:nvPr>
            <p:ph type="sldNum" sz="quarter" idx="2"/>
          </p:nvPr>
        </p:nvSpPr>
        <p:spPr>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189" name="The References Section"/>
          <p:cNvSpPr txBox="1"/>
          <p:nvPr>
            <p:ph type="title"/>
          </p:nvPr>
        </p:nvSpPr>
        <p:spPr>
          <a:prstGeom prst="rect">
            <a:avLst/>
          </a:prstGeom>
        </p:spPr>
        <p:txBody>
          <a:bodyPr/>
          <a:lstStyle/>
          <a:p>
            <a:pPr/>
            <a:r>
              <a:t>The References Section</a:t>
            </a:r>
          </a:p>
        </p:txBody>
      </p:sp>
      <p:sp>
        <p:nvSpPr>
          <p:cNvPr id="190" name="The last step is to add the References section to your Quarto Document."/>
          <p:cNvSpPr txBox="1"/>
          <p:nvPr/>
        </p:nvSpPr>
        <p:spPr>
          <a:xfrm>
            <a:off x="162024" y="1003300"/>
            <a:ext cx="12550364" cy="533401"/>
          </a:xfrm>
          <a:prstGeom prst="rect">
            <a:avLst/>
          </a:prstGeom>
          <a:ln w="3175">
            <a:miter lim="400000"/>
          </a:ln>
          <a:extLst>
            <a:ext uri="{C572A759-6A51-4108-AA02-DFA0A04FC94B}">
              <ma14:wrappingTextBoxFlag xmlns:ma14="http://schemas.microsoft.com/office/mac/drawingml/2011/main" val="1"/>
            </a:ext>
          </a:extLst>
        </p:spPr>
        <p:txBody>
          <a:bodyPr lIns="38100" tIns="38100" rIns="38100" bIns="38100" anchor="ctr">
            <a:spAutoFit/>
          </a:bodyPr>
          <a:lstStyle>
            <a:lvl1pPr algn="l">
              <a:defRPr sz="3200">
                <a:solidFill>
                  <a:srgbClr val="000004"/>
                </a:solidFill>
                <a:latin typeface="Franklin Gothic Medium"/>
                <a:ea typeface="Franklin Gothic Medium"/>
                <a:cs typeface="Franklin Gothic Medium"/>
                <a:sym typeface="Franklin Gothic Medium"/>
              </a:defRPr>
            </a:lvl1pPr>
          </a:lstStyle>
          <a:p>
            <a:pPr/>
            <a:r>
              <a:t>The last step is to add the References section to your Quarto Document.</a:t>
            </a:r>
          </a:p>
        </p:txBody>
      </p:sp>
      <p:sp>
        <p:nvSpPr>
          <p:cNvPr id="191" name="This should start on it's own page and be located after the main part of your document and before any appendices."/>
          <p:cNvSpPr txBox="1"/>
          <p:nvPr/>
        </p:nvSpPr>
        <p:spPr>
          <a:xfrm>
            <a:off x="162024" y="2170118"/>
            <a:ext cx="12550364" cy="990601"/>
          </a:xfrm>
          <a:prstGeom prst="rect">
            <a:avLst/>
          </a:prstGeom>
          <a:ln w="3175">
            <a:miter lim="400000"/>
          </a:ln>
          <a:extLst>
            <a:ext uri="{C572A759-6A51-4108-AA02-DFA0A04FC94B}">
              <ma14:wrappingTextBoxFlag xmlns:ma14="http://schemas.microsoft.com/office/mac/drawingml/2011/main" val="1"/>
            </a:ext>
          </a:extLst>
        </p:spPr>
        <p:txBody>
          <a:bodyPr lIns="38100" tIns="38100" rIns="38100" bIns="38100" anchor="ctr">
            <a:spAutoFit/>
          </a:bodyPr>
          <a:lstStyle>
            <a:lvl1pPr algn="l">
              <a:defRPr sz="3200">
                <a:solidFill>
                  <a:srgbClr val="000004"/>
                </a:solidFill>
                <a:latin typeface="Franklin Gothic Medium"/>
                <a:ea typeface="Franklin Gothic Medium"/>
                <a:cs typeface="Franklin Gothic Medium"/>
                <a:sym typeface="Franklin Gothic Medium"/>
              </a:defRPr>
            </a:lvl1pPr>
          </a:lstStyle>
          <a:p>
            <a:pPr/>
            <a:r>
              <a:t>This should start on it's own page and be located after the main part of your document and before any appendices.</a:t>
            </a:r>
          </a:p>
        </p:txBody>
      </p:sp>
      <p:sp>
        <p:nvSpPr>
          <p:cNvPr id="192" name="The following code will automatically create an appropriate References section for us in our Quarto document."/>
          <p:cNvSpPr txBox="1"/>
          <p:nvPr/>
        </p:nvSpPr>
        <p:spPr>
          <a:xfrm>
            <a:off x="162024" y="3794137"/>
            <a:ext cx="12550364" cy="990601"/>
          </a:xfrm>
          <a:prstGeom prst="rect">
            <a:avLst/>
          </a:prstGeom>
          <a:ln w="3175">
            <a:miter lim="400000"/>
          </a:ln>
          <a:extLst>
            <a:ext uri="{C572A759-6A51-4108-AA02-DFA0A04FC94B}">
              <ma14:wrappingTextBoxFlag xmlns:ma14="http://schemas.microsoft.com/office/mac/drawingml/2011/main" val="1"/>
            </a:ext>
          </a:extLst>
        </p:spPr>
        <p:txBody>
          <a:bodyPr lIns="38100" tIns="38100" rIns="38100" bIns="38100" anchor="ctr">
            <a:spAutoFit/>
          </a:bodyPr>
          <a:lstStyle>
            <a:lvl1pPr algn="l">
              <a:defRPr sz="3200">
                <a:solidFill>
                  <a:srgbClr val="000004"/>
                </a:solidFill>
                <a:latin typeface="Franklin Gothic Medium"/>
                <a:ea typeface="Franklin Gothic Medium"/>
                <a:cs typeface="Franklin Gothic Medium"/>
                <a:sym typeface="Franklin Gothic Medium"/>
              </a:defRPr>
            </a:lvl1pPr>
          </a:lstStyle>
          <a:p>
            <a:pPr/>
            <a:r>
              <a:t>The following code will automatically create an appropriate References section for us in our Quarto document.</a:t>
            </a:r>
          </a:p>
        </p:txBody>
      </p:sp>
      <p:sp>
        <p:nvSpPr>
          <p:cNvPr id="193" name="{{&lt;pagebreak&gt;}}…"/>
          <p:cNvSpPr txBox="1"/>
          <p:nvPr/>
        </p:nvSpPr>
        <p:spPr>
          <a:xfrm>
            <a:off x="227218" y="4819551"/>
            <a:ext cx="12550364" cy="2333571"/>
          </a:xfrm>
          <a:prstGeom prst="rect">
            <a:avLst/>
          </a:prstGeom>
          <a:ln w="3175">
            <a:miter lim="400000"/>
          </a:ln>
          <a:extLst>
            <a:ext uri="{C572A759-6A51-4108-AA02-DFA0A04FC94B}">
              <ma14:wrappingTextBoxFlag xmlns:ma14="http://schemas.microsoft.com/office/mac/drawingml/2011/main" val="1"/>
            </a:ext>
          </a:extLst>
        </p:spPr>
        <p:txBody>
          <a:bodyPr lIns="38100" tIns="38100" rIns="38100" bIns="38100" anchor="ctr">
            <a:spAutoFit/>
          </a:bodyPr>
          <a:lstStyle/>
          <a:p>
            <a:pPr algn="l">
              <a:defRPr sz="2700">
                <a:solidFill>
                  <a:srgbClr val="000004"/>
                </a:solidFill>
                <a:latin typeface="Monaco"/>
                <a:ea typeface="Monaco"/>
                <a:cs typeface="Monaco"/>
                <a:sym typeface="Monaco"/>
              </a:defRPr>
            </a:pPr>
            <a:r>
              <a:t>{{&lt;pagebreak&gt;}}</a:t>
            </a:r>
          </a:p>
          <a:p>
            <a:pPr algn="l">
              <a:defRPr sz="2700">
                <a:solidFill>
                  <a:srgbClr val="000004"/>
                </a:solidFill>
                <a:latin typeface="Monaco"/>
                <a:ea typeface="Monaco"/>
                <a:cs typeface="Monaco"/>
                <a:sym typeface="Monaco"/>
              </a:defRPr>
            </a:pPr>
          </a:p>
          <a:p>
            <a:pPr algn="l">
              <a:defRPr sz="2700">
                <a:solidFill>
                  <a:srgbClr val="000004"/>
                </a:solidFill>
                <a:latin typeface="Monaco"/>
                <a:ea typeface="Monaco"/>
                <a:cs typeface="Monaco"/>
                <a:sym typeface="Monaco"/>
              </a:defRPr>
            </a:pPr>
            <a:r>
              <a:t># References </a:t>
            </a:r>
          </a:p>
          <a:p>
            <a:pPr algn="l">
              <a:defRPr sz="2700">
                <a:solidFill>
                  <a:srgbClr val="000004"/>
                </a:solidFill>
                <a:latin typeface="Monaco"/>
                <a:ea typeface="Monaco"/>
                <a:cs typeface="Monaco"/>
                <a:sym typeface="Monaco"/>
              </a:defRPr>
            </a:pPr>
            <a:r>
              <a:t>::: {#refs}</a:t>
            </a:r>
          </a:p>
          <a:p>
            <a:pPr algn="l">
              <a:defRPr sz="2700">
                <a:solidFill>
                  <a:srgbClr val="000004"/>
                </a:solidFill>
                <a:latin typeface="Monaco"/>
                <a:ea typeface="Monaco"/>
                <a:cs typeface="Monaco"/>
                <a:sym typeface="Monaco"/>
              </a:defRPr>
            </a:pPr>
            <a:r>
              <a:t>:::</a:t>
            </a:r>
          </a:p>
        </p:txBody>
      </p:sp>
      <p:sp>
        <p:nvSpPr>
          <p:cNvPr id="194" name="This section will automatically update each time we render our Quarto document."/>
          <p:cNvSpPr txBox="1"/>
          <p:nvPr/>
        </p:nvSpPr>
        <p:spPr>
          <a:xfrm>
            <a:off x="162024" y="7688816"/>
            <a:ext cx="12550364" cy="990601"/>
          </a:xfrm>
          <a:prstGeom prst="rect">
            <a:avLst/>
          </a:prstGeom>
          <a:ln w="3175">
            <a:miter lim="400000"/>
          </a:ln>
          <a:extLst>
            <a:ext uri="{C572A759-6A51-4108-AA02-DFA0A04FC94B}">
              <ma14:wrappingTextBoxFlag xmlns:ma14="http://schemas.microsoft.com/office/mac/drawingml/2011/main" val="1"/>
            </a:ext>
          </a:extLst>
        </p:spPr>
        <p:txBody>
          <a:bodyPr lIns="38100" tIns="38100" rIns="38100" bIns="38100" anchor="ctr">
            <a:spAutoFit/>
          </a:bodyPr>
          <a:lstStyle>
            <a:lvl1pPr algn="l">
              <a:defRPr sz="3200">
                <a:solidFill>
                  <a:srgbClr val="000004"/>
                </a:solidFill>
                <a:latin typeface="Franklin Gothic Medium"/>
                <a:ea typeface="Franklin Gothic Medium"/>
                <a:cs typeface="Franklin Gothic Medium"/>
                <a:sym typeface="Franklin Gothic Medium"/>
              </a:defRPr>
            </a:lvl1pPr>
          </a:lstStyle>
          <a:p>
            <a:pPr/>
            <a:r>
              <a:t>This section will automatically update each time we render our Quarto document.</a:t>
            </a:r>
          </a:p>
        </p:txBody>
      </p:sp>
    </p:spTree>
  </p:cSld>
  <p:clrMapOvr>
    <a:masterClrMapping/>
  </p:clrMapOvr>
  <mc:AlternateContent xmlns:mc="http://schemas.openxmlformats.org/markup-compatibility/2006">
    <mc:Choice xmlns:p14="http://schemas.microsoft.com/office/powerpoint/2010/main" Requires="p14">
      <p:transition spd="slow" advClick="1" p14:dur="1500">
        <p:fade/>
      </p:transition>
    </mc:Choice>
    <mc:Fallback>
      <p:transition spd="slow">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ID="10" grpId="1" fill="hold">
                                  <p:stCondLst>
                                    <p:cond delay="0"/>
                                  </p:stCondLst>
                                  <p:iterate type="el" backwards="0">
                                    <p:tmAbs val="0"/>
                                  </p:iterate>
                                  <p:childTnLst>
                                    <p:set>
                                      <p:cBhvr>
                                        <p:cTn id="6" fill="hold"/>
                                        <p:tgtEl>
                                          <p:spTgt spid="191"/>
                                        </p:tgtEl>
                                        <p:attrNameLst>
                                          <p:attrName>style.visibility</p:attrName>
                                        </p:attrNameLst>
                                      </p:cBhvr>
                                      <p:to>
                                        <p:strVal val="visible"/>
                                      </p:to>
                                    </p:set>
                                    <p:animEffect filter="fade" transition="in">
                                      <p:cBhvr>
                                        <p:cTn id="7" dur="1000"/>
                                        <p:tgtEl>
                                          <p:spTgt spid="191"/>
                                        </p:tgtEl>
                                      </p:cBhvr>
                                    </p:animEffect>
                                  </p:childTnLst>
                                </p:cTn>
                              </p:par>
                            </p:childTnLst>
                          </p:cTn>
                        </p:par>
                      </p:childTnLst>
                    </p:cTn>
                  </p:par>
                  <p:par>
                    <p:cTn id="8" fill="hold">
                      <p:stCondLst>
                        <p:cond delay="indefinite"/>
                      </p:stCondLst>
                      <p:childTnLst>
                        <p:par>
                          <p:cTn id="9" fill="hold">
                            <p:stCondLst>
                              <p:cond delay="0"/>
                            </p:stCondLst>
                            <p:childTnLst>
                              <p:par>
                                <p:cTn id="10" presetClass="entr" nodeType="clickEffect" presetID="10" grpId="2" fill="hold">
                                  <p:stCondLst>
                                    <p:cond delay="0"/>
                                  </p:stCondLst>
                                  <p:iterate type="el" backwards="0">
                                    <p:tmAbs val="0"/>
                                  </p:iterate>
                                  <p:childTnLst>
                                    <p:set>
                                      <p:cBhvr>
                                        <p:cTn id="11" fill="hold"/>
                                        <p:tgtEl>
                                          <p:spTgt spid="192"/>
                                        </p:tgtEl>
                                        <p:attrNameLst>
                                          <p:attrName>style.visibility</p:attrName>
                                        </p:attrNameLst>
                                      </p:cBhvr>
                                      <p:to>
                                        <p:strVal val="visible"/>
                                      </p:to>
                                    </p:set>
                                    <p:animEffect filter="fade" transition="in">
                                      <p:cBhvr>
                                        <p:cTn id="12" dur="1000"/>
                                        <p:tgtEl>
                                          <p:spTgt spid="192"/>
                                        </p:tgtEl>
                                      </p:cBhvr>
                                    </p:animEffect>
                                  </p:childTnLst>
                                </p:cTn>
                              </p:par>
                            </p:childTnLst>
                          </p:cTn>
                        </p:par>
                      </p:childTnLst>
                    </p:cTn>
                  </p:par>
                  <p:par>
                    <p:cTn id="13" fill="hold">
                      <p:stCondLst>
                        <p:cond delay="indefinite"/>
                      </p:stCondLst>
                      <p:childTnLst>
                        <p:par>
                          <p:cTn id="14" fill="hold">
                            <p:stCondLst>
                              <p:cond delay="0"/>
                            </p:stCondLst>
                            <p:childTnLst>
                              <p:par>
                                <p:cTn id="15" presetClass="entr" nodeType="clickEffect" presetID="10" grpId="3" fill="hold">
                                  <p:stCondLst>
                                    <p:cond delay="0"/>
                                  </p:stCondLst>
                                  <p:iterate type="el" backwards="0">
                                    <p:tmAbs val="0"/>
                                  </p:iterate>
                                  <p:childTnLst>
                                    <p:set>
                                      <p:cBhvr>
                                        <p:cTn id="16" fill="hold"/>
                                        <p:tgtEl>
                                          <p:spTgt spid="193"/>
                                        </p:tgtEl>
                                        <p:attrNameLst>
                                          <p:attrName>style.visibility</p:attrName>
                                        </p:attrNameLst>
                                      </p:cBhvr>
                                      <p:to>
                                        <p:strVal val="visible"/>
                                      </p:to>
                                    </p:set>
                                    <p:animEffect filter="fade" transition="in">
                                      <p:cBhvr>
                                        <p:cTn id="17" dur="1000"/>
                                        <p:tgtEl>
                                          <p:spTgt spid="193"/>
                                        </p:tgtEl>
                                      </p:cBhvr>
                                    </p:animEffect>
                                  </p:childTnLst>
                                </p:cTn>
                              </p:par>
                            </p:childTnLst>
                          </p:cTn>
                        </p:par>
                      </p:childTnLst>
                    </p:cTn>
                  </p:par>
                  <p:par>
                    <p:cTn id="18" fill="hold">
                      <p:stCondLst>
                        <p:cond delay="indefinite"/>
                      </p:stCondLst>
                      <p:childTnLst>
                        <p:par>
                          <p:cTn id="19" fill="hold">
                            <p:stCondLst>
                              <p:cond delay="0"/>
                            </p:stCondLst>
                            <p:childTnLst>
                              <p:par>
                                <p:cTn id="20" presetClass="entr" nodeType="clickEffect" presetID="10" grpId="4" fill="hold">
                                  <p:stCondLst>
                                    <p:cond delay="0"/>
                                  </p:stCondLst>
                                  <p:iterate type="el" backwards="0">
                                    <p:tmAbs val="0"/>
                                  </p:iterate>
                                  <p:childTnLst>
                                    <p:set>
                                      <p:cBhvr>
                                        <p:cTn id="21" fill="hold"/>
                                        <p:tgtEl>
                                          <p:spTgt spid="194"/>
                                        </p:tgtEl>
                                        <p:attrNameLst>
                                          <p:attrName>style.visibility</p:attrName>
                                        </p:attrNameLst>
                                      </p:cBhvr>
                                      <p:to>
                                        <p:strVal val="visible"/>
                                      </p:to>
                                    </p:set>
                                    <p:animEffect filter="fade" transition="in">
                                      <p:cBhvr>
                                        <p:cTn id="22" dur="1000"/>
                                        <p:tgtEl>
                                          <p:spTgt spid="19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194" grpId="4"/>
      <p:bldP build="whole" bldLvl="1" animBg="1" rev="0" advAuto="0" spid="191" grpId="1"/>
      <p:bldP build="whole" bldLvl="1" animBg="1" rev="0" advAuto="0" spid="193" grpId="3"/>
      <p:bldP build="whole" bldLvl="1" animBg="1" rev="0" advAuto="0" spid="192" grpId="2"/>
    </p:bldLst>
  </p:timing>
</p:sld>
</file>

<file path=ppt/slides/slide2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6" name="Slide Number"/>
          <p:cNvSpPr txBox="1"/>
          <p:nvPr>
            <p:ph type="sldNum" sz="quarter" idx="2"/>
          </p:nvPr>
        </p:nvSpPr>
        <p:spPr>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197" name="Homework"/>
          <p:cNvSpPr txBox="1"/>
          <p:nvPr>
            <p:ph type="title"/>
          </p:nvPr>
        </p:nvSpPr>
        <p:spPr>
          <a:prstGeom prst="rect">
            <a:avLst/>
          </a:prstGeom>
        </p:spPr>
        <p:txBody>
          <a:bodyPr/>
          <a:lstStyle/>
          <a:p>
            <a:pPr/>
            <a:r>
              <a:t>Homework</a:t>
            </a:r>
          </a:p>
        </p:txBody>
      </p:sp>
      <p:sp>
        <p:nvSpPr>
          <p:cNvPr id="198" name="Assignments…"/>
          <p:cNvSpPr txBox="1"/>
          <p:nvPr/>
        </p:nvSpPr>
        <p:spPr>
          <a:xfrm>
            <a:off x="280731" y="1428547"/>
            <a:ext cx="11969204" cy="4216401"/>
          </a:xfrm>
          <a:prstGeom prst="rect">
            <a:avLst/>
          </a:prstGeom>
          <a:ln w="3175">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lgn="l">
              <a:defRPr sz="3200">
                <a:solidFill>
                  <a:srgbClr val="000004"/>
                </a:solidFill>
                <a:latin typeface="Franklin Gothic Medium"/>
                <a:ea typeface="Franklin Gothic Medium"/>
                <a:cs typeface="Franklin Gothic Medium"/>
                <a:sym typeface="Franklin Gothic Medium"/>
              </a:defRPr>
            </a:pPr>
            <a:r>
              <a:t>Assignments</a:t>
            </a:r>
          </a:p>
          <a:p>
            <a:pPr marL="508000" indent="-508000" algn="l">
              <a:buSzPct val="171000"/>
              <a:buChar char="•"/>
              <a:defRPr sz="3200">
                <a:solidFill>
                  <a:srgbClr val="000004"/>
                </a:solidFill>
                <a:latin typeface="Franklin Gothic Medium"/>
                <a:ea typeface="Franklin Gothic Medium"/>
                <a:cs typeface="Franklin Gothic Medium"/>
                <a:sym typeface="Franklin Gothic Medium"/>
              </a:defRPr>
            </a:pPr>
            <a:r>
              <a:t>HW #4.2: GitHub Account</a:t>
            </a:r>
          </a:p>
          <a:p>
            <a:pPr lvl="1" marL="1465384" indent="-703384" algn="l">
              <a:buSzPct val="171000"/>
              <a:buChar char="•"/>
              <a:defRPr sz="3200">
                <a:solidFill>
                  <a:srgbClr val="000004"/>
                </a:solidFill>
                <a:latin typeface="Franklin Gothic Medium"/>
                <a:ea typeface="Franklin Gothic Medium"/>
                <a:cs typeface="Franklin Gothic Medium"/>
                <a:sym typeface="Franklin Gothic Medium"/>
              </a:defRPr>
            </a:pPr>
            <a:r>
              <a:t>Due by 11:59pm, Monday, April 6, 2026</a:t>
            </a:r>
          </a:p>
          <a:p>
            <a:pPr lvl="1" marL="1465384" indent="-703384" algn="l">
              <a:buSzPct val="171000"/>
              <a:buChar char="•"/>
              <a:defRPr sz="3200">
                <a:solidFill>
                  <a:srgbClr val="000004"/>
                </a:solidFill>
                <a:latin typeface="Franklin Gothic Medium"/>
                <a:ea typeface="Franklin Gothic Medium"/>
                <a:cs typeface="Franklin Gothic Medium"/>
                <a:sym typeface="Franklin Gothic Medium"/>
              </a:defRPr>
            </a:pPr>
            <a:r>
              <a:t>No late passes</a:t>
            </a:r>
          </a:p>
          <a:p>
            <a:pPr marL="508000" indent="-508000" algn="l">
              <a:buSzPct val="171000"/>
              <a:buChar char="•"/>
              <a:defRPr sz="3200">
                <a:solidFill>
                  <a:srgbClr val="000004"/>
                </a:solidFill>
                <a:latin typeface="Franklin Gothic Medium"/>
                <a:ea typeface="Franklin Gothic Medium"/>
                <a:cs typeface="Franklin Gothic Medium"/>
                <a:sym typeface="Franklin Gothic Medium"/>
              </a:defRPr>
            </a:pPr>
            <a:r>
              <a:t>HW #4.3: Reproducible Data Analysis</a:t>
            </a:r>
          </a:p>
          <a:p>
            <a:pPr lvl="1" marL="1465384" indent="-703384" algn="l">
              <a:buSzPct val="171000"/>
              <a:buChar char="•"/>
              <a:defRPr sz="3200">
                <a:solidFill>
                  <a:srgbClr val="000004"/>
                </a:solidFill>
                <a:latin typeface="Franklin Gothic Medium"/>
                <a:ea typeface="Franklin Gothic Medium"/>
                <a:cs typeface="Franklin Gothic Medium"/>
                <a:sym typeface="Franklin Gothic Medium"/>
              </a:defRPr>
            </a:pPr>
            <a:r>
              <a:t>Due by 11:59pm, Monday, April 13, 2026</a:t>
            </a:r>
          </a:p>
          <a:p>
            <a:pPr lvl="1" marL="1465384" indent="-703384" algn="l">
              <a:buSzPct val="171000"/>
              <a:buChar char="•"/>
              <a:defRPr sz="3200">
                <a:solidFill>
                  <a:srgbClr val="000004"/>
                </a:solidFill>
                <a:latin typeface="Franklin Gothic Medium"/>
                <a:ea typeface="Franklin Gothic Medium"/>
                <a:cs typeface="Franklin Gothic Medium"/>
                <a:sym typeface="Franklin Gothic Medium"/>
              </a:defRPr>
            </a:pPr>
            <a:r>
              <a:t>Be sure to review the rubrics and the info questions</a:t>
            </a:r>
          </a:p>
          <a:p>
            <a:pPr lvl="1" marL="1465384" indent="-703384" algn="l">
              <a:buSzPct val="171000"/>
              <a:buChar char="•"/>
              <a:defRPr sz="3200">
                <a:solidFill>
                  <a:srgbClr val="000004"/>
                </a:solidFill>
                <a:latin typeface="Franklin Gothic Medium"/>
                <a:ea typeface="Franklin Gothic Medium"/>
                <a:cs typeface="Franklin Gothic Medium"/>
                <a:sym typeface="Franklin Gothic Medium"/>
              </a:defRPr>
            </a:pPr>
            <a:r>
              <a:t>There is a separate submission portal for uploading your rendered PDF.</a:t>
            </a:r>
          </a:p>
        </p:txBody>
      </p:sp>
    </p:spTree>
  </p:cSld>
  <p:clrMapOvr>
    <a:masterClrMapping/>
  </p:clrMapOvr>
  <mc:AlternateContent xmlns:mc="http://schemas.openxmlformats.org/markup-compatibility/2006">
    <mc:Choice xmlns:p14="http://schemas.microsoft.com/office/powerpoint/2010/main" Requires="p14">
      <p:transition spd="slow" advClick="1" p14:dur="1500">
        <p:fade/>
      </p:transition>
    </mc:Choice>
    <mc:Fallback>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0" name="Plan for the Day"/>
          <p:cNvSpPr txBox="1"/>
          <p:nvPr>
            <p:ph type="title"/>
          </p:nvPr>
        </p:nvSpPr>
        <p:spPr>
          <a:prstGeom prst="rect">
            <a:avLst/>
          </a:prstGeom>
        </p:spPr>
        <p:txBody>
          <a:bodyPr/>
          <a:lstStyle/>
          <a:p>
            <a:pPr/>
            <a:r>
              <a:t>Plan for the Day</a:t>
            </a:r>
          </a:p>
        </p:txBody>
      </p:sp>
      <p:sp>
        <p:nvSpPr>
          <p:cNvPr id="201" name="Slide Number"/>
          <p:cNvSpPr txBox="1"/>
          <p:nvPr>
            <p:ph type="sldNum" sz="quarter" idx="2"/>
          </p:nvPr>
        </p:nvSpPr>
        <p:spPr>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202" name="Goals"/>
          <p:cNvSpPr txBox="1"/>
          <p:nvPr/>
        </p:nvSpPr>
        <p:spPr>
          <a:xfrm>
            <a:off x="101599" y="698500"/>
            <a:ext cx="1068389" cy="533401"/>
          </a:xfrm>
          <a:prstGeom prst="rect">
            <a:avLst/>
          </a:prstGeom>
          <a:ln w="3175">
            <a:miter lim="400000"/>
          </a:ln>
          <a:extLst>
            <a:ext uri="{C572A759-6A51-4108-AA02-DFA0A04FC94B}">
              <ma14:wrappingTextBoxFlag xmlns:ma14="http://schemas.microsoft.com/office/mac/drawingml/2011/main" val="1"/>
            </a:ext>
          </a:extLst>
        </p:spPr>
        <p:txBody>
          <a:bodyPr wrap="none" lIns="38100" tIns="38100" rIns="38100" bIns="38100" anchor="ctr">
            <a:spAutoFit/>
          </a:bodyPr>
          <a:lstStyle>
            <a:lvl1pPr algn="l">
              <a:defRPr sz="3200">
                <a:solidFill>
                  <a:srgbClr val="008900"/>
                </a:solidFill>
                <a:latin typeface="Franklin Gothic Medium"/>
                <a:ea typeface="Franklin Gothic Medium"/>
                <a:cs typeface="Franklin Gothic Medium"/>
                <a:sym typeface="Franklin Gothic Medium"/>
              </a:defRPr>
            </a:lvl1pPr>
          </a:lstStyle>
          <a:p>
            <a:pPr/>
            <a:r>
              <a:t>Goals</a:t>
            </a:r>
          </a:p>
        </p:txBody>
      </p:sp>
      <p:sp>
        <p:nvSpPr>
          <p:cNvPr id="203" name="Students will develop ways of thinking that make use of R's computing power to solve problems. (CT.1, CT.2)…"/>
          <p:cNvSpPr txBox="1"/>
          <p:nvPr/>
        </p:nvSpPr>
        <p:spPr>
          <a:xfrm>
            <a:off x="220265" y="1078135"/>
            <a:ext cx="12564270" cy="3530601"/>
          </a:xfrm>
          <a:prstGeom prst="rect">
            <a:avLst/>
          </a:prstGeom>
          <a:ln w="3175">
            <a:miter lim="400000"/>
          </a:ln>
          <a:extLst>
            <a:ext uri="{C572A759-6A51-4108-AA02-DFA0A04FC94B}">
              <ma14:wrappingTextBoxFlag xmlns:ma14="http://schemas.microsoft.com/office/mac/drawingml/2011/main" val="1"/>
            </a:ext>
          </a:extLst>
        </p:spPr>
        <p:txBody>
          <a:bodyPr lIns="38100" tIns="38100" rIns="38100" bIns="38100" anchor="ctr">
            <a:spAutoFit/>
          </a:bodyPr>
          <a:lstStyle/>
          <a:p>
            <a:pPr marL="507999" indent="-507999" algn="l">
              <a:buSzPct val="171000"/>
              <a:buChar char="•"/>
              <a:defRPr sz="3000">
                <a:solidFill>
                  <a:srgbClr val="000004"/>
                </a:solidFill>
                <a:latin typeface="Franklin Gothic Medium"/>
                <a:ea typeface="Franklin Gothic Medium"/>
                <a:cs typeface="Franklin Gothic Medium"/>
                <a:sym typeface="Franklin Gothic Medium"/>
              </a:defRPr>
            </a:pPr>
            <a:r>
              <a:t>Students will develop ways of thinking that make use of R's computing power to solve problems. (CT.1, CT.2)</a:t>
            </a:r>
          </a:p>
          <a:p>
            <a:pPr marL="507999" indent="-507999" algn="l">
              <a:buSzPct val="171000"/>
              <a:buChar char="•"/>
              <a:defRPr sz="3000">
                <a:solidFill>
                  <a:srgbClr val="000004"/>
                </a:solidFill>
                <a:latin typeface="Franklin Gothic Medium"/>
                <a:ea typeface="Franklin Gothic Medium"/>
                <a:cs typeface="Franklin Gothic Medium"/>
                <a:sym typeface="Franklin Gothic Medium"/>
              </a:defRPr>
            </a:pPr>
            <a:r>
              <a:t>Students will develop their skills in programming with statistical software. (Prog.4, Prog.5, Prog.6)</a:t>
            </a:r>
          </a:p>
          <a:p>
            <a:pPr marL="507999" indent="-507999" algn="l">
              <a:buSzPct val="171000"/>
              <a:buChar char="•"/>
              <a:defRPr sz="3000">
                <a:solidFill>
                  <a:srgbClr val="000004"/>
                </a:solidFill>
                <a:latin typeface="Franklin Gothic Medium"/>
                <a:ea typeface="Franklin Gothic Medium"/>
                <a:cs typeface="Franklin Gothic Medium"/>
                <a:sym typeface="Franklin Gothic Medium"/>
              </a:defRPr>
            </a:pPr>
            <a:r>
              <a:t>Students will develop their communication skills as related to statistical programming and data analysis. (Comm.1)</a:t>
            </a:r>
          </a:p>
          <a:p>
            <a:pPr marL="507999" indent="-507999" algn="l">
              <a:buSzPct val="171000"/>
              <a:buChar char="•"/>
              <a:defRPr sz="3000">
                <a:solidFill>
                  <a:srgbClr val="000004"/>
                </a:solidFill>
                <a:latin typeface="Franklin Gothic Medium"/>
                <a:ea typeface="Franklin Gothic Medium"/>
                <a:cs typeface="Franklin Gothic Medium"/>
                <a:sym typeface="Franklin Gothic Medium"/>
              </a:defRPr>
            </a:pPr>
            <a:r>
              <a:t>Students will develop their skills in creating reproducible code and data analyses. (Repro.1, Repro.2, Repro.5, Repro.6)</a:t>
            </a:r>
          </a:p>
        </p:txBody>
      </p:sp>
      <p:sp>
        <p:nvSpPr>
          <p:cNvPr id="204" name="Needs: signal cups, notes"/>
          <p:cNvSpPr txBox="1"/>
          <p:nvPr/>
        </p:nvSpPr>
        <p:spPr>
          <a:xfrm>
            <a:off x="140758" y="5034227"/>
            <a:ext cx="4484688" cy="533401"/>
          </a:xfrm>
          <a:prstGeom prst="rect">
            <a:avLst/>
          </a:prstGeom>
          <a:ln w="3175">
            <a:miter lim="400000"/>
          </a:ln>
          <a:extLst>
            <a:ext uri="{C572A759-6A51-4108-AA02-DFA0A04FC94B}">
              <ma14:wrappingTextBoxFlag xmlns:ma14="http://schemas.microsoft.com/office/mac/drawingml/2011/main" val="1"/>
            </a:ext>
          </a:extLst>
        </p:spPr>
        <p:txBody>
          <a:bodyPr wrap="none" lIns="38100" tIns="38100" rIns="38100" bIns="38100" anchor="ctr">
            <a:spAutoFit/>
          </a:bodyPr>
          <a:lstStyle/>
          <a:p>
            <a:pPr algn="l">
              <a:defRPr sz="3200">
                <a:solidFill>
                  <a:srgbClr val="008900"/>
                </a:solidFill>
                <a:latin typeface="Franklin Gothic Medium"/>
                <a:ea typeface="Franklin Gothic Medium"/>
                <a:cs typeface="Franklin Gothic Medium"/>
                <a:sym typeface="Franklin Gothic Medium"/>
              </a:defRPr>
            </a:pPr>
            <a:r>
              <a:t>Needs: </a:t>
            </a:r>
            <a:r>
              <a:rPr>
                <a:solidFill>
                  <a:srgbClr val="000004"/>
                </a:solidFill>
              </a:rPr>
              <a:t>signal cups, notes</a:t>
            </a:r>
          </a:p>
        </p:txBody>
      </p:sp>
      <p:sp>
        <p:nvSpPr>
          <p:cNvPr id="205" name="Steps"/>
          <p:cNvSpPr txBox="1"/>
          <p:nvPr/>
        </p:nvSpPr>
        <p:spPr>
          <a:xfrm>
            <a:off x="105171" y="5974820"/>
            <a:ext cx="1061245" cy="533401"/>
          </a:xfrm>
          <a:prstGeom prst="rect">
            <a:avLst/>
          </a:prstGeom>
          <a:ln w="3175">
            <a:miter lim="400000"/>
          </a:ln>
          <a:extLst>
            <a:ext uri="{C572A759-6A51-4108-AA02-DFA0A04FC94B}">
              <ma14:wrappingTextBoxFlag xmlns:ma14="http://schemas.microsoft.com/office/mac/drawingml/2011/main" val="1"/>
            </a:ext>
          </a:extLst>
        </p:spPr>
        <p:txBody>
          <a:bodyPr wrap="none" lIns="38100" tIns="38100" rIns="38100" bIns="38100" anchor="ctr">
            <a:spAutoFit/>
          </a:bodyPr>
          <a:lstStyle>
            <a:lvl1pPr algn="l">
              <a:defRPr sz="3200">
                <a:solidFill>
                  <a:srgbClr val="008900"/>
                </a:solidFill>
                <a:latin typeface="Franklin Gothic Medium"/>
                <a:ea typeface="Franklin Gothic Medium"/>
                <a:cs typeface="Franklin Gothic Medium"/>
                <a:sym typeface="Franklin Gothic Medium"/>
              </a:defRPr>
            </a:lvl1pPr>
          </a:lstStyle>
          <a:p>
            <a:pPr/>
            <a:r>
              <a:t>Steps</a:t>
            </a:r>
          </a:p>
        </p:txBody>
      </p:sp>
      <p:sp>
        <p:nvSpPr>
          <p:cNvPr id="206" name="Best Practices for Quarto…"/>
          <p:cNvSpPr txBox="1"/>
          <p:nvPr/>
        </p:nvSpPr>
        <p:spPr>
          <a:xfrm>
            <a:off x="238233" y="7033252"/>
            <a:ext cx="7616780" cy="990601"/>
          </a:xfrm>
          <a:prstGeom prst="rect">
            <a:avLst/>
          </a:prstGeom>
          <a:ln w="3175">
            <a:miter lim="400000"/>
          </a:ln>
          <a:extLst>
            <a:ext uri="{C572A759-6A51-4108-AA02-DFA0A04FC94B}">
              <ma14:wrappingTextBoxFlag xmlns:ma14="http://schemas.microsoft.com/office/mac/drawingml/2011/main" val="1"/>
            </a:ext>
          </a:extLst>
        </p:spPr>
        <p:txBody>
          <a:bodyPr lIns="38100" tIns="38100" rIns="38100" bIns="38100" anchor="ctr">
            <a:spAutoFit/>
          </a:bodyPr>
          <a:lstStyle/>
          <a:p>
            <a:pPr marL="508000" indent="-508000" algn="l">
              <a:buSzPct val="100000"/>
              <a:buAutoNum type="arabicPeriod" startAt="1"/>
              <a:defRPr sz="3200">
                <a:solidFill>
                  <a:srgbClr val="000004"/>
                </a:solidFill>
                <a:latin typeface="Franklin Gothic Medium"/>
                <a:ea typeface="Franklin Gothic Medium"/>
                <a:cs typeface="Franklin Gothic Medium"/>
                <a:sym typeface="Franklin Gothic Medium"/>
              </a:defRPr>
            </a:pPr>
            <a:r>
              <a:t>Best Practices for Quarto</a:t>
            </a:r>
          </a:p>
          <a:p>
            <a:pPr marL="508000" indent="-508000" algn="l">
              <a:buSzPct val="100000"/>
              <a:buAutoNum type="arabicPeriod" startAt="1"/>
              <a:defRPr sz="3200">
                <a:solidFill>
                  <a:srgbClr val="000004"/>
                </a:solidFill>
                <a:latin typeface="Franklin Gothic Medium"/>
                <a:ea typeface="Franklin Gothic Medium"/>
                <a:cs typeface="Franklin Gothic Medium"/>
                <a:sym typeface="Franklin Gothic Medium"/>
              </a:defRPr>
            </a:pPr>
            <a:r>
              <a:t>Work Time</a:t>
            </a:r>
          </a:p>
        </p:txBody>
      </p:sp>
    </p:spTree>
  </p:cSld>
  <p:clrMapOvr>
    <a:masterClrMapping/>
  </p:clrMapOvr>
  <mc:AlternateContent xmlns:mc="http://schemas.openxmlformats.org/markup-compatibility/2006">
    <mc:Choice xmlns:p14="http://schemas.microsoft.com/office/powerpoint/2010/main" Requires="p14">
      <p:transition spd="slow" advClick="1" p14:dur="1500">
        <p:fade/>
      </p:transition>
    </mc:Choice>
    <mc:Fallback>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8" name="Best Practices for Quarto"/>
          <p:cNvSpPr txBox="1"/>
          <p:nvPr>
            <p:ph type="ctrTitle"/>
          </p:nvPr>
        </p:nvSpPr>
        <p:spPr>
          <a:xfrm>
            <a:off x="2100592" y="2414058"/>
            <a:ext cx="8803616" cy="2476501"/>
          </a:xfrm>
          <a:prstGeom prst="rect">
            <a:avLst/>
          </a:prstGeom>
        </p:spPr>
        <p:txBody>
          <a:bodyPr/>
          <a:lstStyle/>
          <a:p>
            <a:pPr/>
            <a:r>
              <a:t>Best Practices for Quarto</a:t>
            </a:r>
          </a:p>
        </p:txBody>
      </p:sp>
      <p:sp>
        <p:nvSpPr>
          <p:cNvPr id="209" name="Slide Number"/>
          <p:cNvSpPr txBox="1"/>
          <p:nvPr>
            <p:ph type="sldNum" sz="quarter" idx="2"/>
          </p:nvPr>
        </p:nvSpPr>
        <p:spPr>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210" name="Unit 4"/>
          <p:cNvSpPr txBox="1"/>
          <p:nvPr>
            <p:ph type="subTitle" sz="quarter" idx="1"/>
          </p:nvPr>
        </p:nvSpPr>
        <p:spPr>
          <a:prstGeom prst="rect">
            <a:avLst/>
          </a:prstGeom>
        </p:spPr>
        <p:txBody>
          <a:bodyPr/>
          <a:lstStyle/>
          <a:p>
            <a:pPr/>
            <a:r>
              <a:t>Unit 4</a:t>
            </a:r>
          </a:p>
        </p:txBody>
      </p:sp>
    </p:spTree>
  </p:cSld>
  <p:clrMapOvr>
    <a:masterClrMapping/>
  </p:clrMapOvr>
  <mc:AlternateContent xmlns:mc="http://schemas.openxmlformats.org/markup-compatibility/2006">
    <mc:Choice xmlns:p14="http://schemas.microsoft.com/office/powerpoint/2010/main" Requires="p14">
      <p:transition spd="slow" advClick="1" p14:dur="1500">
        <p:fade/>
      </p:transition>
    </mc:Choice>
    <mc:Fallback>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12" name="Slide Number"/>
          <p:cNvSpPr txBox="1"/>
          <p:nvPr>
            <p:ph type="sldNum" sz="quarter" idx="2"/>
          </p:nvPr>
        </p:nvSpPr>
        <p:spPr>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213" name="Best Practices"/>
          <p:cNvSpPr txBox="1"/>
          <p:nvPr>
            <p:ph type="title"/>
          </p:nvPr>
        </p:nvSpPr>
        <p:spPr>
          <a:prstGeom prst="rect">
            <a:avLst/>
          </a:prstGeom>
        </p:spPr>
        <p:txBody>
          <a:bodyPr/>
          <a:lstStyle/>
          <a:p>
            <a:pPr/>
            <a:r>
              <a:t>Best Practices</a:t>
            </a:r>
          </a:p>
        </p:txBody>
      </p:sp>
      <p:sp>
        <p:nvSpPr>
          <p:cNvPr id="214" name="Put an empty line between all blocks of narrative text and code chunks, both before and after.…"/>
          <p:cNvSpPr txBox="1"/>
          <p:nvPr/>
        </p:nvSpPr>
        <p:spPr>
          <a:xfrm>
            <a:off x="186503" y="680953"/>
            <a:ext cx="12631794" cy="8391694"/>
          </a:xfrm>
          <a:prstGeom prst="rect">
            <a:avLst/>
          </a:prstGeom>
          <a:ln w="3175">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marL="508000" indent="-508000" algn="l">
              <a:spcBef>
                <a:spcPts val="1000"/>
              </a:spcBef>
              <a:buSzPct val="171000"/>
              <a:buChar char="•"/>
              <a:defRPr sz="3200">
                <a:solidFill>
                  <a:srgbClr val="000000"/>
                </a:solidFill>
                <a:latin typeface="Franklin Gothic Medium"/>
                <a:ea typeface="Franklin Gothic Medium"/>
                <a:cs typeface="Franklin Gothic Medium"/>
                <a:sym typeface="Franklin Gothic Medium"/>
              </a:defRPr>
            </a:pPr>
            <a:r>
              <a:t>Put an empty line between all blocks of narrative text and code chunks, both before and after.</a:t>
            </a:r>
          </a:p>
          <a:p>
            <a:pPr marL="508000" indent="-508000" algn="l">
              <a:spcBef>
                <a:spcPts val="1000"/>
              </a:spcBef>
              <a:buSzPct val="171000"/>
              <a:buChar char="•"/>
              <a:defRPr sz="3200">
                <a:solidFill>
                  <a:srgbClr val="000000"/>
                </a:solidFill>
                <a:latin typeface="Franklin Gothic Medium"/>
                <a:ea typeface="Franklin Gothic Medium"/>
                <a:cs typeface="Franklin Gothic Medium"/>
                <a:sym typeface="Franklin Gothic Medium"/>
              </a:defRPr>
            </a:pPr>
            <a:r>
              <a:t>Put an empty line at the bottom of your code chunks between your last line of code and the closing three backticks.</a:t>
            </a:r>
          </a:p>
          <a:p>
            <a:pPr marL="508000" indent="-508000" algn="l">
              <a:spcBef>
                <a:spcPts val="1000"/>
              </a:spcBef>
              <a:buSzPct val="171000"/>
              <a:buChar char="•"/>
              <a:defRPr sz="3200">
                <a:solidFill>
                  <a:srgbClr val="000000"/>
                </a:solidFill>
                <a:latin typeface="Franklin Gothic Medium"/>
                <a:ea typeface="Franklin Gothic Medium"/>
                <a:cs typeface="Franklin Gothic Medium"/>
                <a:sym typeface="Franklin Gothic Medium"/>
              </a:defRPr>
            </a:pPr>
            <a:r>
              <a:t>Label your code chunks, even if they aren't producing tables or figures.</a:t>
            </a:r>
          </a:p>
          <a:p>
            <a:pPr marL="508000" indent="-508000" algn="l">
              <a:spcBef>
                <a:spcPts val="1000"/>
              </a:spcBef>
              <a:buSzPct val="171000"/>
              <a:buChar char="•"/>
              <a:defRPr sz="3200">
                <a:solidFill>
                  <a:srgbClr val="000000"/>
                </a:solidFill>
                <a:latin typeface="Franklin Gothic Medium"/>
                <a:ea typeface="Franklin Gothic Medium"/>
                <a:cs typeface="Franklin Gothic Medium"/>
                <a:sym typeface="Franklin Gothic Medium"/>
              </a:defRPr>
            </a:pPr>
            <a:r>
              <a:t>Load all of your packages and set global R options in a code chunk at the top of your document, just after the YAML Header.</a:t>
            </a:r>
          </a:p>
          <a:p>
            <a:pPr marL="508000" indent="-508000" algn="l">
              <a:spcBef>
                <a:spcPts val="1000"/>
              </a:spcBef>
              <a:buSzPct val="171000"/>
              <a:buChar char="•"/>
              <a:defRPr sz="3200">
                <a:solidFill>
                  <a:srgbClr val="000000"/>
                </a:solidFill>
                <a:latin typeface="Franklin Gothic Medium"/>
                <a:ea typeface="Franklin Gothic Medium"/>
                <a:cs typeface="Franklin Gothic Medium"/>
                <a:sym typeface="Franklin Gothic Medium"/>
              </a:defRPr>
            </a:pPr>
            <a:r>
              <a:t>DO NOT put </a:t>
            </a:r>
            <a:r>
              <a:rPr sz="2700">
                <a:latin typeface="Monaco"/>
                <a:ea typeface="Monaco"/>
                <a:cs typeface="Monaco"/>
                <a:sym typeface="Monaco"/>
              </a:rPr>
              <a:t>install.package</a:t>
            </a:r>
            <a:r>
              <a:t> commands in code chunks unless they are commented out as this can cause your QMD to not render.</a:t>
            </a:r>
          </a:p>
          <a:p>
            <a:pPr marL="508000" indent="-508000" algn="l">
              <a:spcBef>
                <a:spcPts val="1000"/>
              </a:spcBef>
              <a:buSzPct val="171000"/>
              <a:buChar char="•"/>
              <a:defRPr sz="3200">
                <a:solidFill>
                  <a:srgbClr val="000000"/>
                </a:solidFill>
                <a:latin typeface="Franklin Gothic Medium"/>
                <a:ea typeface="Franklin Gothic Medium"/>
                <a:cs typeface="Franklin Gothic Medium"/>
                <a:sym typeface="Franklin Gothic Medium"/>
              </a:defRPr>
            </a:pPr>
            <a:r>
              <a:t>DO NOT put interactive commands such as </a:t>
            </a:r>
            <a:r>
              <a:rPr sz="2700">
                <a:latin typeface="Monaco"/>
                <a:ea typeface="Monaco"/>
                <a:cs typeface="Monaco"/>
                <a:sym typeface="Monaco"/>
              </a:rPr>
              <a:t>esquisser</a:t>
            </a:r>
            <a:r>
              <a:t> in any code chunks as this can cause your QMD to not render.</a:t>
            </a:r>
          </a:p>
          <a:p>
            <a:pPr marL="508000" indent="-508000" algn="l">
              <a:spcBef>
                <a:spcPts val="1000"/>
              </a:spcBef>
              <a:buSzPct val="171000"/>
              <a:buChar char="•"/>
              <a:defRPr sz="3200">
                <a:solidFill>
                  <a:srgbClr val="000000"/>
                </a:solidFill>
                <a:latin typeface="Franklin Gothic Medium"/>
                <a:ea typeface="Franklin Gothic Medium"/>
                <a:cs typeface="Franklin Gothic Medium"/>
                <a:sym typeface="Franklin Gothic Medium"/>
              </a:defRPr>
            </a:pPr>
            <a:r>
              <a:t>DO NOT use </a:t>
            </a:r>
            <a:r>
              <a:rPr sz="2700">
                <a:latin typeface="Monaco"/>
                <a:ea typeface="Monaco"/>
                <a:cs typeface="Monaco"/>
                <a:sym typeface="Monaco"/>
              </a:rPr>
              <a:t>View</a:t>
            </a:r>
            <a:r>
              <a:t>, </a:t>
            </a:r>
            <a:r>
              <a:rPr sz="2700">
                <a:latin typeface="Monaco"/>
                <a:ea typeface="Monaco"/>
                <a:cs typeface="Monaco"/>
                <a:sym typeface="Monaco"/>
              </a:rPr>
              <a:t>str</a:t>
            </a:r>
            <a:r>
              <a:t>, </a:t>
            </a:r>
            <a:r>
              <a:rPr sz="2700">
                <a:latin typeface="Monaco"/>
                <a:ea typeface="Monaco"/>
                <a:cs typeface="Monaco"/>
                <a:sym typeface="Monaco"/>
              </a:rPr>
              <a:t>head</a:t>
            </a:r>
            <a:r>
              <a:t>, </a:t>
            </a:r>
            <a:r>
              <a:rPr sz="2700">
                <a:latin typeface="Monaco"/>
                <a:ea typeface="Monaco"/>
                <a:cs typeface="Monaco"/>
                <a:sym typeface="Monaco"/>
              </a:rPr>
              <a:t>tail</a:t>
            </a:r>
            <a:r>
              <a:t>, etc. in code chunks. While useful to you, distracting to your readers.</a:t>
            </a:r>
          </a:p>
          <a:p>
            <a:pPr marL="508000" indent="-508000" algn="l">
              <a:spcBef>
                <a:spcPts val="1000"/>
              </a:spcBef>
              <a:buSzPct val="171000"/>
              <a:buChar char="•"/>
              <a:defRPr sz="3200">
                <a:solidFill>
                  <a:srgbClr val="000000"/>
                </a:solidFill>
                <a:latin typeface="Franklin Gothic Medium"/>
                <a:ea typeface="Franklin Gothic Medium"/>
                <a:cs typeface="Franklin Gothic Medium"/>
                <a:sym typeface="Franklin Gothic Medium"/>
              </a:defRPr>
            </a:pPr>
            <a:r>
              <a:t>Code comments should be about the code; discussion of results should be narrative text outside of code chunks.</a:t>
            </a:r>
          </a:p>
        </p:txBody>
      </p:sp>
    </p:spTree>
  </p:cSld>
  <p:clrMapOvr>
    <a:masterClrMapping/>
  </p:clrMapOvr>
  <mc:AlternateContent xmlns:mc="http://schemas.openxmlformats.org/markup-compatibility/2006">
    <mc:Choice xmlns:p14="http://schemas.microsoft.com/office/powerpoint/2010/main" Requires="p14">
      <p:transition spd="slow" advClick="1" p14:dur="1500">
        <p:push dir="l"/>
      </p:transition>
    </mc:Choice>
    <mc:Fallback>
      <p:transition spd="slow">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ID="10" grpId="1" fill="hold">
                                  <p:stCondLst>
                                    <p:cond delay="0"/>
                                  </p:stCondLst>
                                  <p:iterate type="el" backwards="0">
                                    <p:tmAbs val="0"/>
                                  </p:iterate>
                                  <p:childTnLst>
                                    <p:set>
                                      <p:cBhvr>
                                        <p:cTn id="6" fill="hold"/>
                                        <p:tgtEl>
                                          <p:spTgt spid="214">
                                            <p:bg/>
                                          </p:spTgt>
                                        </p:tgtEl>
                                        <p:attrNameLst>
                                          <p:attrName>style.visibility</p:attrName>
                                        </p:attrNameLst>
                                      </p:cBhvr>
                                      <p:to>
                                        <p:strVal val="visible"/>
                                      </p:to>
                                    </p:set>
                                    <p:animEffect filter="fade" transition="in">
                                      <p:cBhvr>
                                        <p:cTn id="7" dur="1000"/>
                                        <p:tgtEl>
                                          <p:spTgt spid="214">
                                            <p:bg/>
                                          </p:spTgt>
                                        </p:tgtEl>
                                      </p:cBhvr>
                                    </p:animEffect>
                                  </p:childTnLst>
                                </p:cTn>
                              </p:par>
                              <p:par>
                                <p:cTn id="8" presetClass="entr" nodeType="withEffect" presetSubtype="0" presetID="10" grpId="1" fill="hold">
                                  <p:stCondLst>
                                    <p:cond delay="0"/>
                                  </p:stCondLst>
                                  <p:iterate type="el" backwards="0">
                                    <p:tmAbs val="0"/>
                                  </p:iterate>
                                  <p:childTnLst>
                                    <p:set>
                                      <p:cBhvr>
                                        <p:cTn id="9" fill="hold"/>
                                        <p:tgtEl>
                                          <p:spTgt spid="214">
                                            <p:txEl>
                                              <p:pRg st="0" end="0"/>
                                            </p:txEl>
                                          </p:spTgt>
                                        </p:tgtEl>
                                        <p:attrNameLst>
                                          <p:attrName>style.visibility</p:attrName>
                                        </p:attrNameLst>
                                      </p:cBhvr>
                                      <p:to>
                                        <p:strVal val="visible"/>
                                      </p:to>
                                    </p:set>
                                    <p:animEffect filter="fade" transition="in">
                                      <p:cBhvr>
                                        <p:cTn id="10" dur="1000"/>
                                        <p:tgtEl>
                                          <p:spTgt spid="214">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Class="entr" nodeType="clickEffect" presetID="10" grpId="1" fill="hold">
                                  <p:stCondLst>
                                    <p:cond delay="0"/>
                                  </p:stCondLst>
                                  <p:iterate type="el" backwards="0">
                                    <p:tmAbs val="0"/>
                                  </p:iterate>
                                  <p:childTnLst>
                                    <p:set>
                                      <p:cBhvr>
                                        <p:cTn id="14" fill="hold"/>
                                        <p:tgtEl>
                                          <p:spTgt spid="214">
                                            <p:txEl>
                                              <p:pRg st="1" end="1"/>
                                            </p:txEl>
                                          </p:spTgt>
                                        </p:tgtEl>
                                        <p:attrNameLst>
                                          <p:attrName>style.visibility</p:attrName>
                                        </p:attrNameLst>
                                      </p:cBhvr>
                                      <p:to>
                                        <p:strVal val="visible"/>
                                      </p:to>
                                    </p:set>
                                    <p:animEffect filter="fade" transition="in">
                                      <p:cBhvr>
                                        <p:cTn id="15" dur="1000"/>
                                        <p:tgtEl>
                                          <p:spTgt spid="214">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Class="entr" nodeType="clickEffect" presetID="10" grpId="1" fill="hold">
                                  <p:stCondLst>
                                    <p:cond delay="0"/>
                                  </p:stCondLst>
                                  <p:iterate type="el" backwards="0">
                                    <p:tmAbs val="0"/>
                                  </p:iterate>
                                  <p:childTnLst>
                                    <p:set>
                                      <p:cBhvr>
                                        <p:cTn id="19" fill="hold"/>
                                        <p:tgtEl>
                                          <p:spTgt spid="214">
                                            <p:txEl>
                                              <p:pRg st="2" end="2"/>
                                            </p:txEl>
                                          </p:spTgt>
                                        </p:tgtEl>
                                        <p:attrNameLst>
                                          <p:attrName>style.visibility</p:attrName>
                                        </p:attrNameLst>
                                      </p:cBhvr>
                                      <p:to>
                                        <p:strVal val="visible"/>
                                      </p:to>
                                    </p:set>
                                    <p:animEffect filter="fade" transition="in">
                                      <p:cBhvr>
                                        <p:cTn id="20" dur="1000"/>
                                        <p:tgtEl>
                                          <p:spTgt spid="214">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Class="entr" nodeType="clickEffect" presetID="10" grpId="1" fill="hold">
                                  <p:stCondLst>
                                    <p:cond delay="0"/>
                                  </p:stCondLst>
                                  <p:iterate type="el" backwards="0">
                                    <p:tmAbs val="0"/>
                                  </p:iterate>
                                  <p:childTnLst>
                                    <p:set>
                                      <p:cBhvr>
                                        <p:cTn id="24" fill="hold"/>
                                        <p:tgtEl>
                                          <p:spTgt spid="214">
                                            <p:txEl>
                                              <p:pRg st="3" end="3"/>
                                            </p:txEl>
                                          </p:spTgt>
                                        </p:tgtEl>
                                        <p:attrNameLst>
                                          <p:attrName>style.visibility</p:attrName>
                                        </p:attrNameLst>
                                      </p:cBhvr>
                                      <p:to>
                                        <p:strVal val="visible"/>
                                      </p:to>
                                    </p:set>
                                    <p:animEffect filter="fade" transition="in">
                                      <p:cBhvr>
                                        <p:cTn id="25" dur="1000"/>
                                        <p:tgtEl>
                                          <p:spTgt spid="214">
                                            <p:txEl>
                                              <p:pRg st="3" end="3"/>
                                            </p:txEl>
                                          </p:spTgt>
                                        </p:tgtEl>
                                      </p:cBhvr>
                                    </p:animEffect>
                                  </p:childTnLst>
                                </p:cTn>
                              </p:par>
                            </p:childTnLst>
                          </p:cTn>
                        </p:par>
                      </p:childTnLst>
                    </p:cTn>
                  </p:par>
                  <p:par>
                    <p:cTn id="26" fill="hold">
                      <p:stCondLst>
                        <p:cond delay="indefinite"/>
                      </p:stCondLst>
                      <p:childTnLst>
                        <p:par>
                          <p:cTn id="27" fill="hold">
                            <p:stCondLst>
                              <p:cond delay="0"/>
                            </p:stCondLst>
                            <p:childTnLst>
                              <p:par>
                                <p:cTn id="28" presetClass="entr" nodeType="clickEffect" presetID="10" grpId="1" fill="hold">
                                  <p:stCondLst>
                                    <p:cond delay="0"/>
                                  </p:stCondLst>
                                  <p:iterate type="el" backwards="0">
                                    <p:tmAbs val="0"/>
                                  </p:iterate>
                                  <p:childTnLst>
                                    <p:set>
                                      <p:cBhvr>
                                        <p:cTn id="29" fill="hold"/>
                                        <p:tgtEl>
                                          <p:spTgt spid="214">
                                            <p:txEl>
                                              <p:pRg st="4" end="4"/>
                                            </p:txEl>
                                          </p:spTgt>
                                        </p:tgtEl>
                                        <p:attrNameLst>
                                          <p:attrName>style.visibility</p:attrName>
                                        </p:attrNameLst>
                                      </p:cBhvr>
                                      <p:to>
                                        <p:strVal val="visible"/>
                                      </p:to>
                                    </p:set>
                                    <p:animEffect filter="fade" transition="in">
                                      <p:cBhvr>
                                        <p:cTn id="30" dur="1000"/>
                                        <p:tgtEl>
                                          <p:spTgt spid="214">
                                            <p:txEl>
                                              <p:pRg st="4" end="4"/>
                                            </p:txEl>
                                          </p:spTgt>
                                        </p:tgtEl>
                                      </p:cBhvr>
                                    </p:animEffect>
                                  </p:childTnLst>
                                </p:cTn>
                              </p:par>
                            </p:childTnLst>
                          </p:cTn>
                        </p:par>
                      </p:childTnLst>
                    </p:cTn>
                  </p:par>
                  <p:par>
                    <p:cTn id="31" fill="hold">
                      <p:stCondLst>
                        <p:cond delay="indefinite"/>
                      </p:stCondLst>
                      <p:childTnLst>
                        <p:par>
                          <p:cTn id="32" fill="hold">
                            <p:stCondLst>
                              <p:cond delay="0"/>
                            </p:stCondLst>
                            <p:childTnLst>
                              <p:par>
                                <p:cTn id="33" presetClass="entr" nodeType="clickEffect" presetID="10" grpId="1" fill="hold">
                                  <p:stCondLst>
                                    <p:cond delay="0"/>
                                  </p:stCondLst>
                                  <p:iterate type="el" backwards="0">
                                    <p:tmAbs val="0"/>
                                  </p:iterate>
                                  <p:childTnLst>
                                    <p:set>
                                      <p:cBhvr>
                                        <p:cTn id="34" fill="hold"/>
                                        <p:tgtEl>
                                          <p:spTgt spid="214">
                                            <p:txEl>
                                              <p:pRg st="5" end="5"/>
                                            </p:txEl>
                                          </p:spTgt>
                                        </p:tgtEl>
                                        <p:attrNameLst>
                                          <p:attrName>style.visibility</p:attrName>
                                        </p:attrNameLst>
                                      </p:cBhvr>
                                      <p:to>
                                        <p:strVal val="visible"/>
                                      </p:to>
                                    </p:set>
                                    <p:animEffect filter="fade" transition="in">
                                      <p:cBhvr>
                                        <p:cTn id="35" dur="1000"/>
                                        <p:tgtEl>
                                          <p:spTgt spid="214">
                                            <p:txEl>
                                              <p:pRg st="5" end="5"/>
                                            </p:txEl>
                                          </p:spTgt>
                                        </p:tgtEl>
                                      </p:cBhvr>
                                    </p:animEffect>
                                  </p:childTnLst>
                                </p:cTn>
                              </p:par>
                            </p:childTnLst>
                          </p:cTn>
                        </p:par>
                      </p:childTnLst>
                    </p:cTn>
                  </p:par>
                  <p:par>
                    <p:cTn id="36" fill="hold">
                      <p:stCondLst>
                        <p:cond delay="indefinite"/>
                      </p:stCondLst>
                      <p:childTnLst>
                        <p:par>
                          <p:cTn id="37" fill="hold">
                            <p:stCondLst>
                              <p:cond delay="0"/>
                            </p:stCondLst>
                            <p:childTnLst>
                              <p:par>
                                <p:cTn id="38" presetClass="entr" nodeType="clickEffect" presetID="10" grpId="1" fill="hold">
                                  <p:stCondLst>
                                    <p:cond delay="0"/>
                                  </p:stCondLst>
                                  <p:iterate type="el" backwards="0">
                                    <p:tmAbs val="0"/>
                                  </p:iterate>
                                  <p:childTnLst>
                                    <p:set>
                                      <p:cBhvr>
                                        <p:cTn id="39" fill="hold"/>
                                        <p:tgtEl>
                                          <p:spTgt spid="214">
                                            <p:txEl>
                                              <p:pRg st="6" end="6"/>
                                            </p:txEl>
                                          </p:spTgt>
                                        </p:tgtEl>
                                        <p:attrNameLst>
                                          <p:attrName>style.visibility</p:attrName>
                                        </p:attrNameLst>
                                      </p:cBhvr>
                                      <p:to>
                                        <p:strVal val="visible"/>
                                      </p:to>
                                    </p:set>
                                    <p:animEffect filter="fade" transition="in">
                                      <p:cBhvr>
                                        <p:cTn id="40" dur="1000"/>
                                        <p:tgtEl>
                                          <p:spTgt spid="214">
                                            <p:txEl>
                                              <p:pRg st="6" end="6"/>
                                            </p:txEl>
                                          </p:spTgt>
                                        </p:tgtEl>
                                      </p:cBhvr>
                                    </p:animEffect>
                                  </p:childTnLst>
                                </p:cTn>
                              </p:par>
                            </p:childTnLst>
                          </p:cTn>
                        </p:par>
                      </p:childTnLst>
                    </p:cTn>
                  </p:par>
                  <p:par>
                    <p:cTn id="41" fill="hold">
                      <p:stCondLst>
                        <p:cond delay="indefinite"/>
                      </p:stCondLst>
                      <p:childTnLst>
                        <p:par>
                          <p:cTn id="42" fill="hold">
                            <p:stCondLst>
                              <p:cond delay="0"/>
                            </p:stCondLst>
                            <p:childTnLst>
                              <p:par>
                                <p:cTn id="43" presetClass="entr" nodeType="clickEffect" presetID="10" grpId="1" fill="hold">
                                  <p:stCondLst>
                                    <p:cond delay="0"/>
                                  </p:stCondLst>
                                  <p:iterate type="el" backwards="0">
                                    <p:tmAbs val="0"/>
                                  </p:iterate>
                                  <p:childTnLst>
                                    <p:set>
                                      <p:cBhvr>
                                        <p:cTn id="44" fill="hold"/>
                                        <p:tgtEl>
                                          <p:spTgt spid="214">
                                            <p:txEl>
                                              <p:pRg st="7" end="7"/>
                                            </p:txEl>
                                          </p:spTgt>
                                        </p:tgtEl>
                                        <p:attrNameLst>
                                          <p:attrName>style.visibility</p:attrName>
                                        </p:attrNameLst>
                                      </p:cBhvr>
                                      <p:to>
                                        <p:strVal val="visible"/>
                                      </p:to>
                                    </p:set>
                                    <p:animEffect filter="fade" transition="in">
                                      <p:cBhvr>
                                        <p:cTn id="45" dur="1000"/>
                                        <p:tgtEl>
                                          <p:spTgt spid="214">
                                            <p:txEl>
                                              <p:pRg st="7" end="7"/>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p" bldLvl="5" animBg="1" rev="0" advAuto="0" spid="214" grpId="1"/>
    </p:bldLst>
  </p:timing>
</p:sld>
</file>

<file path=ppt/slides/slide2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16" name="Slide Number"/>
          <p:cNvSpPr txBox="1"/>
          <p:nvPr>
            <p:ph type="sldNum" sz="quarter" idx="2"/>
          </p:nvPr>
        </p:nvSpPr>
        <p:spPr>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217" name="Label Names"/>
          <p:cNvSpPr txBox="1"/>
          <p:nvPr>
            <p:ph type="title"/>
          </p:nvPr>
        </p:nvSpPr>
        <p:spPr>
          <a:prstGeom prst="rect">
            <a:avLst/>
          </a:prstGeom>
        </p:spPr>
        <p:txBody>
          <a:bodyPr/>
          <a:lstStyle/>
          <a:p>
            <a:pPr/>
            <a:r>
              <a:t>Label Names</a:t>
            </a:r>
          </a:p>
        </p:txBody>
      </p:sp>
      <p:sp>
        <p:nvSpPr>
          <p:cNvPr id="218" name="When you go to name items such as code chunks, plots, tables, equations, etc. in Quarto using the label tag (#| label: name), you need to make sure that you follow good naming rules."/>
          <p:cNvSpPr txBox="1"/>
          <p:nvPr/>
        </p:nvSpPr>
        <p:spPr>
          <a:xfrm>
            <a:off x="124364" y="938184"/>
            <a:ext cx="12756072" cy="1476432"/>
          </a:xfrm>
          <a:prstGeom prst="rect">
            <a:avLst/>
          </a:prstGeom>
          <a:ln w="3175">
            <a:miter lim="400000"/>
          </a:ln>
          <a:extLst>
            <a:ext uri="{C572A759-6A51-4108-AA02-DFA0A04FC94B}">
              <ma14:wrappingTextBoxFlag xmlns:ma14="http://schemas.microsoft.com/office/mac/drawingml/2011/main" val="1"/>
            </a:ext>
          </a:extLst>
        </p:spPr>
        <p:txBody>
          <a:bodyPr wrap="none" lIns="38100" tIns="38100" rIns="38100" bIns="38100" anchor="ctr">
            <a:spAutoFit/>
          </a:bodyPr>
          <a:lstStyle/>
          <a:p>
            <a:pPr algn="l">
              <a:defRPr sz="3200">
                <a:solidFill>
                  <a:srgbClr val="000004"/>
                </a:solidFill>
                <a:latin typeface="Franklin Gothic Medium"/>
                <a:ea typeface="Franklin Gothic Medium"/>
                <a:cs typeface="Franklin Gothic Medium"/>
                <a:sym typeface="Franklin Gothic Medium"/>
              </a:defRPr>
            </a:pPr>
            <a:r>
              <a:t>When you go to name items such as code chunks, plots, tables, equations, etc. in Quarto using the label tag (</a:t>
            </a:r>
            <a:r>
              <a:rPr sz="2700">
                <a:solidFill>
                  <a:srgbClr val="BA3EB3"/>
                </a:solidFill>
                <a:latin typeface="Monaco"/>
                <a:ea typeface="Monaco"/>
                <a:cs typeface="Monaco"/>
                <a:sym typeface="Monaco"/>
              </a:rPr>
              <a:t>#| label: name</a:t>
            </a:r>
            <a:r>
              <a:t>), you need to make sure that you follow good naming rules.</a:t>
            </a:r>
          </a:p>
        </p:txBody>
      </p:sp>
      <p:sp>
        <p:nvSpPr>
          <p:cNvPr id="219" name="If you plan to use cross-referencing, you MUST begin the name with the appropriate reserved keyword and hyphen (fig-, tbl-, eq-, etc.).…"/>
          <p:cNvSpPr txBox="1"/>
          <p:nvPr/>
        </p:nvSpPr>
        <p:spPr>
          <a:xfrm>
            <a:off x="124363" y="2718499"/>
            <a:ext cx="12756073" cy="3333863"/>
          </a:xfrm>
          <a:prstGeom prst="rect">
            <a:avLst/>
          </a:prstGeom>
          <a:ln w="3175">
            <a:miter lim="400000"/>
          </a:ln>
          <a:extLst>
            <a:ext uri="{C572A759-6A51-4108-AA02-DFA0A04FC94B}">
              <ma14:wrappingTextBoxFlag xmlns:ma14="http://schemas.microsoft.com/office/mac/drawingml/2011/main" val="1"/>
            </a:ext>
          </a:extLst>
        </p:spPr>
        <p:txBody>
          <a:bodyPr lIns="38100" tIns="38100" rIns="38100" bIns="38100" anchor="ctr">
            <a:spAutoFit/>
          </a:bodyPr>
          <a:lstStyle/>
          <a:p>
            <a:pPr marL="564444" indent="-564444" algn="l">
              <a:buSzPct val="100000"/>
              <a:buAutoNum type="arabicPeriod" startAt="1"/>
              <a:defRPr sz="3200">
                <a:solidFill>
                  <a:srgbClr val="000004"/>
                </a:solidFill>
                <a:latin typeface="Franklin Gothic Medium"/>
                <a:ea typeface="Franklin Gothic Medium"/>
                <a:cs typeface="Franklin Gothic Medium"/>
                <a:sym typeface="Franklin Gothic Medium"/>
              </a:defRPr>
            </a:pPr>
            <a:r>
              <a:t>If you plan to use cross-referencing, you MUST begin the name with the appropriate reserved keyword and hyphen (</a:t>
            </a:r>
            <a:r>
              <a:rPr sz="2700">
                <a:solidFill>
                  <a:srgbClr val="008900"/>
                </a:solidFill>
                <a:latin typeface="Monaco"/>
                <a:ea typeface="Monaco"/>
                <a:cs typeface="Monaco"/>
                <a:sym typeface="Monaco"/>
              </a:rPr>
              <a:t>fig-</a:t>
            </a:r>
            <a:r>
              <a:t>, </a:t>
            </a:r>
            <a:r>
              <a:rPr sz="2700">
                <a:solidFill>
                  <a:srgbClr val="1D2FEB"/>
                </a:solidFill>
                <a:latin typeface="Monaco"/>
                <a:ea typeface="Monaco"/>
                <a:cs typeface="Monaco"/>
                <a:sym typeface="Monaco"/>
              </a:rPr>
              <a:t>tbl-</a:t>
            </a:r>
            <a:r>
              <a:t>, </a:t>
            </a:r>
            <a:r>
              <a:rPr sz="2700">
                <a:solidFill>
                  <a:srgbClr val="008900"/>
                </a:solidFill>
                <a:latin typeface="Monaco"/>
                <a:ea typeface="Monaco"/>
                <a:cs typeface="Monaco"/>
                <a:sym typeface="Monaco"/>
              </a:rPr>
              <a:t>eq-</a:t>
            </a:r>
            <a:r>
              <a:t>, etc.).</a:t>
            </a:r>
          </a:p>
          <a:p>
            <a:pPr marL="564444" indent="-564444" algn="l">
              <a:buSzPct val="100000"/>
              <a:buAutoNum type="arabicPeriod" startAt="1"/>
              <a:defRPr sz="3200">
                <a:solidFill>
                  <a:srgbClr val="000004"/>
                </a:solidFill>
                <a:latin typeface="Franklin Gothic Medium"/>
                <a:ea typeface="Franklin Gothic Medium"/>
                <a:cs typeface="Franklin Gothic Medium"/>
                <a:sym typeface="Franklin Gothic Medium"/>
              </a:defRPr>
            </a:pPr>
            <a:r>
              <a:t>All names must be unique.</a:t>
            </a:r>
          </a:p>
          <a:p>
            <a:pPr marL="564444" indent="-564444" algn="l">
              <a:buSzPct val="100000"/>
              <a:buAutoNum type="arabicPeriod" startAt="1"/>
              <a:defRPr sz="3200">
                <a:solidFill>
                  <a:srgbClr val="000004"/>
                </a:solidFill>
                <a:latin typeface="Franklin Gothic Medium"/>
                <a:ea typeface="Franklin Gothic Medium"/>
                <a:cs typeface="Franklin Gothic Medium"/>
                <a:sym typeface="Franklin Gothic Medium"/>
              </a:defRPr>
            </a:pPr>
            <a:r>
              <a:t>Follow a more restrictive version of R's naming rules.</a:t>
            </a:r>
          </a:p>
          <a:p>
            <a:pPr lvl="1" marL="1199444" indent="-564444" algn="l">
              <a:buSzPct val="100000"/>
              <a:buAutoNum type="arabicPeriod" startAt="1"/>
              <a:defRPr sz="3200">
                <a:solidFill>
                  <a:srgbClr val="000004"/>
                </a:solidFill>
                <a:latin typeface="Franklin Gothic Medium"/>
                <a:ea typeface="Franklin Gothic Medium"/>
                <a:cs typeface="Franklin Gothic Medium"/>
                <a:sym typeface="Franklin Gothic Medium"/>
              </a:defRPr>
            </a:pPr>
            <a:r>
              <a:t>No special characters other than the hyphen (</a:t>
            </a:r>
            <a:r>
              <a:rPr sz="2700">
                <a:latin typeface="Monaco"/>
                <a:ea typeface="Monaco"/>
                <a:cs typeface="Monaco"/>
                <a:sym typeface="Monaco"/>
              </a:rPr>
              <a:t>-</a:t>
            </a:r>
            <a:r>
              <a:t>).</a:t>
            </a:r>
          </a:p>
          <a:p>
            <a:pPr lvl="1" marL="1199444" indent="-564444" algn="l">
              <a:buSzPct val="100000"/>
              <a:buAutoNum type="arabicPeriod" startAt="1"/>
              <a:defRPr sz="3200">
                <a:solidFill>
                  <a:srgbClr val="000004"/>
                </a:solidFill>
                <a:latin typeface="Franklin Gothic Medium"/>
                <a:ea typeface="Franklin Gothic Medium"/>
                <a:cs typeface="Franklin Gothic Medium"/>
                <a:sym typeface="Franklin Gothic Medium"/>
              </a:defRPr>
            </a:pPr>
            <a:r>
              <a:t>No starting/leading numerals.</a:t>
            </a:r>
          </a:p>
          <a:p>
            <a:pPr lvl="1" marL="1199444" indent="-564444" algn="l">
              <a:buSzPct val="100000"/>
              <a:buAutoNum type="arabicPeriod" startAt="1"/>
              <a:defRPr sz="3200">
                <a:solidFill>
                  <a:srgbClr val="000004"/>
                </a:solidFill>
                <a:latin typeface="Franklin Gothic Medium"/>
                <a:ea typeface="Franklin Gothic Medium"/>
                <a:cs typeface="Franklin Gothic Medium"/>
                <a:sym typeface="Franklin Gothic Medium"/>
              </a:defRPr>
            </a:pPr>
            <a:r>
              <a:t>No spaces.</a:t>
            </a:r>
          </a:p>
        </p:txBody>
      </p:sp>
      <p:sp>
        <p:nvSpPr>
          <p:cNvPr id="220" name="While it might look like you can put spaces, underscores, and periods in the name, you are actually inviting disaster to creep up on you when you least expect it."/>
          <p:cNvSpPr txBox="1"/>
          <p:nvPr/>
        </p:nvSpPr>
        <p:spPr>
          <a:xfrm>
            <a:off x="162619" y="6356245"/>
            <a:ext cx="12679562" cy="1447801"/>
          </a:xfrm>
          <a:prstGeom prst="rect">
            <a:avLst/>
          </a:prstGeom>
          <a:ln w="3175">
            <a:miter lim="400000"/>
          </a:ln>
          <a:extLst>
            <a:ext uri="{C572A759-6A51-4108-AA02-DFA0A04FC94B}">
              <ma14:wrappingTextBoxFlag xmlns:ma14="http://schemas.microsoft.com/office/mac/drawingml/2011/main" val="1"/>
            </a:ext>
          </a:extLst>
        </p:spPr>
        <p:txBody>
          <a:bodyPr wrap="none" lIns="38100" tIns="38100" rIns="38100" bIns="38100" anchor="ctr">
            <a:spAutoFit/>
          </a:bodyPr>
          <a:lstStyle>
            <a:lvl1pPr algn="l">
              <a:defRPr sz="3200">
                <a:solidFill>
                  <a:srgbClr val="000004"/>
                </a:solidFill>
                <a:latin typeface="Franklin Gothic Medium"/>
                <a:ea typeface="Franklin Gothic Medium"/>
                <a:cs typeface="Franklin Gothic Medium"/>
                <a:sym typeface="Franklin Gothic Medium"/>
              </a:defRPr>
            </a:lvl1pPr>
          </a:lstStyle>
          <a:p>
            <a:pPr/>
            <a:r>
              <a:t>While it might look like you can put spaces, underscores, and periods in the name, you are actually inviting disaster to creep up on you when you least expect it.</a:t>
            </a:r>
          </a:p>
        </p:txBody>
      </p:sp>
      <p:sp>
        <p:nvSpPr>
          <p:cNvPr id="221" name="At best, the rendering process will run and ignore your labels, breaking any cross-referencing; at worst, rendering will stop and throw errors."/>
          <p:cNvSpPr txBox="1"/>
          <p:nvPr/>
        </p:nvSpPr>
        <p:spPr>
          <a:xfrm>
            <a:off x="152399" y="7963693"/>
            <a:ext cx="12407108" cy="990601"/>
          </a:xfrm>
          <a:prstGeom prst="rect">
            <a:avLst/>
          </a:prstGeom>
          <a:ln w="3175">
            <a:miter lim="400000"/>
          </a:ln>
          <a:extLst>
            <a:ext uri="{C572A759-6A51-4108-AA02-DFA0A04FC94B}">
              <ma14:wrappingTextBoxFlag xmlns:ma14="http://schemas.microsoft.com/office/mac/drawingml/2011/main" val="1"/>
            </a:ext>
          </a:extLst>
        </p:spPr>
        <p:txBody>
          <a:bodyPr wrap="none" lIns="38100" tIns="38100" rIns="38100" bIns="38100" anchor="ctr">
            <a:spAutoFit/>
          </a:bodyPr>
          <a:lstStyle>
            <a:lvl1pPr algn="l">
              <a:defRPr sz="3200">
                <a:solidFill>
                  <a:srgbClr val="000004"/>
                </a:solidFill>
                <a:latin typeface="Franklin Gothic Medium"/>
                <a:ea typeface="Franklin Gothic Medium"/>
                <a:cs typeface="Franklin Gothic Medium"/>
                <a:sym typeface="Franklin Gothic Medium"/>
              </a:defRPr>
            </a:lvl1pPr>
          </a:lstStyle>
          <a:p>
            <a:pPr/>
            <a:r>
              <a:t>At best, the rendering process will run and ignore your labels, breaking any cross-referencing; at worst, rendering will stop and throw errors.</a:t>
            </a:r>
          </a:p>
        </p:txBody>
      </p:sp>
    </p:spTree>
  </p:cSld>
  <p:clrMapOvr>
    <a:masterClrMapping/>
  </p:clrMapOvr>
  <mc:AlternateContent xmlns:mc="http://schemas.openxmlformats.org/markup-compatibility/2006">
    <mc:Choice xmlns:p14="http://schemas.microsoft.com/office/powerpoint/2010/main" Requires="p14">
      <p:transition spd="slow" advClick="1" p14:dur="1500">
        <p:fade/>
      </p:transition>
    </mc:Choice>
    <mc:Fallback>
      <p:transition spd="slow">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ID="10" grpId="1" fill="hold">
                                  <p:stCondLst>
                                    <p:cond delay="0"/>
                                  </p:stCondLst>
                                  <p:iterate type="el" backwards="0">
                                    <p:tmAbs val="0"/>
                                  </p:iterate>
                                  <p:childTnLst>
                                    <p:set>
                                      <p:cBhvr>
                                        <p:cTn id="6" fill="hold"/>
                                        <p:tgtEl>
                                          <p:spTgt spid="219">
                                            <p:bg/>
                                          </p:spTgt>
                                        </p:tgtEl>
                                        <p:attrNameLst>
                                          <p:attrName>style.visibility</p:attrName>
                                        </p:attrNameLst>
                                      </p:cBhvr>
                                      <p:to>
                                        <p:strVal val="visible"/>
                                      </p:to>
                                    </p:set>
                                    <p:animEffect filter="fade" transition="in">
                                      <p:cBhvr>
                                        <p:cTn id="7" dur="1000"/>
                                        <p:tgtEl>
                                          <p:spTgt spid="219">
                                            <p:bg/>
                                          </p:spTgt>
                                        </p:tgtEl>
                                      </p:cBhvr>
                                    </p:animEffect>
                                  </p:childTnLst>
                                </p:cTn>
                              </p:par>
                              <p:par>
                                <p:cTn id="8" presetClass="entr" nodeType="withEffect" presetSubtype="0" presetID="10" grpId="1" fill="hold">
                                  <p:stCondLst>
                                    <p:cond delay="0"/>
                                  </p:stCondLst>
                                  <p:iterate type="el" backwards="0">
                                    <p:tmAbs val="0"/>
                                  </p:iterate>
                                  <p:childTnLst>
                                    <p:set>
                                      <p:cBhvr>
                                        <p:cTn id="9" fill="hold"/>
                                        <p:tgtEl>
                                          <p:spTgt spid="219">
                                            <p:txEl>
                                              <p:pRg st="0" end="0"/>
                                            </p:txEl>
                                          </p:spTgt>
                                        </p:tgtEl>
                                        <p:attrNameLst>
                                          <p:attrName>style.visibility</p:attrName>
                                        </p:attrNameLst>
                                      </p:cBhvr>
                                      <p:to>
                                        <p:strVal val="visible"/>
                                      </p:to>
                                    </p:set>
                                    <p:animEffect filter="fade" transition="in">
                                      <p:cBhvr>
                                        <p:cTn id="10" dur="1000"/>
                                        <p:tgtEl>
                                          <p:spTgt spid="219">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Class="entr" nodeType="clickEffect" presetID="10" grpId="1" fill="hold">
                                  <p:stCondLst>
                                    <p:cond delay="0"/>
                                  </p:stCondLst>
                                  <p:iterate type="el" backwards="0">
                                    <p:tmAbs val="0"/>
                                  </p:iterate>
                                  <p:childTnLst>
                                    <p:set>
                                      <p:cBhvr>
                                        <p:cTn id="14" fill="hold"/>
                                        <p:tgtEl>
                                          <p:spTgt spid="219">
                                            <p:txEl>
                                              <p:pRg st="1" end="1"/>
                                            </p:txEl>
                                          </p:spTgt>
                                        </p:tgtEl>
                                        <p:attrNameLst>
                                          <p:attrName>style.visibility</p:attrName>
                                        </p:attrNameLst>
                                      </p:cBhvr>
                                      <p:to>
                                        <p:strVal val="visible"/>
                                      </p:to>
                                    </p:set>
                                    <p:animEffect filter="fade" transition="in">
                                      <p:cBhvr>
                                        <p:cTn id="15" dur="1000"/>
                                        <p:tgtEl>
                                          <p:spTgt spid="219">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Class="entr" nodeType="clickEffect" presetID="10" grpId="1" fill="hold">
                                  <p:stCondLst>
                                    <p:cond delay="0"/>
                                  </p:stCondLst>
                                  <p:iterate type="el" backwards="0">
                                    <p:tmAbs val="0"/>
                                  </p:iterate>
                                  <p:childTnLst>
                                    <p:set>
                                      <p:cBhvr>
                                        <p:cTn id="19" fill="hold"/>
                                        <p:tgtEl>
                                          <p:spTgt spid="219">
                                            <p:txEl>
                                              <p:pRg st="2" end="2"/>
                                            </p:txEl>
                                          </p:spTgt>
                                        </p:tgtEl>
                                        <p:attrNameLst>
                                          <p:attrName>style.visibility</p:attrName>
                                        </p:attrNameLst>
                                      </p:cBhvr>
                                      <p:to>
                                        <p:strVal val="visible"/>
                                      </p:to>
                                    </p:set>
                                    <p:animEffect filter="fade" transition="in">
                                      <p:cBhvr>
                                        <p:cTn id="20" dur="1000"/>
                                        <p:tgtEl>
                                          <p:spTgt spid="219">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Class="entr" nodeType="clickEffect" presetID="10" grpId="1" fill="hold">
                                  <p:stCondLst>
                                    <p:cond delay="0"/>
                                  </p:stCondLst>
                                  <p:iterate type="el" backwards="0">
                                    <p:tmAbs val="0"/>
                                  </p:iterate>
                                  <p:childTnLst>
                                    <p:set>
                                      <p:cBhvr>
                                        <p:cTn id="24" fill="hold"/>
                                        <p:tgtEl>
                                          <p:spTgt spid="219">
                                            <p:txEl>
                                              <p:pRg st="3" end="3"/>
                                            </p:txEl>
                                          </p:spTgt>
                                        </p:tgtEl>
                                        <p:attrNameLst>
                                          <p:attrName>style.visibility</p:attrName>
                                        </p:attrNameLst>
                                      </p:cBhvr>
                                      <p:to>
                                        <p:strVal val="visible"/>
                                      </p:to>
                                    </p:set>
                                    <p:animEffect filter="fade" transition="in">
                                      <p:cBhvr>
                                        <p:cTn id="25" dur="1000"/>
                                        <p:tgtEl>
                                          <p:spTgt spid="219">
                                            <p:txEl>
                                              <p:pRg st="3" end="3"/>
                                            </p:txEl>
                                          </p:spTgt>
                                        </p:tgtEl>
                                      </p:cBhvr>
                                    </p:animEffect>
                                  </p:childTnLst>
                                </p:cTn>
                              </p:par>
                            </p:childTnLst>
                          </p:cTn>
                        </p:par>
                        <p:par>
                          <p:cTn id="26" fill="hold">
                            <p:stCondLst>
                              <p:cond delay="1000"/>
                            </p:stCondLst>
                            <p:childTnLst>
                              <p:par>
                                <p:cTn id="27" presetClass="entr" nodeType="afterEffect" presetID="10" grpId="1" fill="hold">
                                  <p:stCondLst>
                                    <p:cond delay="0"/>
                                  </p:stCondLst>
                                  <p:iterate type="el" backwards="0">
                                    <p:tmAbs val="0"/>
                                  </p:iterate>
                                  <p:childTnLst>
                                    <p:set>
                                      <p:cBhvr>
                                        <p:cTn id="28" fill="hold"/>
                                        <p:tgtEl>
                                          <p:spTgt spid="219">
                                            <p:txEl>
                                              <p:pRg st="4" end="4"/>
                                            </p:txEl>
                                          </p:spTgt>
                                        </p:tgtEl>
                                        <p:attrNameLst>
                                          <p:attrName>style.visibility</p:attrName>
                                        </p:attrNameLst>
                                      </p:cBhvr>
                                      <p:to>
                                        <p:strVal val="visible"/>
                                      </p:to>
                                    </p:set>
                                    <p:animEffect filter="fade" transition="in">
                                      <p:cBhvr>
                                        <p:cTn id="29" dur="1000"/>
                                        <p:tgtEl>
                                          <p:spTgt spid="219">
                                            <p:txEl>
                                              <p:pRg st="4" end="4"/>
                                            </p:txEl>
                                          </p:spTgt>
                                        </p:tgtEl>
                                      </p:cBhvr>
                                    </p:animEffect>
                                  </p:childTnLst>
                                </p:cTn>
                              </p:par>
                            </p:childTnLst>
                          </p:cTn>
                        </p:par>
                        <p:par>
                          <p:cTn id="30" fill="hold">
                            <p:stCondLst>
                              <p:cond delay="2000"/>
                            </p:stCondLst>
                            <p:childTnLst>
                              <p:par>
                                <p:cTn id="31" presetClass="entr" nodeType="afterEffect" presetID="10" grpId="1" fill="hold">
                                  <p:stCondLst>
                                    <p:cond delay="0"/>
                                  </p:stCondLst>
                                  <p:iterate type="el" backwards="0">
                                    <p:tmAbs val="0"/>
                                  </p:iterate>
                                  <p:childTnLst>
                                    <p:set>
                                      <p:cBhvr>
                                        <p:cTn id="32" fill="hold"/>
                                        <p:tgtEl>
                                          <p:spTgt spid="219">
                                            <p:txEl>
                                              <p:pRg st="5" end="5"/>
                                            </p:txEl>
                                          </p:spTgt>
                                        </p:tgtEl>
                                        <p:attrNameLst>
                                          <p:attrName>style.visibility</p:attrName>
                                        </p:attrNameLst>
                                      </p:cBhvr>
                                      <p:to>
                                        <p:strVal val="visible"/>
                                      </p:to>
                                    </p:set>
                                    <p:animEffect filter="fade" transition="in">
                                      <p:cBhvr>
                                        <p:cTn id="33" dur="1000"/>
                                        <p:tgtEl>
                                          <p:spTgt spid="219">
                                            <p:txEl>
                                              <p:pRg st="5" end="5"/>
                                            </p:txEl>
                                          </p:spTgt>
                                        </p:tgtEl>
                                      </p:cBhvr>
                                    </p:animEffect>
                                  </p:childTnLst>
                                </p:cTn>
                              </p:par>
                            </p:childTnLst>
                          </p:cTn>
                        </p:par>
                      </p:childTnLst>
                    </p:cTn>
                  </p:par>
                  <p:par>
                    <p:cTn id="34" fill="hold">
                      <p:stCondLst>
                        <p:cond delay="indefinite"/>
                      </p:stCondLst>
                      <p:childTnLst>
                        <p:par>
                          <p:cTn id="35" fill="hold">
                            <p:stCondLst>
                              <p:cond delay="0"/>
                            </p:stCondLst>
                            <p:childTnLst>
                              <p:par>
                                <p:cTn id="36" presetClass="entr" nodeType="clickEffect" presetID="10" grpId="2" fill="hold">
                                  <p:stCondLst>
                                    <p:cond delay="0"/>
                                  </p:stCondLst>
                                  <p:iterate type="el" backwards="0">
                                    <p:tmAbs val="0"/>
                                  </p:iterate>
                                  <p:childTnLst>
                                    <p:set>
                                      <p:cBhvr>
                                        <p:cTn id="37" fill="hold"/>
                                        <p:tgtEl>
                                          <p:spTgt spid="220"/>
                                        </p:tgtEl>
                                        <p:attrNameLst>
                                          <p:attrName>style.visibility</p:attrName>
                                        </p:attrNameLst>
                                      </p:cBhvr>
                                      <p:to>
                                        <p:strVal val="visible"/>
                                      </p:to>
                                    </p:set>
                                    <p:animEffect filter="fade" transition="in">
                                      <p:cBhvr>
                                        <p:cTn id="38" dur="1000"/>
                                        <p:tgtEl>
                                          <p:spTgt spid="220"/>
                                        </p:tgtEl>
                                      </p:cBhvr>
                                    </p:animEffect>
                                  </p:childTnLst>
                                </p:cTn>
                              </p:par>
                            </p:childTnLst>
                          </p:cTn>
                        </p:par>
                      </p:childTnLst>
                    </p:cTn>
                  </p:par>
                  <p:par>
                    <p:cTn id="39" fill="hold">
                      <p:stCondLst>
                        <p:cond delay="indefinite"/>
                      </p:stCondLst>
                      <p:childTnLst>
                        <p:par>
                          <p:cTn id="40" fill="hold">
                            <p:stCondLst>
                              <p:cond delay="0"/>
                            </p:stCondLst>
                            <p:childTnLst>
                              <p:par>
                                <p:cTn id="41" presetClass="entr" nodeType="clickEffect" presetID="10" grpId="3" fill="hold">
                                  <p:stCondLst>
                                    <p:cond delay="0"/>
                                  </p:stCondLst>
                                  <p:iterate type="el" backwards="0">
                                    <p:tmAbs val="0"/>
                                  </p:iterate>
                                  <p:childTnLst>
                                    <p:set>
                                      <p:cBhvr>
                                        <p:cTn id="42" fill="hold"/>
                                        <p:tgtEl>
                                          <p:spTgt spid="221"/>
                                        </p:tgtEl>
                                        <p:attrNameLst>
                                          <p:attrName>style.visibility</p:attrName>
                                        </p:attrNameLst>
                                      </p:cBhvr>
                                      <p:to>
                                        <p:strVal val="visible"/>
                                      </p:to>
                                    </p:set>
                                    <p:animEffect filter="fade" transition="in">
                                      <p:cBhvr>
                                        <p:cTn id="43" dur="1000"/>
                                        <p:tgtEl>
                                          <p:spTgt spid="22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p" bldLvl="5" animBg="1" rev="0" advAuto="0" spid="219" grpId="1"/>
      <p:bldP build="whole" bldLvl="1" animBg="1" rev="0" advAuto="0" spid="220" grpId="2"/>
      <p:bldP build="whole" bldLvl="1" animBg="1" rev="0" advAuto="0" spid="221" grpId="3"/>
    </p:bldLst>
  </p:timing>
</p:sld>
</file>

<file path=ppt/slides/slide2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23" name="Work Time"/>
          <p:cNvSpPr txBox="1"/>
          <p:nvPr>
            <p:ph type="ctrTitle"/>
          </p:nvPr>
        </p:nvSpPr>
        <p:spPr>
          <a:xfrm>
            <a:off x="3363569" y="2414058"/>
            <a:ext cx="6277661" cy="2476501"/>
          </a:xfrm>
          <a:prstGeom prst="rect">
            <a:avLst/>
          </a:prstGeom>
        </p:spPr>
        <p:txBody>
          <a:bodyPr/>
          <a:lstStyle/>
          <a:p>
            <a:pPr/>
            <a:r>
              <a:t>Work Time</a:t>
            </a:r>
          </a:p>
        </p:txBody>
      </p:sp>
      <p:sp>
        <p:nvSpPr>
          <p:cNvPr id="224" name="Slide Number"/>
          <p:cNvSpPr txBox="1"/>
          <p:nvPr>
            <p:ph type="sldNum" sz="quarter" idx="2"/>
          </p:nvPr>
        </p:nvSpPr>
        <p:spPr>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225" name="Unit 4"/>
          <p:cNvSpPr txBox="1"/>
          <p:nvPr>
            <p:ph type="subTitle" sz="quarter" idx="1"/>
          </p:nvPr>
        </p:nvSpPr>
        <p:spPr>
          <a:prstGeom prst="rect">
            <a:avLst/>
          </a:prstGeom>
        </p:spPr>
        <p:txBody>
          <a:bodyPr/>
          <a:lstStyle/>
          <a:p>
            <a:pPr/>
            <a:r>
              <a:t>Unit 4</a:t>
            </a:r>
          </a:p>
        </p:txBody>
      </p:sp>
    </p:spTree>
  </p:cSld>
  <p:clrMapOvr>
    <a:masterClrMapping/>
  </p:clrMapOvr>
  <mc:AlternateContent xmlns:mc="http://schemas.openxmlformats.org/markup-compatibility/2006">
    <mc:Choice xmlns:p14="http://schemas.microsoft.com/office/powerpoint/2010/main" Requires="p14">
      <p:transition spd="slow" advClick="1" p14:dur="1500">
        <p:fade/>
      </p:transition>
    </mc:Choice>
    <mc:Fallback>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27" name="Slide Number"/>
          <p:cNvSpPr txBox="1"/>
          <p:nvPr>
            <p:ph type="sldNum" sz="quarter" idx="2"/>
          </p:nvPr>
        </p:nvSpPr>
        <p:spPr>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228" name="Work Time for HW #4.3"/>
          <p:cNvSpPr txBox="1"/>
          <p:nvPr>
            <p:ph type="title"/>
          </p:nvPr>
        </p:nvSpPr>
        <p:spPr>
          <a:xfrm>
            <a:off x="1773844" y="-46567"/>
            <a:ext cx="9457111" cy="885826"/>
          </a:xfrm>
          <a:prstGeom prst="rect">
            <a:avLst/>
          </a:prstGeom>
        </p:spPr>
        <p:txBody>
          <a:bodyPr/>
          <a:lstStyle/>
          <a:p>
            <a:pPr/>
            <a:r>
              <a:t>Work Time for HW #4.3</a:t>
            </a:r>
          </a:p>
        </p:txBody>
      </p:sp>
      <p:sp>
        <p:nvSpPr>
          <p:cNvPr id="229" name="You have the rest of class time to work on HW #4.3. Use this time to ask clarifying questions and bounce ideas off of each other."/>
          <p:cNvSpPr txBox="1"/>
          <p:nvPr/>
        </p:nvSpPr>
        <p:spPr>
          <a:xfrm>
            <a:off x="82152" y="1273175"/>
            <a:ext cx="12697819" cy="990601"/>
          </a:xfrm>
          <a:prstGeom prst="rect">
            <a:avLst/>
          </a:prstGeom>
          <a:ln w="3175">
            <a:miter lim="400000"/>
          </a:ln>
          <a:extLst>
            <a:ext uri="{C572A759-6A51-4108-AA02-DFA0A04FC94B}">
              <ma14:wrappingTextBoxFlag xmlns:ma14="http://schemas.microsoft.com/office/mac/drawingml/2011/main" val="1"/>
            </a:ext>
          </a:extLst>
        </p:spPr>
        <p:txBody>
          <a:bodyPr wrap="none" lIns="38100" tIns="38100" rIns="38100" bIns="38100" anchor="ctr">
            <a:spAutoFit/>
          </a:bodyPr>
          <a:lstStyle>
            <a:lvl1pPr algn="l">
              <a:defRPr sz="3200">
                <a:solidFill>
                  <a:srgbClr val="000004"/>
                </a:solidFill>
                <a:latin typeface="Franklin Gothic Medium"/>
                <a:ea typeface="Franklin Gothic Medium"/>
                <a:cs typeface="Franklin Gothic Medium"/>
                <a:sym typeface="Franklin Gothic Medium"/>
              </a:defRPr>
            </a:lvl1pPr>
          </a:lstStyle>
          <a:p>
            <a:pPr/>
            <a:r>
              <a:t>You have the rest of class time to work on HW #4.3. Use this time to ask clarifying questions and bounce ideas off of each other.</a:t>
            </a:r>
          </a:p>
        </p:txBody>
      </p:sp>
      <p:sp>
        <p:nvSpPr>
          <p:cNvPr id="230" name="You may not work on anything else without explicit permission."/>
          <p:cNvSpPr txBox="1"/>
          <p:nvPr/>
        </p:nvSpPr>
        <p:spPr>
          <a:xfrm>
            <a:off x="153491" y="3355975"/>
            <a:ext cx="10973595" cy="533401"/>
          </a:xfrm>
          <a:prstGeom prst="rect">
            <a:avLst/>
          </a:prstGeom>
          <a:ln w="3175">
            <a:miter lim="400000"/>
          </a:ln>
          <a:extLst>
            <a:ext uri="{C572A759-6A51-4108-AA02-DFA0A04FC94B}">
              <ma14:wrappingTextBoxFlag xmlns:ma14="http://schemas.microsoft.com/office/mac/drawingml/2011/main" val="1"/>
            </a:ext>
          </a:extLst>
        </p:spPr>
        <p:txBody>
          <a:bodyPr wrap="none" lIns="38100" tIns="38100" rIns="38100" bIns="38100" anchor="ctr">
            <a:spAutoFit/>
          </a:bodyPr>
          <a:lstStyle>
            <a:lvl1pPr algn="l">
              <a:defRPr sz="3200">
                <a:solidFill>
                  <a:srgbClr val="000004"/>
                </a:solidFill>
                <a:latin typeface="Franklin Gothic Medium"/>
                <a:ea typeface="Franklin Gothic Medium"/>
                <a:cs typeface="Franklin Gothic Medium"/>
                <a:sym typeface="Franklin Gothic Medium"/>
              </a:defRPr>
            </a:lvl1pPr>
          </a:lstStyle>
          <a:p>
            <a:pPr/>
            <a:r>
              <a:t>You may not work on anything else without explicit permission.</a:t>
            </a:r>
          </a:p>
        </p:txBody>
      </p:sp>
    </p:spTree>
  </p:cSld>
  <p:clrMapOvr>
    <a:masterClrMapping/>
  </p:clrMapOvr>
  <mc:AlternateContent xmlns:mc="http://schemas.openxmlformats.org/markup-compatibility/2006">
    <mc:Choice xmlns:p14="http://schemas.microsoft.com/office/powerpoint/2010/main" Requires="p14">
      <p:transition spd="slow" advClick="1" p14:dur="1500">
        <p:push dir="l"/>
      </p:transition>
    </mc:Choice>
    <mc:Fallback>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32" name="Slide Number"/>
          <p:cNvSpPr txBox="1"/>
          <p:nvPr>
            <p:ph type="sldNum" sz="quarter" idx="2"/>
          </p:nvPr>
        </p:nvSpPr>
        <p:spPr>
          <a:xfrm>
            <a:off x="6345870" y="9369954"/>
            <a:ext cx="313060" cy="256506"/>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233" name="Homework"/>
          <p:cNvSpPr txBox="1"/>
          <p:nvPr>
            <p:ph type="title"/>
          </p:nvPr>
        </p:nvSpPr>
        <p:spPr>
          <a:prstGeom prst="rect">
            <a:avLst/>
          </a:prstGeom>
        </p:spPr>
        <p:txBody>
          <a:bodyPr/>
          <a:lstStyle/>
          <a:p>
            <a:pPr/>
            <a:r>
              <a:t>Homework</a:t>
            </a:r>
          </a:p>
        </p:txBody>
      </p:sp>
      <p:sp>
        <p:nvSpPr>
          <p:cNvPr id="234" name="Assignments…"/>
          <p:cNvSpPr txBox="1"/>
          <p:nvPr/>
        </p:nvSpPr>
        <p:spPr>
          <a:xfrm>
            <a:off x="280731" y="2114347"/>
            <a:ext cx="11969204" cy="2844801"/>
          </a:xfrm>
          <a:prstGeom prst="rect">
            <a:avLst/>
          </a:prstGeom>
          <a:ln w="3175">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lgn="l">
              <a:defRPr sz="3200">
                <a:solidFill>
                  <a:srgbClr val="000004"/>
                </a:solidFill>
                <a:latin typeface="Franklin Gothic Medium"/>
                <a:ea typeface="Franklin Gothic Medium"/>
                <a:cs typeface="Franklin Gothic Medium"/>
                <a:sym typeface="Franklin Gothic Medium"/>
              </a:defRPr>
            </a:pPr>
            <a:r>
              <a:t>Assignments</a:t>
            </a:r>
          </a:p>
          <a:p>
            <a:pPr marL="508000" indent="-508000" algn="l">
              <a:buSzPct val="171000"/>
              <a:buChar char="•"/>
              <a:defRPr sz="3200">
                <a:solidFill>
                  <a:srgbClr val="000004"/>
                </a:solidFill>
                <a:latin typeface="Franklin Gothic Medium"/>
                <a:ea typeface="Franklin Gothic Medium"/>
                <a:cs typeface="Franklin Gothic Medium"/>
                <a:sym typeface="Franklin Gothic Medium"/>
              </a:defRPr>
            </a:pPr>
            <a:r>
              <a:t>HW #4.3: Reproducible Data Analysis</a:t>
            </a:r>
          </a:p>
          <a:p>
            <a:pPr lvl="1" marL="1465384" indent="-703384" algn="l">
              <a:buSzPct val="171000"/>
              <a:buChar char="•"/>
              <a:defRPr sz="3200">
                <a:solidFill>
                  <a:srgbClr val="000004"/>
                </a:solidFill>
                <a:latin typeface="Franklin Gothic Medium"/>
                <a:ea typeface="Franklin Gothic Medium"/>
                <a:cs typeface="Franklin Gothic Medium"/>
                <a:sym typeface="Franklin Gothic Medium"/>
              </a:defRPr>
            </a:pPr>
            <a:r>
              <a:t>Due by 11:59pm, Monday, April 13, 2026</a:t>
            </a:r>
          </a:p>
          <a:p>
            <a:pPr lvl="1" marL="1465384" indent="-703384" algn="l">
              <a:buSzPct val="171000"/>
              <a:buChar char="•"/>
              <a:defRPr sz="3200">
                <a:solidFill>
                  <a:srgbClr val="000004"/>
                </a:solidFill>
                <a:latin typeface="Franklin Gothic Medium"/>
                <a:ea typeface="Franklin Gothic Medium"/>
                <a:cs typeface="Franklin Gothic Medium"/>
                <a:sym typeface="Franklin Gothic Medium"/>
              </a:defRPr>
            </a:pPr>
            <a:r>
              <a:t>Be sure to review the rubrics and the info questions</a:t>
            </a:r>
          </a:p>
          <a:p>
            <a:pPr lvl="1" marL="1465384" indent="-703384" algn="l">
              <a:buSzPct val="171000"/>
              <a:buChar char="•"/>
              <a:defRPr sz="3200">
                <a:solidFill>
                  <a:srgbClr val="000004"/>
                </a:solidFill>
                <a:latin typeface="Franklin Gothic Medium"/>
                <a:ea typeface="Franklin Gothic Medium"/>
                <a:cs typeface="Franklin Gothic Medium"/>
                <a:sym typeface="Franklin Gothic Medium"/>
              </a:defRPr>
            </a:pPr>
            <a:r>
              <a:t>There is a separate submission portal for uploading your rendered PDF.</a:t>
            </a:r>
          </a:p>
        </p:txBody>
      </p:sp>
    </p:spTree>
  </p:cSld>
  <p:clrMapOvr>
    <a:masterClrMapping/>
  </p:clrMapOvr>
  <mc:AlternateContent xmlns:mc="http://schemas.openxmlformats.org/markup-compatibility/2006">
    <mc:Choice xmlns:p14="http://schemas.microsoft.com/office/powerpoint/2010/main" Requires="p14">
      <p:transition spd="slow" advClick="1" p14:dur="1500">
        <p:fade/>
      </p:transition>
    </mc:Choice>
    <mc:Fallback>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36" name="Plan for the Day"/>
          <p:cNvSpPr txBox="1"/>
          <p:nvPr>
            <p:ph type="title"/>
          </p:nvPr>
        </p:nvSpPr>
        <p:spPr>
          <a:prstGeom prst="rect">
            <a:avLst/>
          </a:prstGeom>
        </p:spPr>
        <p:txBody>
          <a:bodyPr/>
          <a:lstStyle/>
          <a:p>
            <a:pPr/>
            <a:r>
              <a:t>Plan for the Day</a:t>
            </a:r>
          </a:p>
        </p:txBody>
      </p:sp>
      <p:sp>
        <p:nvSpPr>
          <p:cNvPr id="237" name="Slide Number"/>
          <p:cNvSpPr txBox="1"/>
          <p:nvPr>
            <p:ph type="sldNum" sz="quarter" idx="2"/>
          </p:nvPr>
        </p:nvSpPr>
        <p:spPr>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238" name="Goals"/>
          <p:cNvSpPr txBox="1"/>
          <p:nvPr/>
        </p:nvSpPr>
        <p:spPr>
          <a:xfrm>
            <a:off x="101599" y="698500"/>
            <a:ext cx="1068389" cy="533401"/>
          </a:xfrm>
          <a:prstGeom prst="rect">
            <a:avLst/>
          </a:prstGeom>
          <a:ln w="3175">
            <a:miter lim="400000"/>
          </a:ln>
          <a:extLst>
            <a:ext uri="{C572A759-6A51-4108-AA02-DFA0A04FC94B}">
              <ma14:wrappingTextBoxFlag xmlns:ma14="http://schemas.microsoft.com/office/mac/drawingml/2011/main" val="1"/>
            </a:ext>
          </a:extLst>
        </p:spPr>
        <p:txBody>
          <a:bodyPr wrap="none" lIns="38100" tIns="38100" rIns="38100" bIns="38100" anchor="ctr">
            <a:spAutoFit/>
          </a:bodyPr>
          <a:lstStyle>
            <a:lvl1pPr algn="l">
              <a:defRPr sz="3200">
                <a:solidFill>
                  <a:srgbClr val="008900"/>
                </a:solidFill>
                <a:latin typeface="Franklin Gothic Medium"/>
                <a:ea typeface="Franklin Gothic Medium"/>
                <a:cs typeface="Franklin Gothic Medium"/>
                <a:sym typeface="Franklin Gothic Medium"/>
              </a:defRPr>
            </a:lvl1pPr>
          </a:lstStyle>
          <a:p>
            <a:pPr/>
            <a:r>
              <a:t>Goals</a:t>
            </a:r>
          </a:p>
        </p:txBody>
      </p:sp>
      <p:sp>
        <p:nvSpPr>
          <p:cNvPr id="239" name="Students will develop ways of thinking that make use of R's computing power to solve problems. (CT.1)…"/>
          <p:cNvSpPr txBox="1"/>
          <p:nvPr/>
        </p:nvSpPr>
        <p:spPr>
          <a:xfrm>
            <a:off x="220265" y="1366672"/>
            <a:ext cx="12564270" cy="2667001"/>
          </a:xfrm>
          <a:prstGeom prst="rect">
            <a:avLst/>
          </a:prstGeom>
          <a:ln w="3175">
            <a:miter lim="400000"/>
          </a:ln>
          <a:extLst>
            <a:ext uri="{C572A759-6A51-4108-AA02-DFA0A04FC94B}">
              <ma14:wrappingTextBoxFlag xmlns:ma14="http://schemas.microsoft.com/office/mac/drawingml/2011/main" val="1"/>
            </a:ext>
          </a:extLst>
        </p:spPr>
        <p:txBody>
          <a:bodyPr lIns="38100" tIns="38100" rIns="38100" bIns="38100" anchor="ctr">
            <a:spAutoFit/>
          </a:bodyPr>
          <a:lstStyle/>
          <a:p>
            <a:pPr marL="507999" indent="-507999" algn="l">
              <a:buSzPct val="171000"/>
              <a:buChar char="•"/>
              <a:defRPr sz="3000">
                <a:solidFill>
                  <a:srgbClr val="000004"/>
                </a:solidFill>
                <a:latin typeface="Franklin Gothic Medium"/>
                <a:ea typeface="Franklin Gothic Medium"/>
                <a:cs typeface="Franklin Gothic Medium"/>
                <a:sym typeface="Franklin Gothic Medium"/>
              </a:defRPr>
            </a:pPr>
            <a:r>
              <a:t>Students will develop ways of thinking that make use of R's computing power to solve problems. (CT.1)</a:t>
            </a:r>
          </a:p>
          <a:p>
            <a:pPr marL="507999" indent="-507999" algn="l">
              <a:buSzPct val="171000"/>
              <a:buChar char="•"/>
              <a:defRPr sz="3000">
                <a:solidFill>
                  <a:srgbClr val="000004"/>
                </a:solidFill>
                <a:latin typeface="Franklin Gothic Medium"/>
                <a:ea typeface="Franklin Gothic Medium"/>
                <a:cs typeface="Franklin Gothic Medium"/>
                <a:sym typeface="Franklin Gothic Medium"/>
              </a:defRPr>
            </a:pPr>
            <a:r>
              <a:t>Students will develop their skills in programming with statistical software. (Prog.4, Prog.5, Prog.6)</a:t>
            </a:r>
          </a:p>
          <a:p>
            <a:pPr marL="507999" indent="-507999" algn="l">
              <a:buSzPct val="171000"/>
              <a:buChar char="•"/>
              <a:defRPr sz="3000">
                <a:solidFill>
                  <a:srgbClr val="000004"/>
                </a:solidFill>
                <a:latin typeface="Franklin Gothic Medium"/>
                <a:ea typeface="Franklin Gothic Medium"/>
                <a:cs typeface="Franklin Gothic Medium"/>
                <a:sym typeface="Franklin Gothic Medium"/>
              </a:defRPr>
            </a:pPr>
            <a:r>
              <a:t>Students will develop their skills in creating reproducible code and data analyses. (Repro.1, Repro.2, Repro.4)</a:t>
            </a:r>
          </a:p>
        </p:txBody>
      </p:sp>
      <p:sp>
        <p:nvSpPr>
          <p:cNvPr id="240" name="Needs: signal cups, notes, a practice Quarto document"/>
          <p:cNvSpPr txBox="1"/>
          <p:nvPr/>
        </p:nvSpPr>
        <p:spPr>
          <a:xfrm>
            <a:off x="123824" y="4796813"/>
            <a:ext cx="9546036" cy="533401"/>
          </a:xfrm>
          <a:prstGeom prst="rect">
            <a:avLst/>
          </a:prstGeom>
          <a:ln w="3175">
            <a:miter lim="400000"/>
          </a:ln>
          <a:extLst>
            <a:ext uri="{C572A759-6A51-4108-AA02-DFA0A04FC94B}">
              <ma14:wrappingTextBoxFlag xmlns:ma14="http://schemas.microsoft.com/office/mac/drawingml/2011/main" val="1"/>
            </a:ext>
          </a:extLst>
        </p:spPr>
        <p:txBody>
          <a:bodyPr wrap="none" lIns="38100" tIns="38100" rIns="38100" bIns="38100" anchor="ctr">
            <a:spAutoFit/>
          </a:bodyPr>
          <a:lstStyle/>
          <a:p>
            <a:pPr algn="l">
              <a:defRPr sz="3200">
                <a:solidFill>
                  <a:srgbClr val="008900"/>
                </a:solidFill>
                <a:latin typeface="Franklin Gothic Medium"/>
                <a:ea typeface="Franklin Gothic Medium"/>
                <a:cs typeface="Franklin Gothic Medium"/>
                <a:sym typeface="Franklin Gothic Medium"/>
              </a:defRPr>
            </a:pPr>
            <a:r>
              <a:t>Needs: </a:t>
            </a:r>
            <a:r>
              <a:rPr>
                <a:solidFill>
                  <a:srgbClr val="000004"/>
                </a:solidFill>
              </a:rPr>
              <a:t>signal cups, notes, a practice Quarto document</a:t>
            </a:r>
          </a:p>
        </p:txBody>
      </p:sp>
      <p:sp>
        <p:nvSpPr>
          <p:cNvPr id="241" name="Steps"/>
          <p:cNvSpPr txBox="1"/>
          <p:nvPr/>
        </p:nvSpPr>
        <p:spPr>
          <a:xfrm>
            <a:off x="105171" y="5974820"/>
            <a:ext cx="1061245" cy="533401"/>
          </a:xfrm>
          <a:prstGeom prst="rect">
            <a:avLst/>
          </a:prstGeom>
          <a:ln w="3175">
            <a:miter lim="400000"/>
          </a:ln>
          <a:extLst>
            <a:ext uri="{C572A759-6A51-4108-AA02-DFA0A04FC94B}">
              <ma14:wrappingTextBoxFlag xmlns:ma14="http://schemas.microsoft.com/office/mac/drawingml/2011/main" val="1"/>
            </a:ext>
          </a:extLst>
        </p:spPr>
        <p:txBody>
          <a:bodyPr wrap="none" lIns="38100" tIns="38100" rIns="38100" bIns="38100" anchor="ctr">
            <a:spAutoFit/>
          </a:bodyPr>
          <a:lstStyle>
            <a:lvl1pPr algn="l">
              <a:defRPr sz="3200">
                <a:solidFill>
                  <a:srgbClr val="008900"/>
                </a:solidFill>
                <a:latin typeface="Franklin Gothic Medium"/>
                <a:ea typeface="Franklin Gothic Medium"/>
                <a:cs typeface="Franklin Gothic Medium"/>
                <a:sym typeface="Franklin Gothic Medium"/>
              </a:defRPr>
            </a:lvl1pPr>
          </a:lstStyle>
          <a:p>
            <a:pPr/>
            <a:r>
              <a:t>Steps</a:t>
            </a:r>
          </a:p>
        </p:txBody>
      </p:sp>
      <p:sp>
        <p:nvSpPr>
          <p:cNvPr id="242" name="Quick Check-in…"/>
          <p:cNvSpPr txBox="1"/>
          <p:nvPr/>
        </p:nvSpPr>
        <p:spPr>
          <a:xfrm>
            <a:off x="238233" y="6576052"/>
            <a:ext cx="7616780" cy="1905001"/>
          </a:xfrm>
          <a:prstGeom prst="rect">
            <a:avLst/>
          </a:prstGeom>
          <a:ln w="3175">
            <a:miter lim="400000"/>
          </a:ln>
          <a:extLst>
            <a:ext uri="{C572A759-6A51-4108-AA02-DFA0A04FC94B}">
              <ma14:wrappingTextBoxFlag xmlns:ma14="http://schemas.microsoft.com/office/mac/drawingml/2011/main" val="1"/>
            </a:ext>
          </a:extLst>
        </p:spPr>
        <p:txBody>
          <a:bodyPr lIns="38100" tIns="38100" rIns="38100" bIns="38100" anchor="ctr">
            <a:spAutoFit/>
          </a:bodyPr>
          <a:lstStyle/>
          <a:p>
            <a:pPr marL="508000" indent="-508000" algn="l">
              <a:buSzPct val="100000"/>
              <a:buAutoNum type="arabicPeriod" startAt="1"/>
              <a:defRPr sz="3200">
                <a:solidFill>
                  <a:srgbClr val="000004"/>
                </a:solidFill>
                <a:latin typeface="Franklin Gothic Medium"/>
                <a:ea typeface="Franklin Gothic Medium"/>
                <a:cs typeface="Franklin Gothic Medium"/>
                <a:sym typeface="Franklin Gothic Medium"/>
              </a:defRPr>
            </a:pPr>
            <a:r>
              <a:t>Quick Check-in</a:t>
            </a:r>
          </a:p>
          <a:p>
            <a:pPr marL="508000" indent="-508000" algn="l">
              <a:buSzPct val="100000"/>
              <a:buAutoNum type="arabicPeriod" startAt="1"/>
              <a:defRPr sz="3200">
                <a:solidFill>
                  <a:srgbClr val="000004"/>
                </a:solidFill>
                <a:latin typeface="Franklin Gothic Medium"/>
                <a:ea typeface="Franklin Gothic Medium"/>
                <a:cs typeface="Franklin Gothic Medium"/>
                <a:sym typeface="Franklin Gothic Medium"/>
              </a:defRPr>
            </a:pPr>
            <a:r>
              <a:t>Version Control via Git</a:t>
            </a:r>
          </a:p>
          <a:p>
            <a:pPr marL="508000" indent="-508000" algn="l">
              <a:buSzPct val="100000"/>
              <a:buAutoNum type="arabicPeriod" startAt="1"/>
              <a:defRPr sz="3200">
                <a:solidFill>
                  <a:srgbClr val="000004"/>
                </a:solidFill>
                <a:latin typeface="Franklin Gothic Medium"/>
                <a:ea typeface="Franklin Gothic Medium"/>
                <a:cs typeface="Franklin Gothic Medium"/>
                <a:sym typeface="Franklin Gothic Medium"/>
              </a:defRPr>
            </a:pPr>
            <a:r>
              <a:t>Working with GitHub</a:t>
            </a:r>
          </a:p>
          <a:p>
            <a:pPr marL="508000" indent="-508000" algn="l">
              <a:buSzPct val="100000"/>
              <a:buAutoNum type="arabicPeriod" startAt="1"/>
              <a:defRPr sz="3200">
                <a:solidFill>
                  <a:srgbClr val="000004"/>
                </a:solidFill>
                <a:latin typeface="Franklin Gothic Medium"/>
                <a:ea typeface="Franklin Gothic Medium"/>
                <a:cs typeface="Franklin Gothic Medium"/>
                <a:sym typeface="Franklin Gothic Medium"/>
              </a:defRPr>
            </a:pPr>
            <a:r>
              <a:t>Clone a Repo and Make an R Project</a:t>
            </a:r>
          </a:p>
        </p:txBody>
      </p:sp>
    </p:spTree>
  </p:cSld>
  <p:clrMapOvr>
    <a:masterClrMapping/>
  </p:clrMapOvr>
  <mc:AlternateContent xmlns:mc="http://schemas.openxmlformats.org/markup-compatibility/2006">
    <mc:Choice xmlns:p14="http://schemas.microsoft.com/office/powerpoint/2010/main" Requires="p14">
      <p:transition spd="slow" advClick="1" p14:dur="1500">
        <p:fade/>
      </p:transition>
    </mc:Choice>
    <mc:Fallback>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44" name="Slide Number"/>
          <p:cNvSpPr txBox="1"/>
          <p:nvPr>
            <p:ph type="sldNum" sz="quarter" idx="2"/>
          </p:nvPr>
        </p:nvSpPr>
        <p:spPr>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245" name="A Quick Check-In"/>
          <p:cNvSpPr txBox="1"/>
          <p:nvPr>
            <p:ph type="title"/>
          </p:nvPr>
        </p:nvSpPr>
        <p:spPr>
          <a:prstGeom prst="rect">
            <a:avLst/>
          </a:prstGeom>
        </p:spPr>
        <p:txBody>
          <a:bodyPr/>
          <a:lstStyle/>
          <a:p>
            <a:pPr/>
            <a:r>
              <a:t>A Quick Check-In</a:t>
            </a:r>
          </a:p>
        </p:txBody>
      </p:sp>
      <p:sp>
        <p:nvSpPr>
          <p:cNvPr id="246" name="You should have received an email inviting your GitHub account to join the Stat184-Spring2026 organization. This would have gone to the email you used for your GitHub account."/>
          <p:cNvSpPr txBox="1"/>
          <p:nvPr/>
        </p:nvSpPr>
        <p:spPr>
          <a:xfrm>
            <a:off x="217256" y="850100"/>
            <a:ext cx="12570288" cy="1447801"/>
          </a:xfrm>
          <a:prstGeom prst="rect">
            <a:avLst/>
          </a:prstGeom>
          <a:ln w="3175">
            <a:miter lim="400000"/>
          </a:ln>
          <a:extLst>
            <a:ext uri="{C572A759-6A51-4108-AA02-DFA0A04FC94B}">
              <ma14:wrappingTextBoxFlag xmlns:ma14="http://schemas.microsoft.com/office/mac/drawingml/2011/main" val="1"/>
            </a:ext>
          </a:extLst>
        </p:spPr>
        <p:txBody>
          <a:bodyPr lIns="38100" tIns="38100" rIns="38100" bIns="38100" anchor="ctr">
            <a:spAutoFit/>
          </a:bodyPr>
          <a:lstStyle>
            <a:lvl1pPr algn="l">
              <a:defRPr sz="3200">
                <a:solidFill>
                  <a:srgbClr val="000004"/>
                </a:solidFill>
                <a:latin typeface="Franklin Gothic Medium"/>
                <a:ea typeface="Franklin Gothic Medium"/>
                <a:cs typeface="Franklin Gothic Medium"/>
                <a:sym typeface="Franklin Gothic Medium"/>
              </a:defRPr>
            </a:lvl1pPr>
          </a:lstStyle>
          <a:p>
            <a:pPr/>
            <a:r>
              <a:t>You should have received an email inviting your GitHub account to join the Stat184-Spring2026 organization. This would have gone to the email you used for your GitHub account.</a:t>
            </a:r>
          </a:p>
        </p:txBody>
      </p:sp>
      <p:sp>
        <p:nvSpPr>
          <p:cNvPr id="247" name="Have you accepted the invite?"/>
          <p:cNvSpPr txBox="1"/>
          <p:nvPr/>
        </p:nvSpPr>
        <p:spPr>
          <a:xfrm>
            <a:off x="203200" y="2466747"/>
            <a:ext cx="5256411" cy="533401"/>
          </a:xfrm>
          <a:prstGeom prst="rect">
            <a:avLst/>
          </a:prstGeom>
          <a:ln w="3175">
            <a:miter lim="400000"/>
          </a:ln>
          <a:extLst>
            <a:ext uri="{C572A759-6A51-4108-AA02-DFA0A04FC94B}">
              <ma14:wrappingTextBoxFlag xmlns:ma14="http://schemas.microsoft.com/office/mac/drawingml/2011/main" val="1"/>
            </a:ext>
          </a:extLst>
        </p:spPr>
        <p:txBody>
          <a:bodyPr wrap="none" lIns="38100" tIns="38100" rIns="38100" bIns="38100" anchor="ctr">
            <a:spAutoFit/>
          </a:bodyPr>
          <a:lstStyle>
            <a:lvl1pPr algn="l">
              <a:defRPr sz="3200">
                <a:solidFill>
                  <a:srgbClr val="000004"/>
                </a:solidFill>
                <a:latin typeface="Franklin Gothic Medium"/>
                <a:ea typeface="Franklin Gothic Medium"/>
                <a:cs typeface="Franklin Gothic Medium"/>
                <a:sym typeface="Franklin Gothic Medium"/>
              </a:defRPr>
            </a:lvl1pPr>
          </a:lstStyle>
          <a:p>
            <a:pPr/>
            <a:r>
              <a:t>Have you accepted the invite?</a:t>
            </a:r>
          </a:p>
        </p:txBody>
      </p:sp>
      <p:pic>
        <p:nvPicPr>
          <p:cNvPr id="248" name="Green cup" descr="Green cup"/>
          <p:cNvPicPr>
            <a:picLocks noChangeAspect="1"/>
          </p:cNvPicPr>
          <p:nvPr/>
        </p:nvPicPr>
        <p:blipFill>
          <a:blip r:embed="rId2">
            <a:extLst/>
          </a:blip>
          <a:stretch>
            <a:fillRect/>
          </a:stretch>
        </p:blipFill>
        <p:spPr>
          <a:xfrm>
            <a:off x="356392" y="3168995"/>
            <a:ext cx="872426" cy="1270001"/>
          </a:xfrm>
          <a:prstGeom prst="rect">
            <a:avLst/>
          </a:prstGeom>
          <a:ln w="3175">
            <a:miter lim="400000"/>
          </a:ln>
        </p:spPr>
      </p:pic>
      <p:pic>
        <p:nvPicPr>
          <p:cNvPr id="249" name="cupRed.png" descr="cupRed.png"/>
          <p:cNvPicPr>
            <a:picLocks noChangeAspect="1"/>
          </p:cNvPicPr>
          <p:nvPr/>
        </p:nvPicPr>
        <p:blipFill>
          <a:blip r:embed="rId3">
            <a:extLst/>
          </a:blip>
          <a:stretch>
            <a:fillRect/>
          </a:stretch>
        </p:blipFill>
        <p:spPr>
          <a:xfrm>
            <a:off x="356392" y="6670858"/>
            <a:ext cx="872426" cy="1270001"/>
          </a:xfrm>
          <a:prstGeom prst="rect">
            <a:avLst/>
          </a:prstGeom>
          <a:ln w="3175">
            <a:miter lim="400000"/>
          </a:ln>
        </p:spPr>
      </p:pic>
      <p:pic>
        <p:nvPicPr>
          <p:cNvPr id="250" name="cupYellow.png" descr="cupYellow.png"/>
          <p:cNvPicPr>
            <a:picLocks noChangeAspect="1"/>
          </p:cNvPicPr>
          <p:nvPr/>
        </p:nvPicPr>
        <p:blipFill>
          <a:blip r:embed="rId4">
            <a:extLst/>
          </a:blip>
          <a:stretch>
            <a:fillRect/>
          </a:stretch>
        </p:blipFill>
        <p:spPr>
          <a:xfrm>
            <a:off x="356392" y="4919927"/>
            <a:ext cx="872426" cy="1270001"/>
          </a:xfrm>
          <a:prstGeom prst="rect">
            <a:avLst/>
          </a:prstGeom>
          <a:ln w="3175">
            <a:miter lim="400000"/>
          </a:ln>
        </p:spPr>
      </p:pic>
      <p:sp>
        <p:nvSpPr>
          <p:cNvPr id="251" name="Not yet, but will do so as soon as possible/now."/>
          <p:cNvSpPr txBox="1"/>
          <p:nvPr/>
        </p:nvSpPr>
        <p:spPr>
          <a:xfrm>
            <a:off x="1524000" y="5288227"/>
            <a:ext cx="10361504" cy="533401"/>
          </a:xfrm>
          <a:prstGeom prst="rect">
            <a:avLst/>
          </a:prstGeom>
          <a:ln w="3175">
            <a:miter lim="400000"/>
          </a:ln>
          <a:extLst>
            <a:ext uri="{C572A759-6A51-4108-AA02-DFA0A04FC94B}">
              <ma14:wrappingTextBoxFlag xmlns:ma14="http://schemas.microsoft.com/office/mac/drawingml/2011/main" val="1"/>
            </a:ext>
          </a:extLst>
        </p:spPr>
        <p:txBody>
          <a:bodyPr lIns="38100" tIns="38100" rIns="38100" bIns="38100" anchor="ctr">
            <a:spAutoFit/>
          </a:bodyPr>
          <a:lstStyle>
            <a:lvl1pPr algn="l">
              <a:defRPr sz="3200">
                <a:solidFill>
                  <a:srgbClr val="000004"/>
                </a:solidFill>
                <a:latin typeface="Franklin Gothic Medium"/>
                <a:ea typeface="Franklin Gothic Medium"/>
                <a:cs typeface="Franklin Gothic Medium"/>
                <a:sym typeface="Franklin Gothic Medium"/>
              </a:defRPr>
            </a:lvl1pPr>
          </a:lstStyle>
          <a:p>
            <a:pPr/>
            <a:r>
              <a:t>Not yet, but will do so as soon as possible/now.</a:t>
            </a:r>
          </a:p>
        </p:txBody>
      </p:sp>
      <p:sp>
        <p:nvSpPr>
          <p:cNvPr id="252" name="Yes."/>
          <p:cNvSpPr txBox="1"/>
          <p:nvPr/>
        </p:nvSpPr>
        <p:spPr>
          <a:xfrm>
            <a:off x="1524000" y="3537295"/>
            <a:ext cx="11079367" cy="533401"/>
          </a:xfrm>
          <a:prstGeom prst="rect">
            <a:avLst/>
          </a:prstGeom>
          <a:ln w="3175">
            <a:miter lim="400000"/>
          </a:ln>
          <a:extLst>
            <a:ext uri="{C572A759-6A51-4108-AA02-DFA0A04FC94B}">
              <ma14:wrappingTextBoxFlag xmlns:ma14="http://schemas.microsoft.com/office/mac/drawingml/2011/main" val="1"/>
            </a:ext>
          </a:extLst>
        </p:spPr>
        <p:txBody>
          <a:bodyPr lIns="38100" tIns="38100" rIns="38100" bIns="38100" anchor="ctr">
            <a:spAutoFit/>
          </a:bodyPr>
          <a:lstStyle>
            <a:lvl1pPr algn="l">
              <a:defRPr sz="3200">
                <a:solidFill>
                  <a:srgbClr val="000004"/>
                </a:solidFill>
                <a:latin typeface="Franklin Gothic Medium"/>
                <a:ea typeface="Franklin Gothic Medium"/>
                <a:cs typeface="Franklin Gothic Medium"/>
                <a:sym typeface="Franklin Gothic Medium"/>
              </a:defRPr>
            </a:lvl1pPr>
          </a:lstStyle>
          <a:p>
            <a:pPr/>
            <a:r>
              <a:t>Yes.</a:t>
            </a:r>
          </a:p>
        </p:txBody>
      </p:sp>
      <p:sp>
        <p:nvSpPr>
          <p:cNvPr id="253" name="No, as I didn't get an invite. (Talk to your instructor ASAP.)"/>
          <p:cNvSpPr txBox="1"/>
          <p:nvPr/>
        </p:nvSpPr>
        <p:spPr>
          <a:xfrm>
            <a:off x="1524000" y="7039158"/>
            <a:ext cx="10361504" cy="533401"/>
          </a:xfrm>
          <a:prstGeom prst="rect">
            <a:avLst/>
          </a:prstGeom>
          <a:ln w="3175">
            <a:miter lim="400000"/>
          </a:ln>
          <a:extLst>
            <a:ext uri="{C572A759-6A51-4108-AA02-DFA0A04FC94B}">
              <ma14:wrappingTextBoxFlag xmlns:ma14="http://schemas.microsoft.com/office/mac/drawingml/2011/main" val="1"/>
            </a:ext>
          </a:extLst>
        </p:spPr>
        <p:txBody>
          <a:bodyPr lIns="38100" tIns="38100" rIns="38100" bIns="38100" anchor="ctr">
            <a:spAutoFit/>
          </a:bodyPr>
          <a:lstStyle>
            <a:lvl1pPr algn="l">
              <a:defRPr sz="3200">
                <a:solidFill>
                  <a:srgbClr val="000004"/>
                </a:solidFill>
                <a:latin typeface="Franklin Gothic Medium"/>
                <a:ea typeface="Franklin Gothic Medium"/>
                <a:cs typeface="Franklin Gothic Medium"/>
                <a:sym typeface="Franklin Gothic Medium"/>
              </a:defRPr>
            </a:lvl1pPr>
          </a:lstStyle>
          <a:p>
            <a:pPr/>
            <a:r>
              <a:t>No, as I didn't get an invite. (Talk to your instructor ASAP.)</a:t>
            </a:r>
          </a:p>
        </p:txBody>
      </p:sp>
    </p:spTree>
  </p:cSld>
  <p:clrMapOvr>
    <a:masterClrMapping/>
  </p:clrMapOvr>
  <mc:AlternateContent xmlns:mc="http://schemas.openxmlformats.org/markup-compatibility/2006">
    <mc:Choice xmlns:p14="http://schemas.microsoft.com/office/powerpoint/2010/main" Requires="p14">
      <p:transition spd="slow" advClick="1" p14:dur="1500">
        <p:fade/>
      </p:transition>
    </mc:Choice>
    <mc:Fallback>
      <p:transition spd="slow">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ID="10" grpId="1" fill="hold">
                                  <p:stCondLst>
                                    <p:cond delay="0"/>
                                  </p:stCondLst>
                                  <p:iterate type="el" backwards="0">
                                    <p:tmAbs val="0"/>
                                  </p:iterate>
                                  <p:childTnLst>
                                    <p:set>
                                      <p:cBhvr>
                                        <p:cTn id="6" fill="hold"/>
                                        <p:tgtEl>
                                          <p:spTgt spid="247"/>
                                        </p:tgtEl>
                                        <p:attrNameLst>
                                          <p:attrName>style.visibility</p:attrName>
                                        </p:attrNameLst>
                                      </p:cBhvr>
                                      <p:to>
                                        <p:strVal val="visible"/>
                                      </p:to>
                                    </p:set>
                                    <p:animEffect filter="fade" transition="in">
                                      <p:cBhvr>
                                        <p:cTn id="7" dur="1000"/>
                                        <p:tgtEl>
                                          <p:spTgt spid="247"/>
                                        </p:tgtEl>
                                      </p:cBhvr>
                                    </p:animEffect>
                                  </p:childTnLst>
                                </p:cTn>
                              </p:par>
                            </p:childTnLst>
                          </p:cTn>
                        </p:par>
                      </p:childTnLst>
                    </p:cTn>
                  </p:par>
                  <p:par>
                    <p:cTn id="8" fill="hold">
                      <p:stCondLst>
                        <p:cond delay="indefinite"/>
                      </p:stCondLst>
                      <p:childTnLst>
                        <p:par>
                          <p:cTn id="9" fill="hold">
                            <p:stCondLst>
                              <p:cond delay="0"/>
                            </p:stCondLst>
                            <p:childTnLst>
                              <p:par>
                                <p:cTn id="10" presetClass="entr" nodeType="clickEffect" presetID="10" grpId="2" fill="hold">
                                  <p:stCondLst>
                                    <p:cond delay="0"/>
                                  </p:stCondLst>
                                  <p:iterate type="el" backwards="0">
                                    <p:tmAbs val="0"/>
                                  </p:iterate>
                                  <p:childTnLst>
                                    <p:set>
                                      <p:cBhvr>
                                        <p:cTn id="11" fill="hold"/>
                                        <p:tgtEl>
                                          <p:spTgt spid="248"/>
                                        </p:tgtEl>
                                        <p:attrNameLst>
                                          <p:attrName>style.visibility</p:attrName>
                                        </p:attrNameLst>
                                      </p:cBhvr>
                                      <p:to>
                                        <p:strVal val="visible"/>
                                      </p:to>
                                    </p:set>
                                    <p:animEffect filter="fade" transition="in">
                                      <p:cBhvr>
                                        <p:cTn id="12" dur="1000"/>
                                        <p:tgtEl>
                                          <p:spTgt spid="248"/>
                                        </p:tgtEl>
                                      </p:cBhvr>
                                    </p:animEffect>
                                  </p:childTnLst>
                                </p:cTn>
                              </p:par>
                            </p:childTnLst>
                          </p:cTn>
                        </p:par>
                        <p:par>
                          <p:cTn id="13" fill="hold">
                            <p:stCondLst>
                              <p:cond delay="1000"/>
                            </p:stCondLst>
                            <p:childTnLst>
                              <p:par>
                                <p:cTn id="14" presetClass="entr" nodeType="afterEffect" presetID="10" grpId="3" fill="hold">
                                  <p:stCondLst>
                                    <p:cond delay="0"/>
                                  </p:stCondLst>
                                  <p:iterate type="el" backwards="0">
                                    <p:tmAbs val="0"/>
                                  </p:iterate>
                                  <p:childTnLst>
                                    <p:set>
                                      <p:cBhvr>
                                        <p:cTn id="15" fill="hold"/>
                                        <p:tgtEl>
                                          <p:spTgt spid="252"/>
                                        </p:tgtEl>
                                        <p:attrNameLst>
                                          <p:attrName>style.visibility</p:attrName>
                                        </p:attrNameLst>
                                      </p:cBhvr>
                                      <p:to>
                                        <p:strVal val="visible"/>
                                      </p:to>
                                    </p:set>
                                    <p:animEffect filter="fade" transition="in">
                                      <p:cBhvr>
                                        <p:cTn id="16" dur="1000"/>
                                        <p:tgtEl>
                                          <p:spTgt spid="252"/>
                                        </p:tgtEl>
                                      </p:cBhvr>
                                    </p:animEffect>
                                  </p:childTnLst>
                                </p:cTn>
                              </p:par>
                            </p:childTnLst>
                          </p:cTn>
                        </p:par>
                        <p:par>
                          <p:cTn id="17" fill="hold">
                            <p:stCondLst>
                              <p:cond delay="2000"/>
                            </p:stCondLst>
                            <p:childTnLst>
                              <p:par>
                                <p:cTn id="18" presetClass="entr" nodeType="afterEffect" presetID="10" grpId="4" fill="hold">
                                  <p:stCondLst>
                                    <p:cond delay="0"/>
                                  </p:stCondLst>
                                  <p:iterate type="el" backwards="0">
                                    <p:tmAbs val="0"/>
                                  </p:iterate>
                                  <p:childTnLst>
                                    <p:set>
                                      <p:cBhvr>
                                        <p:cTn id="19" fill="hold"/>
                                        <p:tgtEl>
                                          <p:spTgt spid="250"/>
                                        </p:tgtEl>
                                        <p:attrNameLst>
                                          <p:attrName>style.visibility</p:attrName>
                                        </p:attrNameLst>
                                      </p:cBhvr>
                                      <p:to>
                                        <p:strVal val="visible"/>
                                      </p:to>
                                    </p:set>
                                    <p:animEffect filter="fade" transition="in">
                                      <p:cBhvr>
                                        <p:cTn id="20" dur="1000"/>
                                        <p:tgtEl>
                                          <p:spTgt spid="250"/>
                                        </p:tgtEl>
                                      </p:cBhvr>
                                    </p:animEffect>
                                  </p:childTnLst>
                                </p:cTn>
                              </p:par>
                            </p:childTnLst>
                          </p:cTn>
                        </p:par>
                        <p:par>
                          <p:cTn id="21" fill="hold">
                            <p:stCondLst>
                              <p:cond delay="3000"/>
                            </p:stCondLst>
                            <p:childTnLst>
                              <p:par>
                                <p:cTn id="22" presetClass="entr" nodeType="afterEffect" presetID="10" grpId="5" fill="hold">
                                  <p:stCondLst>
                                    <p:cond delay="0"/>
                                  </p:stCondLst>
                                  <p:iterate type="el" backwards="0">
                                    <p:tmAbs val="0"/>
                                  </p:iterate>
                                  <p:childTnLst>
                                    <p:set>
                                      <p:cBhvr>
                                        <p:cTn id="23" fill="hold"/>
                                        <p:tgtEl>
                                          <p:spTgt spid="251"/>
                                        </p:tgtEl>
                                        <p:attrNameLst>
                                          <p:attrName>style.visibility</p:attrName>
                                        </p:attrNameLst>
                                      </p:cBhvr>
                                      <p:to>
                                        <p:strVal val="visible"/>
                                      </p:to>
                                    </p:set>
                                    <p:animEffect filter="fade" transition="in">
                                      <p:cBhvr>
                                        <p:cTn id="24" dur="1000"/>
                                        <p:tgtEl>
                                          <p:spTgt spid="251"/>
                                        </p:tgtEl>
                                      </p:cBhvr>
                                    </p:animEffect>
                                  </p:childTnLst>
                                </p:cTn>
                              </p:par>
                            </p:childTnLst>
                          </p:cTn>
                        </p:par>
                        <p:par>
                          <p:cTn id="25" fill="hold">
                            <p:stCondLst>
                              <p:cond delay="4000"/>
                            </p:stCondLst>
                            <p:childTnLst>
                              <p:par>
                                <p:cTn id="26" presetClass="entr" nodeType="afterEffect" presetID="10" grpId="6" fill="hold">
                                  <p:stCondLst>
                                    <p:cond delay="0"/>
                                  </p:stCondLst>
                                  <p:iterate type="el" backwards="0">
                                    <p:tmAbs val="0"/>
                                  </p:iterate>
                                  <p:childTnLst>
                                    <p:set>
                                      <p:cBhvr>
                                        <p:cTn id="27" fill="hold"/>
                                        <p:tgtEl>
                                          <p:spTgt spid="249"/>
                                        </p:tgtEl>
                                        <p:attrNameLst>
                                          <p:attrName>style.visibility</p:attrName>
                                        </p:attrNameLst>
                                      </p:cBhvr>
                                      <p:to>
                                        <p:strVal val="visible"/>
                                      </p:to>
                                    </p:set>
                                    <p:animEffect filter="fade" transition="in">
                                      <p:cBhvr>
                                        <p:cTn id="28" dur="1000"/>
                                        <p:tgtEl>
                                          <p:spTgt spid="249"/>
                                        </p:tgtEl>
                                      </p:cBhvr>
                                    </p:animEffect>
                                  </p:childTnLst>
                                </p:cTn>
                              </p:par>
                            </p:childTnLst>
                          </p:cTn>
                        </p:par>
                        <p:par>
                          <p:cTn id="29" fill="hold">
                            <p:stCondLst>
                              <p:cond delay="5000"/>
                            </p:stCondLst>
                            <p:childTnLst>
                              <p:par>
                                <p:cTn id="30" presetClass="entr" nodeType="afterEffect" presetID="10" grpId="7" fill="hold">
                                  <p:stCondLst>
                                    <p:cond delay="0"/>
                                  </p:stCondLst>
                                  <p:iterate type="el" backwards="0">
                                    <p:tmAbs val="0"/>
                                  </p:iterate>
                                  <p:childTnLst>
                                    <p:set>
                                      <p:cBhvr>
                                        <p:cTn id="31" fill="hold"/>
                                        <p:tgtEl>
                                          <p:spTgt spid="253"/>
                                        </p:tgtEl>
                                        <p:attrNameLst>
                                          <p:attrName>style.visibility</p:attrName>
                                        </p:attrNameLst>
                                      </p:cBhvr>
                                      <p:to>
                                        <p:strVal val="visible"/>
                                      </p:to>
                                    </p:set>
                                    <p:animEffect filter="fade" transition="in">
                                      <p:cBhvr>
                                        <p:cTn id="32" dur="1000"/>
                                        <p:tgtEl>
                                          <p:spTgt spid="25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252" grpId="3"/>
      <p:bldP build="whole" bldLvl="1" animBg="1" rev="0" advAuto="0" spid="251" grpId="5"/>
      <p:bldP build="whole" bldLvl="1" animBg="1" rev="0" advAuto="0" spid="250" grpId="4"/>
      <p:bldP build="whole" bldLvl="1" animBg="1" rev="0" advAuto="0" spid="253" grpId="7"/>
      <p:bldP build="whole" bldLvl="1" animBg="1" rev="0" advAuto="0" spid="247" grpId="1"/>
      <p:bldP build="whole" bldLvl="1" animBg="1" rev="0" advAuto="0" spid="248" grpId="2"/>
      <p:bldP build="whole" bldLvl="1" animBg="1" rev="0" advAuto="0" spid="249" grpId="6"/>
    </p:bldLst>
  </p:timing>
</p:sld>
</file>

<file path=ppt/slides/slide3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55" name="Version Control &amp; Git"/>
          <p:cNvSpPr txBox="1"/>
          <p:nvPr>
            <p:ph type="ctrTitle"/>
          </p:nvPr>
        </p:nvSpPr>
        <p:spPr>
          <a:xfrm>
            <a:off x="3363569" y="2414058"/>
            <a:ext cx="6277661" cy="2476501"/>
          </a:xfrm>
          <a:prstGeom prst="rect">
            <a:avLst/>
          </a:prstGeom>
        </p:spPr>
        <p:txBody>
          <a:bodyPr/>
          <a:lstStyle/>
          <a:p>
            <a:pPr/>
            <a:r>
              <a:t>Version Control &amp; Git</a:t>
            </a:r>
          </a:p>
        </p:txBody>
      </p:sp>
      <p:sp>
        <p:nvSpPr>
          <p:cNvPr id="256" name="Slide Number"/>
          <p:cNvSpPr txBox="1"/>
          <p:nvPr>
            <p:ph type="sldNum" sz="quarter" idx="2"/>
          </p:nvPr>
        </p:nvSpPr>
        <p:spPr>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257" name="Unit 4"/>
          <p:cNvSpPr txBox="1"/>
          <p:nvPr>
            <p:ph type="subTitle" sz="quarter" idx="1"/>
          </p:nvPr>
        </p:nvSpPr>
        <p:spPr>
          <a:prstGeom prst="rect">
            <a:avLst/>
          </a:prstGeom>
        </p:spPr>
        <p:txBody>
          <a:bodyPr/>
          <a:lstStyle/>
          <a:p>
            <a:pPr/>
            <a:r>
              <a:t>Unit 4</a:t>
            </a:r>
          </a:p>
        </p:txBody>
      </p:sp>
    </p:spTree>
  </p:cSld>
  <p:clrMapOvr>
    <a:masterClrMapping/>
  </p:clrMapOvr>
  <mc:AlternateContent xmlns:mc="http://schemas.openxmlformats.org/markup-compatibility/2006">
    <mc:Choice xmlns:p14="http://schemas.microsoft.com/office/powerpoint/2010/main" Requires="p14">
      <p:transition spd="slow" advClick="1" p14:dur="1500">
        <p:fade/>
      </p:transition>
    </mc:Choice>
    <mc:Fallback>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59" name="Slide Number"/>
          <p:cNvSpPr txBox="1"/>
          <p:nvPr>
            <p:ph type="sldNum" sz="quarter" idx="2"/>
          </p:nvPr>
        </p:nvSpPr>
        <p:spPr>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260" name="What is Version Control &amp; Git?"/>
          <p:cNvSpPr txBox="1"/>
          <p:nvPr>
            <p:ph type="title"/>
          </p:nvPr>
        </p:nvSpPr>
        <p:spPr>
          <a:xfrm>
            <a:off x="1911492" y="4233"/>
            <a:ext cx="9181815" cy="885826"/>
          </a:xfrm>
          <a:prstGeom prst="rect">
            <a:avLst/>
          </a:prstGeom>
        </p:spPr>
        <p:txBody>
          <a:bodyPr/>
          <a:lstStyle/>
          <a:p>
            <a:pPr/>
            <a:r>
              <a:t>What is Version Control &amp; Git?</a:t>
            </a:r>
          </a:p>
        </p:txBody>
      </p:sp>
      <p:sp>
        <p:nvSpPr>
          <p:cNvPr id="261" name="Git is an open-source, distributed version control system, originally created for Linux kernel development."/>
          <p:cNvSpPr txBox="1"/>
          <p:nvPr/>
        </p:nvSpPr>
        <p:spPr>
          <a:xfrm>
            <a:off x="162024" y="5255838"/>
            <a:ext cx="12240106" cy="990601"/>
          </a:xfrm>
          <a:prstGeom prst="rect">
            <a:avLst/>
          </a:prstGeom>
          <a:ln w="3175">
            <a:miter lim="400000"/>
          </a:ln>
          <a:extLst>
            <a:ext uri="{C572A759-6A51-4108-AA02-DFA0A04FC94B}">
              <ma14:wrappingTextBoxFlag xmlns:ma14="http://schemas.microsoft.com/office/mac/drawingml/2011/main" val="1"/>
            </a:ext>
          </a:extLst>
        </p:spPr>
        <p:txBody>
          <a:bodyPr lIns="38100" tIns="38100" rIns="38100" bIns="38100" anchor="ctr">
            <a:spAutoFit/>
          </a:bodyPr>
          <a:lstStyle>
            <a:lvl1pPr algn="l">
              <a:defRPr sz="3200">
                <a:solidFill>
                  <a:srgbClr val="000004"/>
                </a:solidFill>
                <a:latin typeface="Franklin Gothic Medium"/>
                <a:ea typeface="Franklin Gothic Medium"/>
                <a:cs typeface="Franklin Gothic Medium"/>
                <a:sym typeface="Franklin Gothic Medium"/>
              </a:defRPr>
            </a:lvl1pPr>
          </a:lstStyle>
          <a:p>
            <a:pPr/>
            <a:r>
              <a:t>Git is an open-source, distributed version control system, originally created for Linux kernel development.</a:t>
            </a:r>
          </a:p>
        </p:txBody>
      </p:sp>
      <p:sp>
        <p:nvSpPr>
          <p:cNvPr id="262" name="Distributed here means that each person working on a Git-powered project has the complete codebase and history on their local computers."/>
          <p:cNvSpPr txBox="1"/>
          <p:nvPr/>
        </p:nvSpPr>
        <p:spPr>
          <a:xfrm>
            <a:off x="162024" y="6453382"/>
            <a:ext cx="12680752" cy="990601"/>
          </a:xfrm>
          <a:prstGeom prst="rect">
            <a:avLst/>
          </a:prstGeom>
          <a:ln w="3175">
            <a:miter lim="400000"/>
          </a:ln>
          <a:extLst>
            <a:ext uri="{C572A759-6A51-4108-AA02-DFA0A04FC94B}">
              <ma14:wrappingTextBoxFlag xmlns:ma14="http://schemas.microsoft.com/office/mac/drawingml/2011/main" val="1"/>
            </a:ext>
          </a:extLst>
        </p:spPr>
        <p:txBody>
          <a:bodyPr lIns="38100" tIns="38100" rIns="38100" bIns="38100" anchor="ctr">
            <a:spAutoFit/>
          </a:bodyPr>
          <a:lstStyle>
            <a:lvl1pPr algn="l">
              <a:defRPr sz="3200">
                <a:solidFill>
                  <a:srgbClr val="000004"/>
                </a:solidFill>
                <a:latin typeface="Franklin Gothic Medium"/>
                <a:ea typeface="Franklin Gothic Medium"/>
                <a:cs typeface="Franklin Gothic Medium"/>
                <a:sym typeface="Franklin Gothic Medium"/>
              </a:defRPr>
            </a:lvl1pPr>
          </a:lstStyle>
          <a:p>
            <a:pPr/>
            <a:r>
              <a:t>Distributed here means that each person working on a Git-powered project has the complete codebase and history on their local computers.</a:t>
            </a:r>
          </a:p>
        </p:txBody>
      </p:sp>
      <p:sp>
        <p:nvSpPr>
          <p:cNvPr id="263" name="Version control is a method of tracking changes to a set of files over time so that if needed, users can recover/restore older versions."/>
          <p:cNvSpPr txBox="1"/>
          <p:nvPr/>
        </p:nvSpPr>
        <p:spPr>
          <a:xfrm>
            <a:off x="112077" y="4058295"/>
            <a:ext cx="12780645" cy="990601"/>
          </a:xfrm>
          <a:prstGeom prst="rect">
            <a:avLst/>
          </a:prstGeom>
          <a:ln w="3175">
            <a:miter lim="400000"/>
          </a:ln>
          <a:extLst>
            <a:ext uri="{C572A759-6A51-4108-AA02-DFA0A04FC94B}">
              <ma14:wrappingTextBoxFlag xmlns:ma14="http://schemas.microsoft.com/office/mac/drawingml/2011/main" val="1"/>
            </a:ext>
          </a:extLst>
        </p:spPr>
        <p:txBody>
          <a:bodyPr lIns="38100" tIns="38100" rIns="38100" bIns="38100" anchor="ctr">
            <a:spAutoFit/>
          </a:bodyPr>
          <a:lstStyle>
            <a:lvl1pPr algn="l">
              <a:defRPr sz="3200">
                <a:solidFill>
                  <a:srgbClr val="008900"/>
                </a:solidFill>
                <a:latin typeface="Franklin Gothic Medium"/>
                <a:ea typeface="Franklin Gothic Medium"/>
                <a:cs typeface="Franklin Gothic Medium"/>
                <a:sym typeface="Franklin Gothic Medium"/>
              </a:defRPr>
            </a:lvl1pPr>
          </a:lstStyle>
          <a:p>
            <a:pPr/>
            <a:r>
              <a:t>Version control is a method of tracking changes to a set of files over time so that if needed, users can recover/restore older versions.</a:t>
            </a:r>
          </a:p>
        </p:txBody>
      </p:sp>
      <p:sp>
        <p:nvSpPr>
          <p:cNvPr id="264" name="This approach has the benefit that programmers can work non-linearly and on different OS's without running into many problems."/>
          <p:cNvSpPr txBox="1"/>
          <p:nvPr/>
        </p:nvSpPr>
        <p:spPr>
          <a:xfrm>
            <a:off x="162023" y="7650925"/>
            <a:ext cx="12680754" cy="990601"/>
          </a:xfrm>
          <a:prstGeom prst="rect">
            <a:avLst/>
          </a:prstGeom>
          <a:ln w="3175">
            <a:miter lim="400000"/>
          </a:ln>
          <a:extLst>
            <a:ext uri="{C572A759-6A51-4108-AA02-DFA0A04FC94B}">
              <ma14:wrappingTextBoxFlag xmlns:ma14="http://schemas.microsoft.com/office/mac/drawingml/2011/main" val="1"/>
            </a:ext>
          </a:extLst>
        </p:spPr>
        <p:txBody>
          <a:bodyPr lIns="38100" tIns="38100" rIns="38100" bIns="38100" anchor="ctr">
            <a:spAutoFit/>
          </a:bodyPr>
          <a:lstStyle>
            <a:lvl1pPr algn="l">
              <a:defRPr sz="3200">
                <a:solidFill>
                  <a:srgbClr val="000004"/>
                </a:solidFill>
                <a:latin typeface="Franklin Gothic Medium"/>
                <a:ea typeface="Franklin Gothic Medium"/>
                <a:cs typeface="Franklin Gothic Medium"/>
                <a:sym typeface="Franklin Gothic Medium"/>
              </a:defRPr>
            </a:lvl1pPr>
          </a:lstStyle>
          <a:p>
            <a:pPr/>
            <a:r>
              <a:t>This approach has the benefit that programmers can work non-linearly and on different OS's without running into many problems.</a:t>
            </a:r>
          </a:p>
        </p:txBody>
      </p:sp>
      <p:sp>
        <p:nvSpPr>
          <p:cNvPr id="265" name="How many of you use version control in your regular lives?"/>
          <p:cNvSpPr txBox="1"/>
          <p:nvPr/>
        </p:nvSpPr>
        <p:spPr>
          <a:xfrm>
            <a:off x="112077" y="922866"/>
            <a:ext cx="12780645" cy="533401"/>
          </a:xfrm>
          <a:prstGeom prst="rect">
            <a:avLst/>
          </a:prstGeom>
          <a:ln w="3175">
            <a:miter lim="400000"/>
          </a:ln>
          <a:extLst>
            <a:ext uri="{C572A759-6A51-4108-AA02-DFA0A04FC94B}">
              <ma14:wrappingTextBoxFlag xmlns:ma14="http://schemas.microsoft.com/office/mac/drawingml/2011/main" val="1"/>
            </a:ext>
          </a:extLst>
        </p:spPr>
        <p:txBody>
          <a:bodyPr lIns="38100" tIns="38100" rIns="38100" bIns="38100" anchor="ctr">
            <a:spAutoFit/>
          </a:bodyPr>
          <a:lstStyle>
            <a:lvl1pPr algn="l">
              <a:defRPr sz="3200">
                <a:solidFill>
                  <a:srgbClr val="000004"/>
                </a:solidFill>
                <a:latin typeface="Franklin Gothic Medium"/>
                <a:ea typeface="Franklin Gothic Medium"/>
                <a:cs typeface="Franklin Gothic Medium"/>
                <a:sym typeface="Franklin Gothic Medium"/>
              </a:defRPr>
            </a:lvl1pPr>
          </a:lstStyle>
          <a:p>
            <a:pPr/>
            <a:r>
              <a:t>How many of you use version control in your regular lives?</a:t>
            </a:r>
          </a:p>
        </p:txBody>
      </p:sp>
      <p:sp>
        <p:nvSpPr>
          <p:cNvPr id="266" name="How many of you use any of the following: Time Machine or another back up system (iCloud, Dropbox, etc.), Google's Suite of Office Applications, Microsoft Office Online?"/>
          <p:cNvSpPr txBox="1"/>
          <p:nvPr/>
        </p:nvSpPr>
        <p:spPr>
          <a:xfrm>
            <a:off x="112077" y="1663209"/>
            <a:ext cx="12780645" cy="1447801"/>
          </a:xfrm>
          <a:prstGeom prst="rect">
            <a:avLst/>
          </a:prstGeom>
          <a:ln w="3175">
            <a:miter lim="400000"/>
          </a:ln>
          <a:extLst>
            <a:ext uri="{C572A759-6A51-4108-AA02-DFA0A04FC94B}">
              <ma14:wrappingTextBoxFlag xmlns:ma14="http://schemas.microsoft.com/office/mac/drawingml/2011/main" val="1"/>
            </a:ext>
          </a:extLst>
        </p:spPr>
        <p:txBody>
          <a:bodyPr lIns="38100" tIns="38100" rIns="38100" bIns="38100" anchor="ctr">
            <a:spAutoFit/>
          </a:bodyPr>
          <a:lstStyle>
            <a:lvl1pPr algn="l">
              <a:defRPr sz="3200">
                <a:solidFill>
                  <a:srgbClr val="000004"/>
                </a:solidFill>
                <a:latin typeface="Franklin Gothic Medium"/>
                <a:ea typeface="Franklin Gothic Medium"/>
                <a:cs typeface="Franklin Gothic Medium"/>
                <a:sym typeface="Franklin Gothic Medium"/>
              </a:defRPr>
            </a:lvl1pPr>
          </a:lstStyle>
          <a:p>
            <a:pPr/>
            <a:r>
              <a:t>How many of you use any of the following: Time Machine or another back up system (iCloud, Dropbox, etc.), Google's Suite of Office Applications, Microsoft Office Online?</a:t>
            </a:r>
          </a:p>
        </p:txBody>
      </p:sp>
      <p:sp>
        <p:nvSpPr>
          <p:cNvPr id="267" name="Each of these technologies come with version control capabilities."/>
          <p:cNvSpPr txBox="1"/>
          <p:nvPr/>
        </p:nvSpPr>
        <p:spPr>
          <a:xfrm>
            <a:off x="112077" y="3317952"/>
            <a:ext cx="12780645" cy="533401"/>
          </a:xfrm>
          <a:prstGeom prst="rect">
            <a:avLst/>
          </a:prstGeom>
          <a:ln w="3175">
            <a:miter lim="400000"/>
          </a:ln>
          <a:extLst>
            <a:ext uri="{C572A759-6A51-4108-AA02-DFA0A04FC94B}">
              <ma14:wrappingTextBoxFlag xmlns:ma14="http://schemas.microsoft.com/office/mac/drawingml/2011/main" val="1"/>
            </a:ext>
          </a:extLst>
        </p:spPr>
        <p:txBody>
          <a:bodyPr lIns="38100" tIns="38100" rIns="38100" bIns="38100" anchor="ctr">
            <a:spAutoFit/>
          </a:bodyPr>
          <a:lstStyle>
            <a:lvl1pPr algn="l">
              <a:defRPr sz="3200">
                <a:solidFill>
                  <a:srgbClr val="000004"/>
                </a:solidFill>
                <a:latin typeface="Franklin Gothic Medium"/>
                <a:ea typeface="Franklin Gothic Medium"/>
                <a:cs typeface="Franklin Gothic Medium"/>
                <a:sym typeface="Franklin Gothic Medium"/>
              </a:defRPr>
            </a:lvl1pPr>
          </a:lstStyle>
          <a:p>
            <a:pPr/>
            <a:r>
              <a:t>Each of these technologies come with version control capabilities.</a:t>
            </a:r>
          </a:p>
        </p:txBody>
      </p:sp>
    </p:spTree>
  </p:cSld>
  <p:clrMapOvr>
    <a:masterClrMapping/>
  </p:clrMapOvr>
  <mc:AlternateContent xmlns:mc="http://schemas.openxmlformats.org/markup-compatibility/2006">
    <mc:Choice xmlns:p14="http://schemas.microsoft.com/office/powerpoint/2010/main" Requires="p14">
      <p:transition spd="slow" advClick="1" p14:dur="1500">
        <p:push dir="l"/>
      </p:transition>
    </mc:Choice>
    <mc:Fallback>
      <p:transition spd="slow">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ID="10" grpId="1" fill="hold">
                                  <p:stCondLst>
                                    <p:cond delay="0"/>
                                  </p:stCondLst>
                                  <p:iterate type="el" backwards="0">
                                    <p:tmAbs val="0"/>
                                  </p:iterate>
                                  <p:childTnLst>
                                    <p:set>
                                      <p:cBhvr>
                                        <p:cTn id="6" fill="hold"/>
                                        <p:tgtEl>
                                          <p:spTgt spid="266"/>
                                        </p:tgtEl>
                                        <p:attrNameLst>
                                          <p:attrName>style.visibility</p:attrName>
                                        </p:attrNameLst>
                                      </p:cBhvr>
                                      <p:to>
                                        <p:strVal val="visible"/>
                                      </p:to>
                                    </p:set>
                                    <p:animEffect filter="fade" transition="in">
                                      <p:cBhvr>
                                        <p:cTn id="7" dur="1000"/>
                                        <p:tgtEl>
                                          <p:spTgt spid="266"/>
                                        </p:tgtEl>
                                      </p:cBhvr>
                                    </p:animEffect>
                                  </p:childTnLst>
                                </p:cTn>
                              </p:par>
                            </p:childTnLst>
                          </p:cTn>
                        </p:par>
                      </p:childTnLst>
                    </p:cTn>
                  </p:par>
                  <p:par>
                    <p:cTn id="8" fill="hold">
                      <p:stCondLst>
                        <p:cond delay="indefinite"/>
                      </p:stCondLst>
                      <p:childTnLst>
                        <p:par>
                          <p:cTn id="9" fill="hold">
                            <p:stCondLst>
                              <p:cond delay="0"/>
                            </p:stCondLst>
                            <p:childTnLst>
                              <p:par>
                                <p:cTn id="10" presetClass="entr" nodeType="clickEffect" presetID="10" grpId="2" fill="hold">
                                  <p:stCondLst>
                                    <p:cond delay="0"/>
                                  </p:stCondLst>
                                  <p:iterate type="el" backwards="0">
                                    <p:tmAbs val="0"/>
                                  </p:iterate>
                                  <p:childTnLst>
                                    <p:set>
                                      <p:cBhvr>
                                        <p:cTn id="11" fill="hold"/>
                                        <p:tgtEl>
                                          <p:spTgt spid="267"/>
                                        </p:tgtEl>
                                        <p:attrNameLst>
                                          <p:attrName>style.visibility</p:attrName>
                                        </p:attrNameLst>
                                      </p:cBhvr>
                                      <p:to>
                                        <p:strVal val="visible"/>
                                      </p:to>
                                    </p:set>
                                    <p:animEffect filter="fade" transition="in">
                                      <p:cBhvr>
                                        <p:cTn id="12" dur="1000"/>
                                        <p:tgtEl>
                                          <p:spTgt spid="267"/>
                                        </p:tgtEl>
                                      </p:cBhvr>
                                    </p:animEffect>
                                  </p:childTnLst>
                                </p:cTn>
                              </p:par>
                            </p:childTnLst>
                          </p:cTn>
                        </p:par>
                      </p:childTnLst>
                    </p:cTn>
                  </p:par>
                  <p:par>
                    <p:cTn id="13" fill="hold">
                      <p:stCondLst>
                        <p:cond delay="indefinite"/>
                      </p:stCondLst>
                      <p:childTnLst>
                        <p:par>
                          <p:cTn id="14" fill="hold">
                            <p:stCondLst>
                              <p:cond delay="0"/>
                            </p:stCondLst>
                            <p:childTnLst>
                              <p:par>
                                <p:cTn id="15" presetClass="entr" nodeType="clickEffect" presetID="10" grpId="3" fill="hold">
                                  <p:stCondLst>
                                    <p:cond delay="0"/>
                                  </p:stCondLst>
                                  <p:iterate type="el" backwards="0">
                                    <p:tmAbs val="0"/>
                                  </p:iterate>
                                  <p:childTnLst>
                                    <p:set>
                                      <p:cBhvr>
                                        <p:cTn id="16" fill="hold"/>
                                        <p:tgtEl>
                                          <p:spTgt spid="263"/>
                                        </p:tgtEl>
                                        <p:attrNameLst>
                                          <p:attrName>style.visibility</p:attrName>
                                        </p:attrNameLst>
                                      </p:cBhvr>
                                      <p:to>
                                        <p:strVal val="visible"/>
                                      </p:to>
                                    </p:set>
                                    <p:animEffect filter="fade" transition="in">
                                      <p:cBhvr>
                                        <p:cTn id="17" dur="1500"/>
                                        <p:tgtEl>
                                          <p:spTgt spid="263"/>
                                        </p:tgtEl>
                                      </p:cBhvr>
                                    </p:animEffect>
                                  </p:childTnLst>
                                </p:cTn>
                              </p:par>
                            </p:childTnLst>
                          </p:cTn>
                        </p:par>
                      </p:childTnLst>
                    </p:cTn>
                  </p:par>
                  <p:par>
                    <p:cTn id="18" fill="hold">
                      <p:stCondLst>
                        <p:cond delay="indefinite"/>
                      </p:stCondLst>
                      <p:childTnLst>
                        <p:par>
                          <p:cTn id="19" fill="hold">
                            <p:stCondLst>
                              <p:cond delay="0"/>
                            </p:stCondLst>
                            <p:childTnLst>
                              <p:par>
                                <p:cTn id="20" presetClass="entr" nodeType="clickEffect" presetID="10" grpId="4" fill="hold">
                                  <p:stCondLst>
                                    <p:cond delay="0"/>
                                  </p:stCondLst>
                                  <p:iterate type="el" backwards="0">
                                    <p:tmAbs val="0"/>
                                  </p:iterate>
                                  <p:childTnLst>
                                    <p:set>
                                      <p:cBhvr>
                                        <p:cTn id="21" fill="hold"/>
                                        <p:tgtEl>
                                          <p:spTgt spid="261"/>
                                        </p:tgtEl>
                                        <p:attrNameLst>
                                          <p:attrName>style.visibility</p:attrName>
                                        </p:attrNameLst>
                                      </p:cBhvr>
                                      <p:to>
                                        <p:strVal val="visible"/>
                                      </p:to>
                                    </p:set>
                                    <p:animEffect filter="fade" transition="in">
                                      <p:cBhvr>
                                        <p:cTn id="22" dur="1000"/>
                                        <p:tgtEl>
                                          <p:spTgt spid="261"/>
                                        </p:tgtEl>
                                      </p:cBhvr>
                                    </p:animEffect>
                                  </p:childTnLst>
                                </p:cTn>
                              </p:par>
                            </p:childTnLst>
                          </p:cTn>
                        </p:par>
                      </p:childTnLst>
                    </p:cTn>
                  </p:par>
                  <p:par>
                    <p:cTn id="23" fill="hold">
                      <p:stCondLst>
                        <p:cond delay="indefinite"/>
                      </p:stCondLst>
                      <p:childTnLst>
                        <p:par>
                          <p:cTn id="24" fill="hold">
                            <p:stCondLst>
                              <p:cond delay="0"/>
                            </p:stCondLst>
                            <p:childTnLst>
                              <p:par>
                                <p:cTn id="25" presetClass="entr" nodeType="clickEffect" presetID="10" grpId="5" fill="hold">
                                  <p:stCondLst>
                                    <p:cond delay="0"/>
                                  </p:stCondLst>
                                  <p:iterate type="el" backwards="0">
                                    <p:tmAbs val="0"/>
                                  </p:iterate>
                                  <p:childTnLst>
                                    <p:set>
                                      <p:cBhvr>
                                        <p:cTn id="26" fill="hold"/>
                                        <p:tgtEl>
                                          <p:spTgt spid="262"/>
                                        </p:tgtEl>
                                        <p:attrNameLst>
                                          <p:attrName>style.visibility</p:attrName>
                                        </p:attrNameLst>
                                      </p:cBhvr>
                                      <p:to>
                                        <p:strVal val="visible"/>
                                      </p:to>
                                    </p:set>
                                    <p:animEffect filter="fade" transition="in">
                                      <p:cBhvr>
                                        <p:cTn id="27" dur="1000"/>
                                        <p:tgtEl>
                                          <p:spTgt spid="262"/>
                                        </p:tgtEl>
                                      </p:cBhvr>
                                    </p:animEffect>
                                  </p:childTnLst>
                                </p:cTn>
                              </p:par>
                            </p:childTnLst>
                          </p:cTn>
                        </p:par>
                      </p:childTnLst>
                    </p:cTn>
                  </p:par>
                  <p:par>
                    <p:cTn id="28" fill="hold">
                      <p:stCondLst>
                        <p:cond delay="indefinite"/>
                      </p:stCondLst>
                      <p:childTnLst>
                        <p:par>
                          <p:cTn id="29" fill="hold">
                            <p:stCondLst>
                              <p:cond delay="0"/>
                            </p:stCondLst>
                            <p:childTnLst>
                              <p:par>
                                <p:cTn id="30" presetClass="entr" nodeType="clickEffect" presetID="10" grpId="6" fill="hold">
                                  <p:stCondLst>
                                    <p:cond delay="0"/>
                                  </p:stCondLst>
                                  <p:iterate type="el" backwards="0">
                                    <p:tmAbs val="0"/>
                                  </p:iterate>
                                  <p:childTnLst>
                                    <p:set>
                                      <p:cBhvr>
                                        <p:cTn id="31" fill="hold"/>
                                        <p:tgtEl>
                                          <p:spTgt spid="264"/>
                                        </p:tgtEl>
                                        <p:attrNameLst>
                                          <p:attrName>style.visibility</p:attrName>
                                        </p:attrNameLst>
                                      </p:cBhvr>
                                      <p:to>
                                        <p:strVal val="visible"/>
                                      </p:to>
                                    </p:set>
                                    <p:animEffect filter="fade" transition="in">
                                      <p:cBhvr>
                                        <p:cTn id="32" dur="1000"/>
                                        <p:tgtEl>
                                          <p:spTgt spid="26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262" grpId="5"/>
      <p:bldP build="whole" bldLvl="1" animBg="1" rev="0" advAuto="0" spid="263" grpId="3"/>
      <p:bldP build="whole" bldLvl="1" animBg="1" rev="0" advAuto="0" spid="266" grpId="1"/>
      <p:bldP build="whole" bldLvl="1" animBg="1" rev="0" advAuto="0" spid="261" grpId="4"/>
      <p:bldP build="whole" bldLvl="1" animBg="1" rev="0" advAuto="0" spid="264" grpId="6"/>
      <p:bldP build="whole" bldLvl="1" animBg="1" rev="0" advAuto="0" spid="267" grpId="2"/>
    </p:bldLst>
  </p:timing>
</p:sld>
</file>

<file path=ppt/slides/slide3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69" name="Slide Number"/>
          <p:cNvSpPr txBox="1"/>
          <p:nvPr>
            <p:ph type="sldNum" sz="quarter" idx="2"/>
          </p:nvPr>
        </p:nvSpPr>
        <p:spPr>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270" name="Two Approaches to VC"/>
          <p:cNvSpPr txBox="1"/>
          <p:nvPr>
            <p:ph type="title"/>
          </p:nvPr>
        </p:nvSpPr>
        <p:spPr>
          <a:xfrm>
            <a:off x="1911492" y="4233"/>
            <a:ext cx="9181815" cy="885826"/>
          </a:xfrm>
          <a:prstGeom prst="rect">
            <a:avLst/>
          </a:prstGeom>
        </p:spPr>
        <p:txBody>
          <a:bodyPr/>
          <a:lstStyle/>
          <a:p>
            <a:pPr/>
            <a:r>
              <a:t>Two Approaches to VC</a:t>
            </a:r>
          </a:p>
        </p:txBody>
      </p:sp>
      <p:sp>
        <p:nvSpPr>
          <p:cNvPr id="271" name="Snapshot Based VC"/>
          <p:cNvSpPr txBox="1"/>
          <p:nvPr/>
        </p:nvSpPr>
        <p:spPr>
          <a:xfrm>
            <a:off x="94290" y="4406900"/>
            <a:ext cx="3538229" cy="533401"/>
          </a:xfrm>
          <a:prstGeom prst="rect">
            <a:avLst/>
          </a:prstGeom>
          <a:ln w="3175">
            <a:miter lim="400000"/>
          </a:ln>
          <a:extLst>
            <a:ext uri="{C572A759-6A51-4108-AA02-DFA0A04FC94B}">
              <ma14:wrappingTextBoxFlag xmlns:ma14="http://schemas.microsoft.com/office/mac/drawingml/2011/main" val="1"/>
            </a:ext>
          </a:extLst>
        </p:spPr>
        <p:txBody>
          <a:bodyPr lIns="38100" tIns="38100" rIns="38100" bIns="38100" anchor="ctr">
            <a:spAutoFit/>
          </a:bodyPr>
          <a:lstStyle>
            <a:lvl1pPr algn="l">
              <a:defRPr sz="3200">
                <a:solidFill>
                  <a:srgbClr val="008900"/>
                </a:solidFill>
                <a:latin typeface="Franklin Gothic Medium"/>
                <a:ea typeface="Franklin Gothic Medium"/>
                <a:cs typeface="Franklin Gothic Medium"/>
                <a:sym typeface="Franklin Gothic Medium"/>
              </a:defRPr>
            </a:lvl1pPr>
          </a:lstStyle>
          <a:p>
            <a:pPr/>
            <a:r>
              <a:t>Snapshot Based VC</a:t>
            </a:r>
          </a:p>
        </p:txBody>
      </p:sp>
      <p:sp>
        <p:nvSpPr>
          <p:cNvPr id="272" name="After initializing the VC, the system takes a snapshot of the whole repository with each version. Changed files get updated and unchanged files are linked for efficiency."/>
          <p:cNvSpPr txBox="1"/>
          <p:nvPr/>
        </p:nvSpPr>
        <p:spPr>
          <a:xfrm>
            <a:off x="162023" y="4902200"/>
            <a:ext cx="12680753" cy="1447801"/>
          </a:xfrm>
          <a:prstGeom prst="rect">
            <a:avLst/>
          </a:prstGeom>
          <a:ln w="3175">
            <a:miter lim="400000"/>
          </a:ln>
          <a:extLst>
            <a:ext uri="{C572A759-6A51-4108-AA02-DFA0A04FC94B}">
              <ma14:wrappingTextBoxFlag xmlns:ma14="http://schemas.microsoft.com/office/mac/drawingml/2011/main" val="1"/>
            </a:ext>
          </a:extLst>
        </p:spPr>
        <p:txBody>
          <a:bodyPr lIns="38100" tIns="38100" rIns="38100" bIns="38100" anchor="ctr">
            <a:spAutoFit/>
          </a:bodyPr>
          <a:lstStyle>
            <a:lvl1pPr algn="l">
              <a:defRPr sz="3200">
                <a:solidFill>
                  <a:srgbClr val="000004"/>
                </a:solidFill>
                <a:latin typeface="Franklin Gothic Medium"/>
                <a:ea typeface="Franklin Gothic Medium"/>
                <a:cs typeface="Franklin Gothic Medium"/>
                <a:sym typeface="Franklin Gothic Medium"/>
              </a:defRPr>
            </a:lvl1pPr>
          </a:lstStyle>
          <a:p>
            <a:pPr/>
            <a:r>
              <a:t>After initializing the VC, the system takes a snapshot of the whole repository with each version. Changed files get updated and unchanged files are linked for efficiency.</a:t>
            </a:r>
          </a:p>
        </p:txBody>
      </p:sp>
      <p:sp>
        <p:nvSpPr>
          <p:cNvPr id="273" name="Git is a snapshot based VC system that we'll work with."/>
          <p:cNvSpPr txBox="1"/>
          <p:nvPr/>
        </p:nvSpPr>
        <p:spPr>
          <a:xfrm>
            <a:off x="162023" y="7066725"/>
            <a:ext cx="12680754" cy="533401"/>
          </a:xfrm>
          <a:prstGeom prst="rect">
            <a:avLst/>
          </a:prstGeom>
          <a:ln w="3175">
            <a:miter lim="400000"/>
          </a:ln>
          <a:extLst>
            <a:ext uri="{C572A759-6A51-4108-AA02-DFA0A04FC94B}">
              <ma14:wrappingTextBoxFlag xmlns:ma14="http://schemas.microsoft.com/office/mac/drawingml/2011/main" val="1"/>
            </a:ext>
          </a:extLst>
        </p:spPr>
        <p:txBody>
          <a:bodyPr lIns="38100" tIns="38100" rIns="38100" bIns="38100" anchor="ctr">
            <a:spAutoFit/>
          </a:bodyPr>
          <a:lstStyle>
            <a:lvl1pPr algn="l">
              <a:defRPr sz="3200">
                <a:solidFill>
                  <a:srgbClr val="000004"/>
                </a:solidFill>
                <a:latin typeface="Franklin Gothic Medium"/>
                <a:ea typeface="Franklin Gothic Medium"/>
                <a:cs typeface="Franklin Gothic Medium"/>
                <a:sym typeface="Franklin Gothic Medium"/>
              </a:defRPr>
            </a:lvl1pPr>
          </a:lstStyle>
          <a:p>
            <a:pPr/>
            <a:r>
              <a:t>Git is a snapshot based VC system that we'll work with.</a:t>
            </a:r>
          </a:p>
        </p:txBody>
      </p:sp>
      <p:sp>
        <p:nvSpPr>
          <p:cNvPr id="274" name="There are two general approaches to version control (VC)."/>
          <p:cNvSpPr txBox="1"/>
          <p:nvPr/>
        </p:nvSpPr>
        <p:spPr>
          <a:xfrm>
            <a:off x="112077" y="922866"/>
            <a:ext cx="12780645" cy="533401"/>
          </a:xfrm>
          <a:prstGeom prst="rect">
            <a:avLst/>
          </a:prstGeom>
          <a:ln w="3175">
            <a:miter lim="400000"/>
          </a:ln>
          <a:extLst>
            <a:ext uri="{C572A759-6A51-4108-AA02-DFA0A04FC94B}">
              <ma14:wrappingTextBoxFlag xmlns:ma14="http://schemas.microsoft.com/office/mac/drawingml/2011/main" val="1"/>
            </a:ext>
          </a:extLst>
        </p:spPr>
        <p:txBody>
          <a:bodyPr lIns="38100" tIns="38100" rIns="38100" bIns="38100" anchor="ctr">
            <a:spAutoFit/>
          </a:bodyPr>
          <a:lstStyle>
            <a:lvl1pPr algn="l">
              <a:defRPr sz="3200">
                <a:solidFill>
                  <a:srgbClr val="000004"/>
                </a:solidFill>
                <a:latin typeface="Franklin Gothic Medium"/>
                <a:ea typeface="Franklin Gothic Medium"/>
                <a:cs typeface="Franklin Gothic Medium"/>
                <a:sym typeface="Franklin Gothic Medium"/>
              </a:defRPr>
            </a:lvl1pPr>
          </a:lstStyle>
          <a:p>
            <a:pPr/>
            <a:r>
              <a:t>There are two general approaches to version control (VC).</a:t>
            </a:r>
          </a:p>
        </p:txBody>
      </p:sp>
      <p:sp>
        <p:nvSpPr>
          <p:cNvPr id="275" name="Delta-Based VC"/>
          <p:cNvSpPr txBox="1"/>
          <p:nvPr/>
        </p:nvSpPr>
        <p:spPr>
          <a:xfrm>
            <a:off x="112077" y="1837305"/>
            <a:ext cx="2870050" cy="533401"/>
          </a:xfrm>
          <a:prstGeom prst="rect">
            <a:avLst/>
          </a:prstGeom>
          <a:ln w="3175">
            <a:miter lim="400000"/>
          </a:ln>
          <a:extLst>
            <a:ext uri="{C572A759-6A51-4108-AA02-DFA0A04FC94B}">
              <ma14:wrappingTextBoxFlag xmlns:ma14="http://schemas.microsoft.com/office/mac/drawingml/2011/main" val="1"/>
            </a:ext>
          </a:extLst>
        </p:spPr>
        <p:txBody>
          <a:bodyPr lIns="38100" tIns="38100" rIns="38100" bIns="38100" anchor="ctr">
            <a:spAutoFit/>
          </a:bodyPr>
          <a:lstStyle>
            <a:lvl1pPr algn="l">
              <a:defRPr sz="3200">
                <a:solidFill>
                  <a:srgbClr val="1D2FEB"/>
                </a:solidFill>
                <a:latin typeface="Franklin Gothic Medium"/>
                <a:ea typeface="Franklin Gothic Medium"/>
                <a:cs typeface="Franklin Gothic Medium"/>
                <a:sym typeface="Franklin Gothic Medium"/>
              </a:defRPr>
            </a:lvl1pPr>
          </a:lstStyle>
          <a:p>
            <a:pPr/>
            <a:r>
              <a:t>Delta-Based VC</a:t>
            </a:r>
          </a:p>
        </p:txBody>
      </p:sp>
      <p:sp>
        <p:nvSpPr>
          <p:cNvPr id="276" name="After initializing the VC, the system tracks the changes (deltas) to the files in the repository. Thus, subsequent versions are the sum of the initial files and all of the changes made up to that version."/>
          <p:cNvSpPr txBox="1"/>
          <p:nvPr/>
        </p:nvSpPr>
        <p:spPr>
          <a:xfrm>
            <a:off x="112077" y="2349048"/>
            <a:ext cx="12780645" cy="1447801"/>
          </a:xfrm>
          <a:prstGeom prst="rect">
            <a:avLst/>
          </a:prstGeom>
          <a:ln w="3175">
            <a:miter lim="400000"/>
          </a:ln>
          <a:extLst>
            <a:ext uri="{C572A759-6A51-4108-AA02-DFA0A04FC94B}">
              <ma14:wrappingTextBoxFlag xmlns:ma14="http://schemas.microsoft.com/office/mac/drawingml/2011/main" val="1"/>
            </a:ext>
          </a:extLst>
        </p:spPr>
        <p:txBody>
          <a:bodyPr lIns="38100" tIns="38100" rIns="38100" bIns="38100" anchor="ctr">
            <a:spAutoFit/>
          </a:bodyPr>
          <a:lstStyle/>
          <a:p>
            <a:pPr algn="l">
              <a:defRPr sz="3200">
                <a:solidFill>
                  <a:srgbClr val="000004"/>
                </a:solidFill>
                <a:latin typeface="Franklin Gothic Medium"/>
                <a:ea typeface="Franklin Gothic Medium"/>
                <a:cs typeface="Franklin Gothic Medium"/>
                <a:sym typeface="Franklin Gothic Medium"/>
              </a:defRPr>
            </a:pPr>
            <a:r>
              <a:t>After initializing the VC, the system tracks the </a:t>
            </a:r>
            <a:r>
              <a:rPr i="1"/>
              <a:t>changes</a:t>
            </a:r>
            <a:r>
              <a:t> (deltas) to the files in the repository. Thus, subsequent versions are the sum of the initial files and all of the changes made up to that version.</a:t>
            </a:r>
          </a:p>
        </p:txBody>
      </p:sp>
    </p:spTree>
  </p:cSld>
  <p:clrMapOvr>
    <a:masterClrMapping/>
  </p:clrMapOvr>
  <mc:AlternateContent xmlns:mc="http://schemas.openxmlformats.org/markup-compatibility/2006">
    <mc:Choice xmlns:p14="http://schemas.microsoft.com/office/powerpoint/2010/main" Requires="p14">
      <p:transition spd="slow" advClick="1" p14:dur="1500">
        <p:fade/>
      </p:transition>
    </mc:Choice>
    <mc:Fallback>
      <p:transition spd="slow">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ID="10" grpId="1" fill="hold">
                                  <p:stCondLst>
                                    <p:cond delay="0"/>
                                  </p:stCondLst>
                                  <p:iterate type="el" backwards="0">
                                    <p:tmAbs val="0"/>
                                  </p:iterate>
                                  <p:childTnLst>
                                    <p:set>
                                      <p:cBhvr>
                                        <p:cTn id="6" fill="hold"/>
                                        <p:tgtEl>
                                          <p:spTgt spid="275"/>
                                        </p:tgtEl>
                                        <p:attrNameLst>
                                          <p:attrName>style.visibility</p:attrName>
                                        </p:attrNameLst>
                                      </p:cBhvr>
                                      <p:to>
                                        <p:strVal val="visible"/>
                                      </p:to>
                                    </p:set>
                                    <p:animEffect filter="fade" transition="in">
                                      <p:cBhvr>
                                        <p:cTn id="7" dur="1000"/>
                                        <p:tgtEl>
                                          <p:spTgt spid="275"/>
                                        </p:tgtEl>
                                      </p:cBhvr>
                                    </p:animEffect>
                                  </p:childTnLst>
                                </p:cTn>
                              </p:par>
                            </p:childTnLst>
                          </p:cTn>
                        </p:par>
                      </p:childTnLst>
                    </p:cTn>
                  </p:par>
                  <p:par>
                    <p:cTn id="8" fill="hold">
                      <p:stCondLst>
                        <p:cond delay="indefinite"/>
                      </p:stCondLst>
                      <p:childTnLst>
                        <p:par>
                          <p:cTn id="9" fill="hold">
                            <p:stCondLst>
                              <p:cond delay="0"/>
                            </p:stCondLst>
                            <p:childTnLst>
                              <p:par>
                                <p:cTn id="10" presetClass="entr" nodeType="clickEffect" presetID="10" grpId="2" fill="hold">
                                  <p:stCondLst>
                                    <p:cond delay="0"/>
                                  </p:stCondLst>
                                  <p:iterate type="el" backwards="0">
                                    <p:tmAbs val="0"/>
                                  </p:iterate>
                                  <p:childTnLst>
                                    <p:set>
                                      <p:cBhvr>
                                        <p:cTn id="11" fill="hold"/>
                                        <p:tgtEl>
                                          <p:spTgt spid="276"/>
                                        </p:tgtEl>
                                        <p:attrNameLst>
                                          <p:attrName>style.visibility</p:attrName>
                                        </p:attrNameLst>
                                      </p:cBhvr>
                                      <p:to>
                                        <p:strVal val="visible"/>
                                      </p:to>
                                    </p:set>
                                    <p:animEffect filter="fade" transition="in">
                                      <p:cBhvr>
                                        <p:cTn id="12" dur="1000"/>
                                        <p:tgtEl>
                                          <p:spTgt spid="276"/>
                                        </p:tgtEl>
                                      </p:cBhvr>
                                    </p:animEffect>
                                  </p:childTnLst>
                                </p:cTn>
                              </p:par>
                            </p:childTnLst>
                          </p:cTn>
                        </p:par>
                      </p:childTnLst>
                    </p:cTn>
                  </p:par>
                  <p:par>
                    <p:cTn id="13" fill="hold">
                      <p:stCondLst>
                        <p:cond delay="indefinite"/>
                      </p:stCondLst>
                      <p:childTnLst>
                        <p:par>
                          <p:cTn id="14" fill="hold">
                            <p:stCondLst>
                              <p:cond delay="0"/>
                            </p:stCondLst>
                            <p:childTnLst>
                              <p:par>
                                <p:cTn id="15" presetClass="entr" nodeType="clickEffect" presetID="10" grpId="3" fill="hold">
                                  <p:stCondLst>
                                    <p:cond delay="0"/>
                                  </p:stCondLst>
                                  <p:iterate type="el" backwards="0">
                                    <p:tmAbs val="0"/>
                                  </p:iterate>
                                  <p:childTnLst>
                                    <p:set>
                                      <p:cBhvr>
                                        <p:cTn id="16" fill="hold"/>
                                        <p:tgtEl>
                                          <p:spTgt spid="271"/>
                                        </p:tgtEl>
                                        <p:attrNameLst>
                                          <p:attrName>style.visibility</p:attrName>
                                        </p:attrNameLst>
                                      </p:cBhvr>
                                      <p:to>
                                        <p:strVal val="visible"/>
                                      </p:to>
                                    </p:set>
                                    <p:animEffect filter="fade" transition="in">
                                      <p:cBhvr>
                                        <p:cTn id="17" dur="1000"/>
                                        <p:tgtEl>
                                          <p:spTgt spid="271"/>
                                        </p:tgtEl>
                                      </p:cBhvr>
                                    </p:animEffect>
                                  </p:childTnLst>
                                </p:cTn>
                              </p:par>
                            </p:childTnLst>
                          </p:cTn>
                        </p:par>
                      </p:childTnLst>
                    </p:cTn>
                  </p:par>
                  <p:par>
                    <p:cTn id="18" fill="hold">
                      <p:stCondLst>
                        <p:cond delay="indefinite"/>
                      </p:stCondLst>
                      <p:childTnLst>
                        <p:par>
                          <p:cTn id="19" fill="hold">
                            <p:stCondLst>
                              <p:cond delay="0"/>
                            </p:stCondLst>
                            <p:childTnLst>
                              <p:par>
                                <p:cTn id="20" presetClass="entr" nodeType="clickEffect" presetID="10" grpId="4" fill="hold">
                                  <p:stCondLst>
                                    <p:cond delay="0"/>
                                  </p:stCondLst>
                                  <p:iterate type="el" backwards="0">
                                    <p:tmAbs val="0"/>
                                  </p:iterate>
                                  <p:childTnLst>
                                    <p:set>
                                      <p:cBhvr>
                                        <p:cTn id="21" fill="hold"/>
                                        <p:tgtEl>
                                          <p:spTgt spid="272"/>
                                        </p:tgtEl>
                                        <p:attrNameLst>
                                          <p:attrName>style.visibility</p:attrName>
                                        </p:attrNameLst>
                                      </p:cBhvr>
                                      <p:to>
                                        <p:strVal val="visible"/>
                                      </p:to>
                                    </p:set>
                                    <p:animEffect filter="fade" transition="in">
                                      <p:cBhvr>
                                        <p:cTn id="22" dur="1000"/>
                                        <p:tgtEl>
                                          <p:spTgt spid="272"/>
                                        </p:tgtEl>
                                      </p:cBhvr>
                                    </p:animEffect>
                                  </p:childTnLst>
                                </p:cTn>
                              </p:par>
                            </p:childTnLst>
                          </p:cTn>
                        </p:par>
                      </p:childTnLst>
                    </p:cTn>
                  </p:par>
                  <p:par>
                    <p:cTn id="23" fill="hold">
                      <p:stCondLst>
                        <p:cond delay="indefinite"/>
                      </p:stCondLst>
                      <p:childTnLst>
                        <p:par>
                          <p:cTn id="24" fill="hold">
                            <p:stCondLst>
                              <p:cond delay="0"/>
                            </p:stCondLst>
                            <p:childTnLst>
                              <p:par>
                                <p:cTn id="25" presetClass="entr" nodeType="clickEffect" presetID="10" grpId="5" fill="hold">
                                  <p:stCondLst>
                                    <p:cond delay="0"/>
                                  </p:stCondLst>
                                  <p:iterate type="el" backwards="0">
                                    <p:tmAbs val="0"/>
                                  </p:iterate>
                                  <p:childTnLst>
                                    <p:set>
                                      <p:cBhvr>
                                        <p:cTn id="26" fill="hold"/>
                                        <p:tgtEl>
                                          <p:spTgt spid="273"/>
                                        </p:tgtEl>
                                        <p:attrNameLst>
                                          <p:attrName>style.visibility</p:attrName>
                                        </p:attrNameLst>
                                      </p:cBhvr>
                                      <p:to>
                                        <p:strVal val="visible"/>
                                      </p:to>
                                    </p:set>
                                    <p:animEffect filter="fade" transition="in">
                                      <p:cBhvr>
                                        <p:cTn id="27" dur="1000"/>
                                        <p:tgtEl>
                                          <p:spTgt spid="27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276" grpId="2"/>
      <p:bldP build="whole" bldLvl="1" animBg="1" rev="0" advAuto="0" spid="275" grpId="1"/>
      <p:bldP build="whole" bldLvl="1" animBg="1" rev="0" advAuto="0" spid="272" grpId="4"/>
      <p:bldP build="whole" bldLvl="1" animBg="1" rev="0" advAuto="0" spid="273" grpId="5"/>
      <p:bldP build="whole" bldLvl="1" animBg="1" rev="0" advAuto="0" spid="271" grpId="3"/>
    </p:bldLst>
  </p:timing>
</p:sld>
</file>

<file path=ppt/slides/slide3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78" name="Slide Number"/>
          <p:cNvSpPr txBox="1"/>
          <p:nvPr>
            <p:ph type="sldNum" sz="quarter" idx="2"/>
          </p:nvPr>
        </p:nvSpPr>
        <p:spPr>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279" name="Using Git"/>
          <p:cNvSpPr txBox="1"/>
          <p:nvPr>
            <p:ph type="title"/>
          </p:nvPr>
        </p:nvSpPr>
        <p:spPr>
          <a:prstGeom prst="rect">
            <a:avLst/>
          </a:prstGeom>
        </p:spPr>
        <p:txBody>
          <a:bodyPr/>
          <a:lstStyle/>
          <a:p>
            <a:pPr/>
            <a:r>
              <a:t>Using Git</a:t>
            </a:r>
          </a:p>
        </p:txBody>
      </p:sp>
      <p:sp>
        <p:nvSpPr>
          <p:cNvPr id="280" name="Circle"/>
          <p:cNvSpPr/>
          <p:nvPr/>
        </p:nvSpPr>
        <p:spPr>
          <a:xfrm>
            <a:off x="246233" y="3847084"/>
            <a:ext cx="952501" cy="952501"/>
          </a:xfrm>
          <a:prstGeom prst="ellipse">
            <a:avLst/>
          </a:prstGeom>
          <a:solidFill>
            <a:srgbClr val="008900"/>
          </a:solidFill>
          <a:ln w="114300">
            <a:solidFill>
              <a:srgbClr val="000000"/>
            </a:solidFill>
            <a:miter lim="400000"/>
          </a:ln>
        </p:spPr>
        <p:txBody>
          <a:bodyPr lIns="38100" tIns="38100" rIns="38100" bIns="38100" anchor="ctr"/>
          <a:lstStyle/>
          <a:p>
            <a:pPr>
              <a:defRPr sz="3800">
                <a:solidFill>
                  <a:srgbClr val="FFFFFF"/>
                </a:solidFill>
                <a:effectLst>
                  <a:outerShdw sx="100000" sy="100000" kx="0" ky="0" algn="b" rotWithShape="0" blurRad="38100" dist="12700" dir="5400000">
                    <a:srgbClr val="000000">
                      <a:alpha val="50000"/>
                    </a:srgbClr>
                  </a:outerShdw>
                </a:effectLst>
                <a:latin typeface="Times New Roman"/>
                <a:ea typeface="Times New Roman"/>
                <a:cs typeface="Times New Roman"/>
                <a:sym typeface="Times New Roman"/>
              </a:defRPr>
            </a:pPr>
          </a:p>
        </p:txBody>
      </p:sp>
      <p:sp>
        <p:nvSpPr>
          <p:cNvPr id="281" name="Circle"/>
          <p:cNvSpPr/>
          <p:nvPr/>
        </p:nvSpPr>
        <p:spPr>
          <a:xfrm>
            <a:off x="2455333" y="1952517"/>
            <a:ext cx="952501" cy="952501"/>
          </a:xfrm>
          <a:prstGeom prst="ellipse">
            <a:avLst/>
          </a:prstGeom>
          <a:solidFill>
            <a:srgbClr val="1D2FEB"/>
          </a:solidFill>
          <a:ln w="114300">
            <a:solidFill>
              <a:srgbClr val="000000"/>
            </a:solidFill>
            <a:miter lim="400000"/>
          </a:ln>
        </p:spPr>
        <p:txBody>
          <a:bodyPr lIns="38100" tIns="38100" rIns="38100" bIns="38100" anchor="ctr"/>
          <a:lstStyle/>
          <a:p>
            <a:pPr>
              <a:defRPr sz="3800">
                <a:solidFill>
                  <a:srgbClr val="FFFFFF"/>
                </a:solidFill>
                <a:effectLst>
                  <a:outerShdw sx="100000" sy="100000" kx="0" ky="0" algn="b" rotWithShape="0" blurRad="38100" dist="12700" dir="5400000">
                    <a:srgbClr val="000000">
                      <a:alpha val="50000"/>
                    </a:srgbClr>
                  </a:outerShdw>
                </a:effectLst>
                <a:latin typeface="Times New Roman"/>
                <a:ea typeface="Times New Roman"/>
                <a:cs typeface="Times New Roman"/>
                <a:sym typeface="Times New Roman"/>
              </a:defRPr>
            </a:pPr>
          </a:p>
        </p:txBody>
      </p:sp>
      <p:sp>
        <p:nvSpPr>
          <p:cNvPr id="282" name="Circle"/>
          <p:cNvSpPr/>
          <p:nvPr/>
        </p:nvSpPr>
        <p:spPr>
          <a:xfrm>
            <a:off x="1473199" y="5690317"/>
            <a:ext cx="952501" cy="952501"/>
          </a:xfrm>
          <a:prstGeom prst="ellipse">
            <a:avLst/>
          </a:prstGeom>
          <a:solidFill>
            <a:srgbClr val="BA3EB3"/>
          </a:solidFill>
          <a:ln w="114300">
            <a:solidFill>
              <a:srgbClr val="000000"/>
            </a:solidFill>
            <a:miter lim="400000"/>
          </a:ln>
        </p:spPr>
        <p:txBody>
          <a:bodyPr lIns="38100" tIns="38100" rIns="38100" bIns="38100" anchor="ctr"/>
          <a:lstStyle/>
          <a:p>
            <a:pPr>
              <a:defRPr sz="3800">
                <a:solidFill>
                  <a:srgbClr val="FFFFFF"/>
                </a:solidFill>
                <a:effectLst>
                  <a:outerShdw sx="100000" sy="100000" kx="0" ky="0" algn="b" rotWithShape="0" blurRad="38100" dist="12700" dir="5400000">
                    <a:srgbClr val="000000">
                      <a:alpha val="50000"/>
                    </a:srgbClr>
                  </a:outerShdw>
                </a:effectLst>
                <a:latin typeface="Times New Roman"/>
                <a:ea typeface="Times New Roman"/>
                <a:cs typeface="Times New Roman"/>
                <a:sym typeface="Times New Roman"/>
              </a:defRPr>
            </a:pPr>
          </a:p>
        </p:txBody>
      </p:sp>
      <p:sp>
        <p:nvSpPr>
          <p:cNvPr id="283" name="Circle"/>
          <p:cNvSpPr/>
          <p:nvPr/>
        </p:nvSpPr>
        <p:spPr>
          <a:xfrm>
            <a:off x="3105970" y="7804204"/>
            <a:ext cx="952501" cy="952501"/>
          </a:xfrm>
          <a:prstGeom prst="ellipse">
            <a:avLst/>
          </a:prstGeom>
          <a:solidFill>
            <a:srgbClr val="F6B000"/>
          </a:solidFill>
          <a:ln w="114300">
            <a:solidFill>
              <a:srgbClr val="000000"/>
            </a:solidFill>
            <a:miter lim="400000"/>
          </a:ln>
        </p:spPr>
        <p:txBody>
          <a:bodyPr lIns="38100" tIns="38100" rIns="38100" bIns="38100" anchor="ctr"/>
          <a:lstStyle/>
          <a:p>
            <a:pPr>
              <a:defRPr sz="3800">
                <a:solidFill>
                  <a:srgbClr val="FFFFFF"/>
                </a:solidFill>
                <a:effectLst>
                  <a:outerShdw sx="100000" sy="100000" kx="0" ky="0" algn="b" rotWithShape="0" blurRad="38100" dist="12700" dir="5400000">
                    <a:srgbClr val="000000">
                      <a:alpha val="50000"/>
                    </a:srgbClr>
                  </a:outerShdw>
                </a:effectLst>
                <a:latin typeface="Times New Roman"/>
                <a:ea typeface="Times New Roman"/>
                <a:cs typeface="Times New Roman"/>
                <a:sym typeface="Times New Roman"/>
              </a:defRPr>
            </a:pPr>
          </a:p>
        </p:txBody>
      </p:sp>
      <p:sp>
        <p:nvSpPr>
          <p:cNvPr id="284" name="Circle"/>
          <p:cNvSpPr/>
          <p:nvPr/>
        </p:nvSpPr>
        <p:spPr>
          <a:xfrm>
            <a:off x="4708568" y="1952517"/>
            <a:ext cx="952501" cy="952501"/>
          </a:xfrm>
          <a:prstGeom prst="ellipse">
            <a:avLst/>
          </a:prstGeom>
          <a:solidFill>
            <a:srgbClr val="1D2FEB"/>
          </a:solidFill>
          <a:ln w="114300">
            <a:solidFill>
              <a:srgbClr val="000000"/>
            </a:solidFill>
            <a:miter lim="400000"/>
          </a:ln>
        </p:spPr>
        <p:txBody>
          <a:bodyPr lIns="38100" tIns="38100" rIns="38100" bIns="38100" anchor="ctr"/>
          <a:lstStyle/>
          <a:p>
            <a:pPr>
              <a:defRPr sz="3800">
                <a:solidFill>
                  <a:srgbClr val="FFFFFF"/>
                </a:solidFill>
                <a:effectLst>
                  <a:outerShdw sx="100000" sy="100000" kx="0" ky="0" algn="b" rotWithShape="0" blurRad="38100" dist="12700" dir="5400000">
                    <a:srgbClr val="000000">
                      <a:alpha val="50000"/>
                    </a:srgbClr>
                  </a:outerShdw>
                </a:effectLst>
                <a:latin typeface="Times New Roman"/>
                <a:ea typeface="Times New Roman"/>
                <a:cs typeface="Times New Roman"/>
                <a:sym typeface="Times New Roman"/>
              </a:defRPr>
            </a:pPr>
          </a:p>
        </p:txBody>
      </p:sp>
      <p:sp>
        <p:nvSpPr>
          <p:cNvPr id="285" name="Circle"/>
          <p:cNvSpPr/>
          <p:nvPr/>
        </p:nvSpPr>
        <p:spPr>
          <a:xfrm>
            <a:off x="6961802" y="1960394"/>
            <a:ext cx="952501" cy="952501"/>
          </a:xfrm>
          <a:prstGeom prst="ellipse">
            <a:avLst/>
          </a:prstGeom>
          <a:solidFill>
            <a:srgbClr val="1D2FEB"/>
          </a:solidFill>
          <a:ln w="114300">
            <a:solidFill>
              <a:srgbClr val="000000"/>
            </a:solidFill>
            <a:miter lim="400000"/>
          </a:ln>
        </p:spPr>
        <p:txBody>
          <a:bodyPr lIns="38100" tIns="38100" rIns="38100" bIns="38100" anchor="ctr"/>
          <a:lstStyle/>
          <a:p>
            <a:pPr>
              <a:defRPr sz="3800">
                <a:solidFill>
                  <a:srgbClr val="FFFFFF"/>
                </a:solidFill>
                <a:effectLst>
                  <a:outerShdw sx="100000" sy="100000" kx="0" ky="0" algn="b" rotWithShape="0" blurRad="38100" dist="12700" dir="5400000">
                    <a:srgbClr val="000000">
                      <a:alpha val="50000"/>
                    </a:srgbClr>
                  </a:outerShdw>
                </a:effectLst>
                <a:latin typeface="Times New Roman"/>
                <a:ea typeface="Times New Roman"/>
                <a:cs typeface="Times New Roman"/>
                <a:sym typeface="Times New Roman"/>
              </a:defRPr>
            </a:pPr>
          </a:p>
        </p:txBody>
      </p:sp>
      <p:sp>
        <p:nvSpPr>
          <p:cNvPr id="286" name="Circle"/>
          <p:cNvSpPr/>
          <p:nvPr/>
        </p:nvSpPr>
        <p:spPr>
          <a:xfrm>
            <a:off x="5833343" y="7804204"/>
            <a:ext cx="952501" cy="952501"/>
          </a:xfrm>
          <a:prstGeom prst="ellipse">
            <a:avLst/>
          </a:prstGeom>
          <a:solidFill>
            <a:srgbClr val="F6B000"/>
          </a:solidFill>
          <a:ln w="114300">
            <a:solidFill>
              <a:srgbClr val="000000"/>
            </a:solidFill>
            <a:miter lim="400000"/>
          </a:ln>
        </p:spPr>
        <p:txBody>
          <a:bodyPr lIns="38100" tIns="38100" rIns="38100" bIns="38100" anchor="ctr"/>
          <a:lstStyle/>
          <a:p>
            <a:pPr>
              <a:defRPr sz="3800">
                <a:solidFill>
                  <a:srgbClr val="FFFFFF"/>
                </a:solidFill>
                <a:effectLst>
                  <a:outerShdw sx="100000" sy="100000" kx="0" ky="0" algn="b" rotWithShape="0" blurRad="38100" dist="12700" dir="5400000">
                    <a:srgbClr val="000000">
                      <a:alpha val="50000"/>
                    </a:srgbClr>
                  </a:outerShdw>
                </a:effectLst>
                <a:latin typeface="Times New Roman"/>
                <a:ea typeface="Times New Roman"/>
                <a:cs typeface="Times New Roman"/>
                <a:sym typeface="Times New Roman"/>
              </a:defRPr>
            </a:pPr>
          </a:p>
        </p:txBody>
      </p:sp>
      <p:sp>
        <p:nvSpPr>
          <p:cNvPr id="287" name="Circle"/>
          <p:cNvSpPr/>
          <p:nvPr/>
        </p:nvSpPr>
        <p:spPr>
          <a:xfrm>
            <a:off x="4708568" y="3826374"/>
            <a:ext cx="952501" cy="952501"/>
          </a:xfrm>
          <a:prstGeom prst="ellipse">
            <a:avLst/>
          </a:prstGeom>
          <a:solidFill>
            <a:srgbClr val="008900"/>
          </a:solidFill>
          <a:ln w="114300">
            <a:solidFill>
              <a:srgbClr val="000000"/>
            </a:solidFill>
            <a:miter lim="400000"/>
          </a:ln>
        </p:spPr>
        <p:txBody>
          <a:bodyPr lIns="38100" tIns="38100" rIns="38100" bIns="38100" anchor="ctr"/>
          <a:lstStyle/>
          <a:p>
            <a:pPr>
              <a:defRPr sz="3800">
                <a:solidFill>
                  <a:srgbClr val="FFFFFF"/>
                </a:solidFill>
                <a:effectLst>
                  <a:outerShdw sx="100000" sy="100000" kx="0" ky="0" algn="b" rotWithShape="0" blurRad="38100" dist="12700" dir="5400000">
                    <a:srgbClr val="000000">
                      <a:alpha val="50000"/>
                    </a:srgbClr>
                  </a:outerShdw>
                </a:effectLst>
                <a:latin typeface="Times New Roman"/>
                <a:ea typeface="Times New Roman"/>
                <a:cs typeface="Times New Roman"/>
                <a:sym typeface="Times New Roman"/>
              </a:defRPr>
            </a:pPr>
          </a:p>
        </p:txBody>
      </p:sp>
      <p:sp>
        <p:nvSpPr>
          <p:cNvPr id="288" name="Circle"/>
          <p:cNvSpPr/>
          <p:nvPr/>
        </p:nvSpPr>
        <p:spPr>
          <a:xfrm>
            <a:off x="11794066" y="3847084"/>
            <a:ext cx="952501" cy="952501"/>
          </a:xfrm>
          <a:prstGeom prst="ellipse">
            <a:avLst/>
          </a:prstGeom>
          <a:solidFill>
            <a:srgbClr val="008900"/>
          </a:solidFill>
          <a:ln w="114300">
            <a:solidFill>
              <a:srgbClr val="000000"/>
            </a:solidFill>
            <a:miter lim="400000"/>
          </a:ln>
        </p:spPr>
        <p:txBody>
          <a:bodyPr lIns="38100" tIns="38100" rIns="38100" bIns="38100" anchor="ctr"/>
          <a:lstStyle/>
          <a:p>
            <a:pPr>
              <a:defRPr sz="3800">
                <a:solidFill>
                  <a:srgbClr val="FFFFFF"/>
                </a:solidFill>
                <a:effectLst>
                  <a:outerShdw sx="100000" sy="100000" kx="0" ky="0" algn="b" rotWithShape="0" blurRad="38100" dist="12700" dir="5400000">
                    <a:srgbClr val="000000">
                      <a:alpha val="50000"/>
                    </a:srgbClr>
                  </a:outerShdw>
                </a:effectLst>
                <a:latin typeface="Times New Roman"/>
                <a:ea typeface="Times New Roman"/>
                <a:cs typeface="Times New Roman"/>
                <a:sym typeface="Times New Roman"/>
              </a:defRPr>
            </a:pPr>
          </a:p>
        </p:txBody>
      </p:sp>
      <p:cxnSp>
        <p:nvCxnSpPr>
          <p:cNvPr id="289" name="Connection Line"/>
          <p:cNvCxnSpPr>
            <a:stCxn id="280" idx="0"/>
            <a:endCxn id="287" idx="0"/>
          </p:cNvCxnSpPr>
          <p:nvPr/>
        </p:nvCxnSpPr>
        <p:spPr>
          <a:xfrm flipV="1">
            <a:off x="722483" y="4302624"/>
            <a:ext cx="4462336" cy="20711"/>
          </a:xfrm>
          <a:prstGeom prst="straightConnector1">
            <a:avLst/>
          </a:prstGeom>
          <a:ln w="88900">
            <a:solidFill>
              <a:srgbClr val="000000"/>
            </a:solidFill>
            <a:miter lim="400000"/>
            <a:tailEnd type="triangle"/>
          </a:ln>
        </p:spPr>
      </p:cxnSp>
      <p:cxnSp>
        <p:nvCxnSpPr>
          <p:cNvPr id="290" name="Connection Line"/>
          <p:cNvCxnSpPr>
            <a:stCxn id="287" idx="0"/>
            <a:endCxn id="299" idx="0"/>
          </p:cNvCxnSpPr>
          <p:nvPr/>
        </p:nvCxnSpPr>
        <p:spPr>
          <a:xfrm>
            <a:off x="5184818" y="4302624"/>
            <a:ext cx="2253235" cy="1"/>
          </a:xfrm>
          <a:prstGeom prst="straightConnector1">
            <a:avLst/>
          </a:prstGeom>
          <a:ln w="88900">
            <a:solidFill>
              <a:srgbClr val="000000"/>
            </a:solidFill>
            <a:miter lim="400000"/>
            <a:tailEnd type="triangle"/>
          </a:ln>
        </p:spPr>
      </p:cxnSp>
      <p:cxnSp>
        <p:nvCxnSpPr>
          <p:cNvPr id="291" name="Connection Line"/>
          <p:cNvCxnSpPr>
            <a:stCxn id="280" idx="0"/>
            <a:endCxn id="281" idx="0"/>
          </p:cNvCxnSpPr>
          <p:nvPr/>
        </p:nvCxnSpPr>
        <p:spPr>
          <a:xfrm flipV="1">
            <a:off x="722483" y="2428767"/>
            <a:ext cx="2209101" cy="1894568"/>
          </a:xfrm>
          <a:prstGeom prst="straightConnector1">
            <a:avLst/>
          </a:prstGeom>
          <a:ln w="88900">
            <a:solidFill>
              <a:srgbClr val="000000"/>
            </a:solidFill>
            <a:miter lim="400000"/>
            <a:tailEnd type="triangle"/>
          </a:ln>
        </p:spPr>
      </p:cxnSp>
      <p:cxnSp>
        <p:nvCxnSpPr>
          <p:cNvPr id="292" name="Connection Line"/>
          <p:cNvCxnSpPr>
            <a:stCxn id="280" idx="0"/>
            <a:endCxn id="282" idx="0"/>
          </p:cNvCxnSpPr>
          <p:nvPr/>
        </p:nvCxnSpPr>
        <p:spPr>
          <a:xfrm>
            <a:off x="722483" y="4323334"/>
            <a:ext cx="1226967" cy="1843234"/>
          </a:xfrm>
          <a:prstGeom prst="straightConnector1">
            <a:avLst/>
          </a:prstGeom>
          <a:ln w="88900">
            <a:solidFill>
              <a:srgbClr val="000000"/>
            </a:solidFill>
            <a:miter lim="400000"/>
            <a:tailEnd type="triangle"/>
          </a:ln>
        </p:spPr>
      </p:cxnSp>
      <p:cxnSp>
        <p:nvCxnSpPr>
          <p:cNvPr id="293" name="Connection Line"/>
          <p:cNvCxnSpPr>
            <a:stCxn id="284" idx="0"/>
            <a:endCxn id="285" idx="0"/>
          </p:cNvCxnSpPr>
          <p:nvPr/>
        </p:nvCxnSpPr>
        <p:spPr>
          <a:xfrm>
            <a:off x="5184818" y="2428767"/>
            <a:ext cx="2253235" cy="7878"/>
          </a:xfrm>
          <a:prstGeom prst="straightConnector1">
            <a:avLst/>
          </a:prstGeom>
          <a:ln w="88900">
            <a:solidFill>
              <a:srgbClr val="000000"/>
            </a:solidFill>
            <a:miter lim="400000"/>
            <a:tailEnd type="triangle"/>
          </a:ln>
        </p:spPr>
      </p:cxnSp>
      <p:cxnSp>
        <p:nvCxnSpPr>
          <p:cNvPr id="294" name="Connection Line"/>
          <p:cNvCxnSpPr>
            <a:stCxn id="281" idx="0"/>
            <a:endCxn id="284" idx="0"/>
          </p:cNvCxnSpPr>
          <p:nvPr/>
        </p:nvCxnSpPr>
        <p:spPr>
          <a:xfrm>
            <a:off x="2931583" y="2428767"/>
            <a:ext cx="2253236" cy="1"/>
          </a:xfrm>
          <a:prstGeom prst="straightConnector1">
            <a:avLst/>
          </a:prstGeom>
          <a:ln w="88900">
            <a:solidFill>
              <a:srgbClr val="000000"/>
            </a:solidFill>
            <a:miter lim="400000"/>
            <a:tailEnd type="triangle"/>
          </a:ln>
        </p:spPr>
      </p:cxnSp>
      <p:cxnSp>
        <p:nvCxnSpPr>
          <p:cNvPr id="295" name="Connection Line"/>
          <p:cNvCxnSpPr>
            <a:stCxn id="282" idx="0"/>
            <a:endCxn id="308" idx="0"/>
          </p:cNvCxnSpPr>
          <p:nvPr/>
        </p:nvCxnSpPr>
        <p:spPr>
          <a:xfrm>
            <a:off x="1949449" y="6166567"/>
            <a:ext cx="2311401" cy="1"/>
          </a:xfrm>
          <a:prstGeom prst="straightConnector1">
            <a:avLst/>
          </a:prstGeom>
          <a:ln w="88900">
            <a:solidFill>
              <a:srgbClr val="000000"/>
            </a:solidFill>
            <a:miter lim="400000"/>
            <a:tailEnd type="triangle"/>
          </a:ln>
        </p:spPr>
      </p:cxnSp>
      <p:cxnSp>
        <p:nvCxnSpPr>
          <p:cNvPr id="296" name="Connection Line"/>
          <p:cNvCxnSpPr>
            <a:stCxn id="280" idx="0"/>
            <a:endCxn id="283" idx="0"/>
          </p:cNvCxnSpPr>
          <p:nvPr/>
        </p:nvCxnSpPr>
        <p:spPr>
          <a:xfrm>
            <a:off x="722483" y="4323334"/>
            <a:ext cx="2859738" cy="3957121"/>
          </a:xfrm>
          <a:prstGeom prst="straightConnector1">
            <a:avLst/>
          </a:prstGeom>
          <a:ln w="88900">
            <a:solidFill>
              <a:srgbClr val="000000"/>
            </a:solidFill>
            <a:miter lim="400000"/>
            <a:tailEnd type="triangle"/>
          </a:ln>
        </p:spPr>
      </p:cxnSp>
      <p:cxnSp>
        <p:nvCxnSpPr>
          <p:cNvPr id="297" name="Connection Line"/>
          <p:cNvCxnSpPr>
            <a:stCxn id="283" idx="0"/>
            <a:endCxn id="286" idx="0"/>
          </p:cNvCxnSpPr>
          <p:nvPr/>
        </p:nvCxnSpPr>
        <p:spPr>
          <a:xfrm>
            <a:off x="3582220" y="8280454"/>
            <a:ext cx="2727374" cy="1"/>
          </a:xfrm>
          <a:prstGeom prst="straightConnector1">
            <a:avLst/>
          </a:prstGeom>
          <a:ln w="88900">
            <a:solidFill>
              <a:srgbClr val="000000"/>
            </a:solidFill>
            <a:miter lim="400000"/>
            <a:tailEnd type="triangle"/>
          </a:ln>
        </p:spPr>
      </p:cxnSp>
      <p:cxnSp>
        <p:nvCxnSpPr>
          <p:cNvPr id="298" name="Connection Line"/>
          <p:cNvCxnSpPr>
            <a:stCxn id="285" idx="0"/>
            <a:endCxn id="299" idx="0"/>
          </p:cNvCxnSpPr>
          <p:nvPr/>
        </p:nvCxnSpPr>
        <p:spPr>
          <a:xfrm>
            <a:off x="7438052" y="2436644"/>
            <a:ext cx="1" cy="1865981"/>
          </a:xfrm>
          <a:prstGeom prst="straightConnector1">
            <a:avLst/>
          </a:prstGeom>
          <a:ln w="88900">
            <a:solidFill>
              <a:srgbClr val="000000"/>
            </a:solidFill>
            <a:miter lim="400000"/>
            <a:tailEnd type="triangle"/>
          </a:ln>
        </p:spPr>
      </p:cxnSp>
      <p:sp>
        <p:nvSpPr>
          <p:cNvPr id="299" name="Circle"/>
          <p:cNvSpPr/>
          <p:nvPr/>
        </p:nvSpPr>
        <p:spPr>
          <a:xfrm>
            <a:off x="6961802" y="3826374"/>
            <a:ext cx="952501" cy="952501"/>
          </a:xfrm>
          <a:prstGeom prst="ellipse">
            <a:avLst/>
          </a:prstGeom>
          <a:solidFill>
            <a:srgbClr val="008900"/>
          </a:solidFill>
          <a:ln w="114300">
            <a:solidFill>
              <a:srgbClr val="000000"/>
            </a:solidFill>
            <a:miter lim="400000"/>
          </a:ln>
        </p:spPr>
        <p:txBody>
          <a:bodyPr lIns="38100" tIns="38100" rIns="38100" bIns="38100" anchor="ctr"/>
          <a:lstStyle/>
          <a:p>
            <a:pPr>
              <a:defRPr sz="3800">
                <a:solidFill>
                  <a:srgbClr val="FFFFFF"/>
                </a:solidFill>
                <a:effectLst>
                  <a:outerShdw sx="100000" sy="100000" kx="0" ky="0" algn="b" rotWithShape="0" blurRad="38100" dist="12700" dir="5400000">
                    <a:srgbClr val="000000">
                      <a:alpha val="50000"/>
                    </a:srgbClr>
                  </a:outerShdw>
                </a:effectLst>
                <a:latin typeface="Times New Roman"/>
                <a:ea typeface="Times New Roman"/>
                <a:cs typeface="Times New Roman"/>
                <a:sym typeface="Times New Roman"/>
              </a:defRPr>
            </a:pPr>
          </a:p>
        </p:txBody>
      </p:sp>
      <p:cxnSp>
        <p:nvCxnSpPr>
          <p:cNvPr id="300" name="Connection Line"/>
          <p:cNvCxnSpPr>
            <a:stCxn id="312" idx="0"/>
            <a:endCxn id="286" idx="0"/>
          </p:cNvCxnSpPr>
          <p:nvPr/>
        </p:nvCxnSpPr>
        <p:spPr>
          <a:xfrm flipH="1">
            <a:off x="6309593" y="4302624"/>
            <a:ext cx="2870391" cy="3977831"/>
          </a:xfrm>
          <a:prstGeom prst="straightConnector1">
            <a:avLst/>
          </a:prstGeom>
          <a:ln w="88900">
            <a:solidFill>
              <a:srgbClr val="000000"/>
            </a:solidFill>
            <a:miter lim="400000"/>
            <a:headEnd type="triangle"/>
          </a:ln>
        </p:spPr>
      </p:cxnSp>
      <p:sp>
        <p:nvSpPr>
          <p:cNvPr id="301" name="Main Code"/>
          <p:cNvSpPr txBox="1"/>
          <p:nvPr/>
        </p:nvSpPr>
        <p:spPr>
          <a:xfrm>
            <a:off x="1984978" y="4407035"/>
            <a:ext cx="1937346" cy="533401"/>
          </a:xfrm>
          <a:prstGeom prst="rect">
            <a:avLst/>
          </a:prstGeom>
          <a:ln w="3175">
            <a:miter lim="400000"/>
          </a:ln>
          <a:extLst>
            <a:ext uri="{C572A759-6A51-4108-AA02-DFA0A04FC94B}">
              <ma14:wrappingTextBoxFlag xmlns:ma14="http://schemas.microsoft.com/office/mac/drawingml/2011/main" val="1"/>
            </a:ext>
          </a:extLst>
        </p:spPr>
        <p:txBody>
          <a:bodyPr wrap="none" lIns="38100" tIns="38100" rIns="38100" bIns="38100" anchor="ctr">
            <a:spAutoFit/>
          </a:bodyPr>
          <a:lstStyle>
            <a:lvl1pPr algn="l">
              <a:defRPr sz="3200">
                <a:solidFill>
                  <a:srgbClr val="008900"/>
                </a:solidFill>
                <a:latin typeface="Franklin Gothic Medium"/>
                <a:ea typeface="Franklin Gothic Medium"/>
                <a:cs typeface="Franklin Gothic Medium"/>
                <a:sym typeface="Franklin Gothic Medium"/>
              </a:defRPr>
            </a:lvl1pPr>
          </a:lstStyle>
          <a:p>
            <a:pPr/>
            <a:r>
              <a:t>Main Code</a:t>
            </a:r>
          </a:p>
        </p:txBody>
      </p:sp>
      <p:sp>
        <p:nvSpPr>
          <p:cNvPr id="302" name="Programmer A's Branch"/>
          <p:cNvSpPr txBox="1"/>
          <p:nvPr/>
        </p:nvSpPr>
        <p:spPr>
          <a:xfrm>
            <a:off x="2847582" y="1329212"/>
            <a:ext cx="4252318" cy="533401"/>
          </a:xfrm>
          <a:prstGeom prst="rect">
            <a:avLst/>
          </a:prstGeom>
          <a:ln w="3175">
            <a:miter lim="400000"/>
          </a:ln>
          <a:extLst>
            <a:ext uri="{C572A759-6A51-4108-AA02-DFA0A04FC94B}">
              <ma14:wrappingTextBoxFlag xmlns:ma14="http://schemas.microsoft.com/office/mac/drawingml/2011/main" val="1"/>
            </a:ext>
          </a:extLst>
        </p:spPr>
        <p:txBody>
          <a:bodyPr wrap="none" lIns="38100" tIns="38100" rIns="38100" bIns="38100" anchor="ctr">
            <a:spAutoFit/>
          </a:bodyPr>
          <a:lstStyle>
            <a:lvl1pPr algn="l">
              <a:defRPr sz="3200">
                <a:solidFill>
                  <a:srgbClr val="1D2FEB"/>
                </a:solidFill>
                <a:latin typeface="Franklin Gothic Medium"/>
                <a:ea typeface="Franklin Gothic Medium"/>
                <a:cs typeface="Franklin Gothic Medium"/>
                <a:sym typeface="Franklin Gothic Medium"/>
              </a:defRPr>
            </a:lvl1pPr>
          </a:lstStyle>
          <a:p>
            <a:pPr/>
            <a:r>
              <a:t>Programmer A's Branch</a:t>
            </a:r>
          </a:p>
        </p:txBody>
      </p:sp>
      <p:sp>
        <p:nvSpPr>
          <p:cNvPr id="303" name="Programmer B's Branch"/>
          <p:cNvSpPr txBox="1"/>
          <p:nvPr/>
        </p:nvSpPr>
        <p:spPr>
          <a:xfrm>
            <a:off x="1235035" y="6616119"/>
            <a:ext cx="4254105" cy="533401"/>
          </a:xfrm>
          <a:prstGeom prst="rect">
            <a:avLst/>
          </a:prstGeom>
          <a:ln w="3175">
            <a:miter lim="400000"/>
          </a:ln>
          <a:extLst>
            <a:ext uri="{C572A759-6A51-4108-AA02-DFA0A04FC94B}">
              <ma14:wrappingTextBoxFlag xmlns:ma14="http://schemas.microsoft.com/office/mac/drawingml/2011/main" val="1"/>
            </a:ext>
          </a:extLst>
        </p:spPr>
        <p:txBody>
          <a:bodyPr wrap="none" lIns="38100" tIns="38100" rIns="38100" bIns="38100" anchor="ctr">
            <a:spAutoFit/>
          </a:bodyPr>
          <a:lstStyle>
            <a:lvl1pPr algn="l">
              <a:defRPr sz="3200">
                <a:solidFill>
                  <a:srgbClr val="BA3EB3"/>
                </a:solidFill>
                <a:latin typeface="Franklin Gothic Medium"/>
                <a:ea typeface="Franklin Gothic Medium"/>
                <a:cs typeface="Franklin Gothic Medium"/>
                <a:sym typeface="Franklin Gothic Medium"/>
              </a:defRPr>
            </a:lvl1pPr>
          </a:lstStyle>
          <a:p>
            <a:pPr/>
            <a:r>
              <a:t>Programmer B's Branch</a:t>
            </a:r>
          </a:p>
        </p:txBody>
      </p:sp>
      <p:sp>
        <p:nvSpPr>
          <p:cNvPr id="304" name="Programmer C's Branch"/>
          <p:cNvSpPr txBox="1"/>
          <p:nvPr/>
        </p:nvSpPr>
        <p:spPr>
          <a:xfrm>
            <a:off x="3063521" y="8825203"/>
            <a:ext cx="4242595" cy="533401"/>
          </a:xfrm>
          <a:prstGeom prst="rect">
            <a:avLst/>
          </a:prstGeom>
          <a:ln w="3175">
            <a:miter lim="400000"/>
          </a:ln>
          <a:extLst>
            <a:ext uri="{C572A759-6A51-4108-AA02-DFA0A04FC94B}">
              <ma14:wrappingTextBoxFlag xmlns:ma14="http://schemas.microsoft.com/office/mac/drawingml/2011/main" val="1"/>
            </a:ext>
          </a:extLst>
        </p:spPr>
        <p:txBody>
          <a:bodyPr wrap="none" lIns="38100" tIns="38100" rIns="38100" bIns="38100" anchor="ctr">
            <a:spAutoFit/>
          </a:bodyPr>
          <a:lstStyle>
            <a:lvl1pPr algn="l">
              <a:defRPr sz="3200">
                <a:solidFill>
                  <a:srgbClr val="F6B000"/>
                </a:solidFill>
                <a:latin typeface="Franklin Gothic Medium"/>
                <a:ea typeface="Franklin Gothic Medium"/>
                <a:cs typeface="Franklin Gothic Medium"/>
                <a:sym typeface="Franklin Gothic Medium"/>
              </a:defRPr>
            </a:lvl1pPr>
          </a:lstStyle>
          <a:p>
            <a:pPr/>
            <a:r>
              <a:t>Programmer C's Branch</a:t>
            </a:r>
          </a:p>
        </p:txBody>
      </p:sp>
      <p:cxnSp>
        <p:nvCxnSpPr>
          <p:cNvPr id="305" name="Connection Line"/>
          <p:cNvCxnSpPr>
            <a:stCxn id="287" idx="0"/>
            <a:endCxn id="286" idx="0"/>
          </p:cNvCxnSpPr>
          <p:nvPr/>
        </p:nvCxnSpPr>
        <p:spPr>
          <a:xfrm>
            <a:off x="5184818" y="4302624"/>
            <a:ext cx="1124776" cy="3977831"/>
          </a:xfrm>
          <a:prstGeom prst="straightConnector1">
            <a:avLst/>
          </a:prstGeom>
          <a:ln w="88900">
            <a:solidFill>
              <a:srgbClr val="000000"/>
            </a:solidFill>
            <a:miter lim="400000"/>
            <a:tailEnd type="triangle"/>
          </a:ln>
        </p:spPr>
      </p:cxnSp>
      <p:sp>
        <p:nvSpPr>
          <p:cNvPr id="306" name="Each circle/dot is a snapshot of the codebase."/>
          <p:cNvSpPr txBox="1"/>
          <p:nvPr/>
        </p:nvSpPr>
        <p:spPr>
          <a:xfrm>
            <a:off x="9168527" y="749300"/>
            <a:ext cx="3663199" cy="1447801"/>
          </a:xfrm>
          <a:prstGeom prst="rect">
            <a:avLst/>
          </a:prstGeom>
          <a:ln w="3175">
            <a:miter lim="400000"/>
          </a:ln>
          <a:extLst>
            <a:ext uri="{C572A759-6A51-4108-AA02-DFA0A04FC94B}">
              <ma14:wrappingTextBoxFlag xmlns:ma14="http://schemas.microsoft.com/office/mac/drawingml/2011/main" val="1"/>
            </a:ext>
          </a:extLst>
        </p:spPr>
        <p:txBody>
          <a:bodyPr lIns="38100" tIns="38100" rIns="38100" bIns="38100" anchor="ctr">
            <a:spAutoFit/>
          </a:bodyPr>
          <a:lstStyle>
            <a:lvl1pPr>
              <a:defRPr sz="3200">
                <a:solidFill>
                  <a:srgbClr val="000004"/>
                </a:solidFill>
                <a:latin typeface="Franklin Gothic Medium"/>
                <a:ea typeface="Franklin Gothic Medium"/>
                <a:cs typeface="Franklin Gothic Medium"/>
                <a:sym typeface="Franklin Gothic Medium"/>
              </a:defRPr>
            </a:lvl1pPr>
          </a:lstStyle>
          <a:p>
            <a:pPr/>
            <a:r>
              <a:t>Each circle/dot is a snapshot of the codebase.</a:t>
            </a:r>
          </a:p>
        </p:txBody>
      </p:sp>
      <p:sp>
        <p:nvSpPr>
          <p:cNvPr id="307" name="Initialize Repo"/>
          <p:cNvSpPr txBox="1"/>
          <p:nvPr/>
        </p:nvSpPr>
        <p:spPr>
          <a:xfrm>
            <a:off x="74459" y="2622646"/>
            <a:ext cx="1668582" cy="990601"/>
          </a:xfrm>
          <a:prstGeom prst="rect">
            <a:avLst/>
          </a:prstGeom>
          <a:ln w="3175">
            <a:miter lim="400000"/>
          </a:ln>
          <a:extLst>
            <a:ext uri="{C572A759-6A51-4108-AA02-DFA0A04FC94B}">
              <ma14:wrappingTextBoxFlag xmlns:ma14="http://schemas.microsoft.com/office/mac/drawingml/2011/main" val="1"/>
            </a:ext>
          </a:extLst>
        </p:spPr>
        <p:txBody>
          <a:bodyPr lIns="38100" tIns="38100" rIns="38100" bIns="38100" anchor="ctr">
            <a:spAutoFit/>
          </a:bodyPr>
          <a:lstStyle>
            <a:lvl1pPr>
              <a:defRPr sz="3200">
                <a:solidFill>
                  <a:srgbClr val="008900"/>
                </a:solidFill>
                <a:latin typeface="Franklin Gothic Medium"/>
                <a:ea typeface="Franklin Gothic Medium"/>
                <a:cs typeface="Franklin Gothic Medium"/>
                <a:sym typeface="Franklin Gothic Medium"/>
              </a:defRPr>
            </a:lvl1pPr>
          </a:lstStyle>
          <a:p>
            <a:pPr/>
            <a:r>
              <a:t>Initialize Repo</a:t>
            </a:r>
          </a:p>
        </p:txBody>
      </p:sp>
      <p:sp>
        <p:nvSpPr>
          <p:cNvPr id="308" name="Circle"/>
          <p:cNvSpPr/>
          <p:nvPr/>
        </p:nvSpPr>
        <p:spPr>
          <a:xfrm>
            <a:off x="3784600" y="5690317"/>
            <a:ext cx="952500" cy="952501"/>
          </a:xfrm>
          <a:prstGeom prst="ellipse">
            <a:avLst/>
          </a:prstGeom>
          <a:solidFill>
            <a:srgbClr val="BA3EB3"/>
          </a:solidFill>
          <a:ln w="114300">
            <a:solidFill>
              <a:srgbClr val="000000"/>
            </a:solidFill>
            <a:miter lim="400000"/>
          </a:ln>
        </p:spPr>
        <p:txBody>
          <a:bodyPr lIns="38100" tIns="38100" rIns="38100" bIns="38100" anchor="ctr"/>
          <a:lstStyle/>
          <a:p>
            <a:pPr>
              <a:defRPr sz="3800">
                <a:solidFill>
                  <a:srgbClr val="FFFFFF"/>
                </a:solidFill>
                <a:effectLst>
                  <a:outerShdw sx="100000" sy="100000" kx="0" ky="0" algn="b" rotWithShape="0" blurRad="38100" dist="12700" dir="5400000">
                    <a:srgbClr val="000000">
                      <a:alpha val="50000"/>
                    </a:srgbClr>
                  </a:outerShdw>
                </a:effectLst>
                <a:latin typeface="Times New Roman"/>
                <a:ea typeface="Times New Roman"/>
                <a:cs typeface="Times New Roman"/>
                <a:sym typeface="Times New Roman"/>
              </a:defRPr>
            </a:pPr>
          </a:p>
        </p:txBody>
      </p:sp>
      <p:cxnSp>
        <p:nvCxnSpPr>
          <p:cNvPr id="309" name="Connection Line"/>
          <p:cNvCxnSpPr>
            <a:stCxn id="308" idx="0"/>
            <a:endCxn id="287" idx="0"/>
          </p:cNvCxnSpPr>
          <p:nvPr/>
        </p:nvCxnSpPr>
        <p:spPr>
          <a:xfrm flipV="1">
            <a:off x="4260850" y="4302624"/>
            <a:ext cx="923969" cy="1863944"/>
          </a:xfrm>
          <a:prstGeom prst="straightConnector1">
            <a:avLst/>
          </a:prstGeom>
          <a:ln w="88900">
            <a:solidFill>
              <a:srgbClr val="000000"/>
            </a:solidFill>
            <a:miter lim="400000"/>
            <a:tailEnd type="triangle"/>
          </a:ln>
        </p:spPr>
      </p:cxnSp>
      <p:cxnSp>
        <p:nvCxnSpPr>
          <p:cNvPr id="310" name="Connection Line"/>
          <p:cNvCxnSpPr>
            <a:stCxn id="287" idx="0"/>
            <a:endCxn id="284" idx="0"/>
          </p:cNvCxnSpPr>
          <p:nvPr/>
        </p:nvCxnSpPr>
        <p:spPr>
          <a:xfrm flipV="1">
            <a:off x="5184818" y="2428767"/>
            <a:ext cx="1" cy="1873858"/>
          </a:xfrm>
          <a:prstGeom prst="straightConnector1">
            <a:avLst/>
          </a:prstGeom>
          <a:ln w="88900">
            <a:solidFill>
              <a:srgbClr val="000000"/>
            </a:solidFill>
            <a:miter lim="400000"/>
            <a:tailEnd type="triangle"/>
          </a:ln>
        </p:spPr>
      </p:cxnSp>
      <p:cxnSp>
        <p:nvCxnSpPr>
          <p:cNvPr id="311" name="Connection Line"/>
          <p:cNvCxnSpPr>
            <a:stCxn id="312" idx="0"/>
            <a:endCxn id="288" idx="0"/>
          </p:cNvCxnSpPr>
          <p:nvPr/>
        </p:nvCxnSpPr>
        <p:spPr>
          <a:xfrm>
            <a:off x="9179983" y="4302624"/>
            <a:ext cx="3090334" cy="20711"/>
          </a:xfrm>
          <a:prstGeom prst="straightConnector1">
            <a:avLst/>
          </a:prstGeom>
          <a:ln w="88900">
            <a:solidFill>
              <a:srgbClr val="000000"/>
            </a:solidFill>
            <a:miter lim="400000"/>
            <a:tailEnd type="triangle"/>
          </a:ln>
        </p:spPr>
      </p:cxnSp>
      <p:sp>
        <p:nvSpPr>
          <p:cNvPr id="312" name="Circle"/>
          <p:cNvSpPr/>
          <p:nvPr/>
        </p:nvSpPr>
        <p:spPr>
          <a:xfrm>
            <a:off x="8703733" y="3826374"/>
            <a:ext cx="952501" cy="952501"/>
          </a:xfrm>
          <a:prstGeom prst="ellipse">
            <a:avLst/>
          </a:prstGeom>
          <a:solidFill>
            <a:srgbClr val="008900"/>
          </a:solidFill>
          <a:ln w="114300">
            <a:solidFill>
              <a:srgbClr val="000000"/>
            </a:solidFill>
            <a:miter lim="400000"/>
          </a:ln>
        </p:spPr>
        <p:txBody>
          <a:bodyPr lIns="38100" tIns="38100" rIns="38100" bIns="38100" anchor="ctr"/>
          <a:lstStyle/>
          <a:p>
            <a:pPr>
              <a:defRPr sz="3800">
                <a:solidFill>
                  <a:srgbClr val="FFFFFF"/>
                </a:solidFill>
                <a:effectLst>
                  <a:outerShdw sx="100000" sy="100000" kx="0" ky="0" algn="b" rotWithShape="0" blurRad="38100" dist="12700" dir="5400000">
                    <a:srgbClr val="000000">
                      <a:alpha val="50000"/>
                    </a:srgbClr>
                  </a:outerShdw>
                </a:effectLst>
                <a:latin typeface="Times New Roman"/>
                <a:ea typeface="Times New Roman"/>
                <a:cs typeface="Times New Roman"/>
                <a:sym typeface="Times New Roman"/>
              </a:defRPr>
            </a:pPr>
          </a:p>
        </p:txBody>
      </p:sp>
      <p:cxnSp>
        <p:nvCxnSpPr>
          <p:cNvPr id="313" name="Connection Line"/>
          <p:cNvCxnSpPr>
            <a:stCxn id="299" idx="0"/>
            <a:endCxn id="312" idx="0"/>
          </p:cNvCxnSpPr>
          <p:nvPr/>
        </p:nvCxnSpPr>
        <p:spPr>
          <a:xfrm>
            <a:off x="7438052" y="4302624"/>
            <a:ext cx="1741932" cy="1"/>
          </a:xfrm>
          <a:prstGeom prst="straightConnector1">
            <a:avLst/>
          </a:prstGeom>
          <a:ln w="88900">
            <a:solidFill>
              <a:srgbClr val="000000"/>
            </a:solidFill>
            <a:miter lim="400000"/>
            <a:tailEnd type="triangle"/>
          </a:ln>
        </p:spPr>
      </p:cxnSp>
      <p:sp>
        <p:nvSpPr>
          <p:cNvPr id="314" name="Circle"/>
          <p:cNvSpPr/>
          <p:nvPr/>
        </p:nvSpPr>
        <p:spPr>
          <a:xfrm>
            <a:off x="8703733" y="5529450"/>
            <a:ext cx="952501" cy="952501"/>
          </a:xfrm>
          <a:prstGeom prst="ellipse">
            <a:avLst/>
          </a:prstGeom>
          <a:solidFill>
            <a:srgbClr val="BA3EB3"/>
          </a:solidFill>
          <a:ln w="114300">
            <a:solidFill>
              <a:srgbClr val="000000"/>
            </a:solidFill>
            <a:miter lim="400000"/>
          </a:ln>
        </p:spPr>
        <p:txBody>
          <a:bodyPr lIns="38100" tIns="38100" rIns="38100" bIns="38100" anchor="ctr"/>
          <a:lstStyle/>
          <a:p>
            <a:pPr>
              <a:defRPr sz="3800">
                <a:solidFill>
                  <a:srgbClr val="FFFFFF"/>
                </a:solidFill>
                <a:effectLst>
                  <a:outerShdw sx="100000" sy="100000" kx="0" ky="0" algn="b" rotWithShape="0" blurRad="38100" dist="12700" dir="5400000">
                    <a:srgbClr val="000000">
                      <a:alpha val="50000"/>
                    </a:srgbClr>
                  </a:outerShdw>
                </a:effectLst>
                <a:latin typeface="Times New Roman"/>
                <a:ea typeface="Times New Roman"/>
                <a:cs typeface="Times New Roman"/>
                <a:sym typeface="Times New Roman"/>
              </a:defRPr>
            </a:pPr>
          </a:p>
        </p:txBody>
      </p:sp>
      <p:cxnSp>
        <p:nvCxnSpPr>
          <p:cNvPr id="315" name="Connection Line"/>
          <p:cNvCxnSpPr>
            <a:stCxn id="312" idx="0"/>
            <a:endCxn id="314" idx="0"/>
          </p:cNvCxnSpPr>
          <p:nvPr/>
        </p:nvCxnSpPr>
        <p:spPr>
          <a:xfrm>
            <a:off x="9179983" y="4302624"/>
            <a:ext cx="1" cy="1703077"/>
          </a:xfrm>
          <a:prstGeom prst="straightConnector1">
            <a:avLst/>
          </a:prstGeom>
          <a:ln w="88900">
            <a:solidFill>
              <a:srgbClr val="000000"/>
            </a:solidFill>
            <a:miter lim="400000"/>
            <a:tailEnd type="triangle"/>
          </a:ln>
        </p:spPr>
      </p:cxnSp>
      <p:sp>
        <p:nvSpPr>
          <p:cNvPr id="316" name="Circle"/>
          <p:cNvSpPr/>
          <p:nvPr/>
        </p:nvSpPr>
        <p:spPr>
          <a:xfrm>
            <a:off x="10727266" y="5529450"/>
            <a:ext cx="952501" cy="952501"/>
          </a:xfrm>
          <a:prstGeom prst="ellipse">
            <a:avLst/>
          </a:prstGeom>
          <a:solidFill>
            <a:srgbClr val="BA3EB3"/>
          </a:solidFill>
          <a:ln w="114300">
            <a:solidFill>
              <a:srgbClr val="000000"/>
            </a:solidFill>
            <a:miter lim="400000"/>
          </a:ln>
        </p:spPr>
        <p:txBody>
          <a:bodyPr lIns="38100" tIns="38100" rIns="38100" bIns="38100" anchor="ctr"/>
          <a:lstStyle/>
          <a:p>
            <a:pPr>
              <a:defRPr sz="3800">
                <a:solidFill>
                  <a:srgbClr val="FFFFFF"/>
                </a:solidFill>
                <a:effectLst>
                  <a:outerShdw sx="100000" sy="100000" kx="0" ky="0" algn="b" rotWithShape="0" blurRad="38100" dist="12700" dir="5400000">
                    <a:srgbClr val="000000">
                      <a:alpha val="50000"/>
                    </a:srgbClr>
                  </a:outerShdw>
                </a:effectLst>
                <a:latin typeface="Times New Roman"/>
                <a:ea typeface="Times New Roman"/>
                <a:cs typeface="Times New Roman"/>
                <a:sym typeface="Times New Roman"/>
              </a:defRPr>
            </a:pPr>
          </a:p>
        </p:txBody>
      </p:sp>
      <p:cxnSp>
        <p:nvCxnSpPr>
          <p:cNvPr id="317" name="Connection Line"/>
          <p:cNvCxnSpPr>
            <a:stCxn id="314" idx="0"/>
            <a:endCxn id="316" idx="0"/>
          </p:cNvCxnSpPr>
          <p:nvPr/>
        </p:nvCxnSpPr>
        <p:spPr>
          <a:xfrm>
            <a:off x="9179983" y="6005700"/>
            <a:ext cx="2023534" cy="1"/>
          </a:xfrm>
          <a:prstGeom prst="straightConnector1">
            <a:avLst/>
          </a:prstGeom>
          <a:ln w="88900">
            <a:solidFill>
              <a:srgbClr val="000000"/>
            </a:solidFill>
            <a:miter lim="400000"/>
            <a:tailEnd type="triangle"/>
          </a:ln>
        </p:spPr>
      </p:cxnSp>
      <p:cxnSp>
        <p:nvCxnSpPr>
          <p:cNvPr id="318" name="Connection Line"/>
          <p:cNvCxnSpPr>
            <a:stCxn id="316" idx="0"/>
            <a:endCxn id="288" idx="0"/>
          </p:cNvCxnSpPr>
          <p:nvPr/>
        </p:nvCxnSpPr>
        <p:spPr>
          <a:xfrm flipV="1">
            <a:off x="11203516" y="4323334"/>
            <a:ext cx="1066801" cy="1682367"/>
          </a:xfrm>
          <a:prstGeom prst="straightConnector1">
            <a:avLst/>
          </a:prstGeom>
          <a:ln w="88900">
            <a:solidFill>
              <a:srgbClr val="000000"/>
            </a:solidFill>
            <a:miter lim="400000"/>
            <a:tailEnd type="triangle"/>
          </a:ln>
        </p:spPr>
      </p:cxnSp>
    </p:spTree>
  </p:cSld>
  <p:clrMapOvr>
    <a:masterClrMapping/>
  </p:clrMapOvr>
  <mc:AlternateContent xmlns:mc="http://schemas.openxmlformats.org/markup-compatibility/2006">
    <mc:Choice xmlns:p14="http://schemas.microsoft.com/office/powerpoint/2010/main" Requires="p14">
      <p:transition spd="slow" advClick="1" p14:dur="1500">
        <p:fade/>
      </p:transition>
    </mc:Choice>
    <mc:Fallback>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20" name="Working with GitHub"/>
          <p:cNvSpPr txBox="1"/>
          <p:nvPr>
            <p:ph type="ctrTitle"/>
          </p:nvPr>
        </p:nvSpPr>
        <p:spPr>
          <a:xfrm>
            <a:off x="3363569" y="2414058"/>
            <a:ext cx="6277661" cy="2476501"/>
          </a:xfrm>
          <a:prstGeom prst="rect">
            <a:avLst/>
          </a:prstGeom>
        </p:spPr>
        <p:txBody>
          <a:bodyPr/>
          <a:lstStyle/>
          <a:p>
            <a:pPr/>
            <a:r>
              <a:t>Working with GitHub</a:t>
            </a:r>
          </a:p>
        </p:txBody>
      </p:sp>
      <p:sp>
        <p:nvSpPr>
          <p:cNvPr id="321" name="Slide Number"/>
          <p:cNvSpPr txBox="1"/>
          <p:nvPr>
            <p:ph type="sldNum" sz="quarter" idx="2"/>
          </p:nvPr>
        </p:nvSpPr>
        <p:spPr>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322" name="Unit 4"/>
          <p:cNvSpPr txBox="1"/>
          <p:nvPr>
            <p:ph type="subTitle" sz="quarter" idx="1"/>
          </p:nvPr>
        </p:nvSpPr>
        <p:spPr>
          <a:prstGeom prst="rect">
            <a:avLst/>
          </a:prstGeom>
        </p:spPr>
        <p:txBody>
          <a:bodyPr/>
          <a:lstStyle/>
          <a:p>
            <a:pPr/>
            <a:r>
              <a:t>Unit 4</a:t>
            </a:r>
          </a:p>
        </p:txBody>
      </p:sp>
    </p:spTree>
  </p:cSld>
  <p:clrMapOvr>
    <a:masterClrMapping/>
  </p:clrMapOvr>
  <mc:AlternateContent xmlns:mc="http://schemas.openxmlformats.org/markup-compatibility/2006">
    <mc:Choice xmlns:p14="http://schemas.microsoft.com/office/powerpoint/2010/main" Requires="p14">
      <p:transition spd="slow" advClick="1" p14:dur="1500">
        <p:fade/>
      </p:transition>
    </mc:Choice>
    <mc:Fallback>
      <p:transition spd="slow">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24" name="Slide Number"/>
          <p:cNvSpPr txBox="1"/>
          <p:nvPr>
            <p:ph type="sldNum" sz="quarter" idx="2"/>
          </p:nvPr>
        </p:nvSpPr>
        <p:spPr>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325" name="General Workflow in Git"/>
          <p:cNvSpPr txBox="1"/>
          <p:nvPr>
            <p:ph type="title"/>
          </p:nvPr>
        </p:nvSpPr>
        <p:spPr>
          <a:prstGeom prst="rect">
            <a:avLst/>
          </a:prstGeom>
        </p:spPr>
        <p:txBody>
          <a:bodyPr/>
          <a:lstStyle/>
          <a:p>
            <a:pPr/>
            <a:r>
              <a:t>General Workflow in Git</a:t>
            </a:r>
          </a:p>
        </p:txBody>
      </p:sp>
      <p:sp>
        <p:nvSpPr>
          <p:cNvPr id="326" name="The process to using Git is fairly straightforward; you just need to practice and get used to the vocabulary."/>
          <p:cNvSpPr txBox="1"/>
          <p:nvPr/>
        </p:nvSpPr>
        <p:spPr>
          <a:xfrm>
            <a:off x="56852" y="891645"/>
            <a:ext cx="12891096" cy="990601"/>
          </a:xfrm>
          <a:prstGeom prst="rect">
            <a:avLst/>
          </a:prstGeom>
          <a:ln w="3175">
            <a:miter lim="400000"/>
          </a:ln>
          <a:extLst>
            <a:ext uri="{C572A759-6A51-4108-AA02-DFA0A04FC94B}">
              <ma14:wrappingTextBoxFlag xmlns:ma14="http://schemas.microsoft.com/office/mac/drawingml/2011/main" val="1"/>
            </a:ext>
          </a:extLst>
        </p:spPr>
        <p:txBody>
          <a:bodyPr wrap="none" lIns="38100" tIns="38100" rIns="38100" bIns="38100" anchor="ctr">
            <a:spAutoFit/>
          </a:bodyPr>
          <a:lstStyle>
            <a:lvl1pPr algn="l">
              <a:defRPr sz="3200">
                <a:solidFill>
                  <a:srgbClr val="000004"/>
                </a:solidFill>
                <a:latin typeface="Franklin Gothic Medium"/>
                <a:ea typeface="Franklin Gothic Medium"/>
                <a:cs typeface="Franklin Gothic Medium"/>
                <a:sym typeface="Franklin Gothic Medium"/>
              </a:defRPr>
            </a:lvl1pPr>
          </a:lstStyle>
          <a:p>
            <a:pPr/>
            <a:r>
              <a:t>The process to using Git is fairly straightforward; you just need to practice and get used to the vocabulary.</a:t>
            </a:r>
          </a:p>
        </p:txBody>
      </p:sp>
      <p:sp>
        <p:nvSpPr>
          <p:cNvPr id="327" name="Step 0: Create an account on a Git server (e.g., GitHub); install any needed tools on your machine (e.g., GitHub Desktop)."/>
          <p:cNvSpPr txBox="1"/>
          <p:nvPr/>
        </p:nvSpPr>
        <p:spPr>
          <a:xfrm>
            <a:off x="141518" y="2102378"/>
            <a:ext cx="12721763" cy="990601"/>
          </a:xfrm>
          <a:prstGeom prst="rect">
            <a:avLst/>
          </a:prstGeom>
          <a:ln w="3175">
            <a:miter lim="400000"/>
          </a:ln>
          <a:extLst>
            <a:ext uri="{C572A759-6A51-4108-AA02-DFA0A04FC94B}">
              <ma14:wrappingTextBoxFlag xmlns:ma14="http://schemas.microsoft.com/office/mac/drawingml/2011/main" val="1"/>
            </a:ext>
          </a:extLst>
        </p:spPr>
        <p:txBody>
          <a:bodyPr lIns="38100" tIns="38100" rIns="38100" bIns="38100" anchor="ctr">
            <a:spAutoFit/>
          </a:bodyPr>
          <a:lstStyle>
            <a:lvl1pPr algn="l">
              <a:defRPr sz="3200">
                <a:solidFill>
                  <a:srgbClr val="000004"/>
                </a:solidFill>
                <a:latin typeface="Franklin Gothic Medium"/>
                <a:ea typeface="Franklin Gothic Medium"/>
                <a:cs typeface="Franklin Gothic Medium"/>
                <a:sym typeface="Franklin Gothic Medium"/>
              </a:defRPr>
            </a:lvl1pPr>
          </a:lstStyle>
          <a:p>
            <a:pPr/>
            <a:r>
              <a:t>Step 0: Create an account on a Git server (e.g., GitHub); install any needed tools on your machine (e.g., GitHub Desktop).</a:t>
            </a:r>
          </a:p>
        </p:txBody>
      </p:sp>
      <p:sp>
        <p:nvSpPr>
          <p:cNvPr id="328" name="HW #4.2"/>
          <p:cNvSpPr txBox="1"/>
          <p:nvPr/>
        </p:nvSpPr>
        <p:spPr>
          <a:xfrm>
            <a:off x="10230186" y="2604229"/>
            <a:ext cx="1788000" cy="533401"/>
          </a:xfrm>
          <a:prstGeom prst="rect">
            <a:avLst/>
          </a:prstGeom>
          <a:ln w="3175">
            <a:miter lim="400000"/>
          </a:ln>
          <a:extLst>
            <a:ext uri="{C572A759-6A51-4108-AA02-DFA0A04FC94B}">
              <ma14:wrappingTextBoxFlag xmlns:ma14="http://schemas.microsoft.com/office/mac/drawingml/2011/main" val="1"/>
            </a:ext>
          </a:extLst>
        </p:spPr>
        <p:txBody>
          <a:bodyPr lIns="38100" tIns="38100" rIns="38100" bIns="38100" anchor="ctr">
            <a:spAutoFit/>
          </a:bodyPr>
          <a:lstStyle>
            <a:lvl1pPr>
              <a:defRPr sz="3200">
                <a:solidFill>
                  <a:srgbClr val="1D2FEB"/>
                </a:solidFill>
                <a:latin typeface="Franklin Gothic Medium"/>
                <a:ea typeface="Franklin Gothic Medium"/>
                <a:cs typeface="Franklin Gothic Medium"/>
                <a:sym typeface="Franklin Gothic Medium"/>
              </a:defRPr>
            </a:lvl1pPr>
          </a:lstStyle>
          <a:p>
            <a:pPr/>
            <a:r>
              <a:t>HW #4.2</a:t>
            </a:r>
          </a:p>
        </p:txBody>
      </p:sp>
      <p:sp>
        <p:nvSpPr>
          <p:cNvPr id="329" name="Step 1: Create a repository (&quot;repo&quot;) that will act as the central directory/folder structure for some project."/>
          <p:cNvSpPr txBox="1"/>
          <p:nvPr/>
        </p:nvSpPr>
        <p:spPr>
          <a:xfrm>
            <a:off x="141518" y="4022066"/>
            <a:ext cx="12721764" cy="990601"/>
          </a:xfrm>
          <a:prstGeom prst="rect">
            <a:avLst/>
          </a:prstGeom>
          <a:ln w="3175">
            <a:miter lim="400000"/>
          </a:ln>
          <a:extLst>
            <a:ext uri="{C572A759-6A51-4108-AA02-DFA0A04FC94B}">
              <ma14:wrappingTextBoxFlag xmlns:ma14="http://schemas.microsoft.com/office/mac/drawingml/2011/main" val="1"/>
            </a:ext>
          </a:extLst>
        </p:spPr>
        <p:txBody>
          <a:bodyPr lIns="38100" tIns="38100" rIns="38100" bIns="38100" anchor="ctr">
            <a:spAutoFit/>
          </a:bodyPr>
          <a:lstStyle/>
          <a:p>
            <a:pPr algn="l">
              <a:defRPr sz="3200">
                <a:solidFill>
                  <a:srgbClr val="000004"/>
                </a:solidFill>
                <a:latin typeface="Franklin Gothic Medium"/>
                <a:ea typeface="Franklin Gothic Medium"/>
                <a:cs typeface="Franklin Gothic Medium"/>
                <a:sym typeface="Franklin Gothic Medium"/>
              </a:defRPr>
            </a:pPr>
            <a:r>
              <a:t>Step 1: Create a </a:t>
            </a:r>
            <a:r>
              <a:rPr>
                <a:solidFill>
                  <a:srgbClr val="008900"/>
                </a:solidFill>
              </a:rPr>
              <a:t>repository</a:t>
            </a:r>
            <a:r>
              <a:t> (</a:t>
            </a:r>
            <a:r>
              <a:rPr>
                <a:solidFill>
                  <a:srgbClr val="BA3EB3"/>
                </a:solidFill>
              </a:rPr>
              <a:t>"repo"</a:t>
            </a:r>
            <a:r>
              <a:t>) that will act as the central directory/folder structure for some project.</a:t>
            </a:r>
          </a:p>
        </p:txBody>
      </p:sp>
      <p:sp>
        <p:nvSpPr>
          <p:cNvPr id="330" name="Step 2: Clone this repo to your local machine."/>
          <p:cNvSpPr txBox="1"/>
          <p:nvPr/>
        </p:nvSpPr>
        <p:spPr>
          <a:xfrm>
            <a:off x="141518" y="5906359"/>
            <a:ext cx="10853675" cy="533401"/>
          </a:xfrm>
          <a:prstGeom prst="rect">
            <a:avLst/>
          </a:prstGeom>
          <a:ln w="3175">
            <a:miter lim="400000"/>
          </a:ln>
          <a:extLst>
            <a:ext uri="{C572A759-6A51-4108-AA02-DFA0A04FC94B}">
              <ma14:wrappingTextBoxFlag xmlns:ma14="http://schemas.microsoft.com/office/mac/drawingml/2011/main" val="1"/>
            </a:ext>
          </a:extLst>
        </p:spPr>
        <p:txBody>
          <a:bodyPr lIns="38100" tIns="38100" rIns="38100" bIns="38100" anchor="ctr">
            <a:spAutoFit/>
          </a:bodyPr>
          <a:lstStyle/>
          <a:p>
            <a:pPr algn="l">
              <a:defRPr sz="3200">
                <a:solidFill>
                  <a:srgbClr val="000004"/>
                </a:solidFill>
                <a:latin typeface="Franklin Gothic Medium"/>
                <a:ea typeface="Franklin Gothic Medium"/>
                <a:cs typeface="Franklin Gothic Medium"/>
                <a:sym typeface="Franklin Gothic Medium"/>
              </a:defRPr>
            </a:pPr>
            <a:r>
              <a:t>Step 2: </a:t>
            </a:r>
            <a:r>
              <a:rPr>
                <a:solidFill>
                  <a:srgbClr val="1D2FEB"/>
                </a:solidFill>
              </a:rPr>
              <a:t>Clone</a:t>
            </a:r>
            <a:r>
              <a:t> this repo to your local machine.</a:t>
            </a:r>
          </a:p>
        </p:txBody>
      </p:sp>
      <p:sp>
        <p:nvSpPr>
          <p:cNvPr id="331" name="Step 3: Edit, add/delete files as needed. Making commits (snapshots) along the way."/>
          <p:cNvSpPr txBox="1"/>
          <p:nvPr/>
        </p:nvSpPr>
        <p:spPr>
          <a:xfrm>
            <a:off x="141518" y="7333451"/>
            <a:ext cx="12721764" cy="990601"/>
          </a:xfrm>
          <a:prstGeom prst="rect">
            <a:avLst/>
          </a:prstGeom>
          <a:ln w="3175">
            <a:miter lim="400000"/>
          </a:ln>
          <a:extLst>
            <a:ext uri="{C572A759-6A51-4108-AA02-DFA0A04FC94B}">
              <ma14:wrappingTextBoxFlag xmlns:ma14="http://schemas.microsoft.com/office/mac/drawingml/2011/main" val="1"/>
            </a:ext>
          </a:extLst>
        </p:spPr>
        <p:txBody>
          <a:bodyPr lIns="38100" tIns="38100" rIns="38100" bIns="38100" anchor="ctr">
            <a:spAutoFit/>
          </a:bodyPr>
          <a:lstStyle/>
          <a:p>
            <a:pPr algn="l">
              <a:defRPr sz="3200">
                <a:solidFill>
                  <a:srgbClr val="000004"/>
                </a:solidFill>
                <a:latin typeface="Franklin Gothic Medium"/>
                <a:ea typeface="Franklin Gothic Medium"/>
                <a:cs typeface="Franklin Gothic Medium"/>
                <a:sym typeface="Franklin Gothic Medium"/>
              </a:defRPr>
            </a:pPr>
            <a:r>
              <a:t>Step 3: Edit, add/delete files as needed. Making </a:t>
            </a:r>
            <a:r>
              <a:rPr i="1">
                <a:solidFill>
                  <a:srgbClr val="008900"/>
                </a:solidFill>
              </a:rPr>
              <a:t>commits</a:t>
            </a:r>
            <a:r>
              <a:t> (snapshots) along the way.</a:t>
            </a:r>
          </a:p>
        </p:txBody>
      </p:sp>
    </p:spTree>
  </p:cSld>
  <p:clrMapOvr>
    <a:masterClrMapping/>
  </p:clrMapOvr>
  <mc:AlternateContent xmlns:mc="http://schemas.openxmlformats.org/markup-compatibility/2006">
    <mc:Choice xmlns:p14="http://schemas.microsoft.com/office/powerpoint/2010/main" Requires="p14">
      <p:transition spd="slow" advClick="1" p14:dur="1500">
        <p:push dir="l"/>
      </p:transition>
    </mc:Choice>
    <mc:Fallback>
      <p:transition spd="slow">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ID="10" grpId="1" fill="hold">
                                  <p:stCondLst>
                                    <p:cond delay="0"/>
                                  </p:stCondLst>
                                  <p:iterate type="el" backwards="0">
                                    <p:tmAbs val="0"/>
                                  </p:iterate>
                                  <p:childTnLst>
                                    <p:set>
                                      <p:cBhvr>
                                        <p:cTn id="6" fill="hold"/>
                                        <p:tgtEl>
                                          <p:spTgt spid="327"/>
                                        </p:tgtEl>
                                        <p:attrNameLst>
                                          <p:attrName>style.visibility</p:attrName>
                                        </p:attrNameLst>
                                      </p:cBhvr>
                                      <p:to>
                                        <p:strVal val="visible"/>
                                      </p:to>
                                    </p:set>
                                    <p:animEffect filter="fade" transition="in">
                                      <p:cBhvr>
                                        <p:cTn id="7" dur="1000"/>
                                        <p:tgtEl>
                                          <p:spTgt spid="327"/>
                                        </p:tgtEl>
                                      </p:cBhvr>
                                    </p:animEffect>
                                  </p:childTnLst>
                                </p:cTn>
                              </p:par>
                            </p:childTnLst>
                          </p:cTn>
                        </p:par>
                        <p:par>
                          <p:cTn id="8" fill="hold">
                            <p:stCondLst>
                              <p:cond delay="1000"/>
                            </p:stCondLst>
                            <p:childTnLst>
                              <p:par>
                                <p:cTn id="9" presetClass="entr" nodeType="afterEffect" presetID="10" grpId="2" fill="hold">
                                  <p:stCondLst>
                                    <p:cond delay="0"/>
                                  </p:stCondLst>
                                  <p:iterate type="el" backwards="0">
                                    <p:tmAbs val="0"/>
                                  </p:iterate>
                                  <p:childTnLst>
                                    <p:set>
                                      <p:cBhvr>
                                        <p:cTn id="10" fill="hold"/>
                                        <p:tgtEl>
                                          <p:spTgt spid="328"/>
                                        </p:tgtEl>
                                        <p:attrNameLst>
                                          <p:attrName>style.visibility</p:attrName>
                                        </p:attrNameLst>
                                      </p:cBhvr>
                                      <p:to>
                                        <p:strVal val="visible"/>
                                      </p:to>
                                    </p:set>
                                    <p:animEffect filter="fade" transition="in">
                                      <p:cBhvr>
                                        <p:cTn id="11" dur="1500"/>
                                        <p:tgtEl>
                                          <p:spTgt spid="328"/>
                                        </p:tgtEl>
                                      </p:cBhvr>
                                    </p:animEffect>
                                  </p:childTnLst>
                                </p:cTn>
                              </p:par>
                            </p:childTnLst>
                          </p:cTn>
                        </p:par>
                      </p:childTnLst>
                    </p:cTn>
                  </p:par>
                  <p:par>
                    <p:cTn id="12" fill="hold">
                      <p:stCondLst>
                        <p:cond delay="indefinite"/>
                      </p:stCondLst>
                      <p:childTnLst>
                        <p:par>
                          <p:cTn id="13" fill="hold">
                            <p:stCondLst>
                              <p:cond delay="0"/>
                            </p:stCondLst>
                            <p:childTnLst>
                              <p:par>
                                <p:cTn id="14" presetClass="entr" nodeType="clickEffect" presetID="10" grpId="3" fill="hold">
                                  <p:stCondLst>
                                    <p:cond delay="0"/>
                                  </p:stCondLst>
                                  <p:iterate type="el" backwards="0">
                                    <p:tmAbs val="0"/>
                                  </p:iterate>
                                  <p:childTnLst>
                                    <p:set>
                                      <p:cBhvr>
                                        <p:cTn id="15" fill="hold"/>
                                        <p:tgtEl>
                                          <p:spTgt spid="329"/>
                                        </p:tgtEl>
                                        <p:attrNameLst>
                                          <p:attrName>style.visibility</p:attrName>
                                        </p:attrNameLst>
                                      </p:cBhvr>
                                      <p:to>
                                        <p:strVal val="visible"/>
                                      </p:to>
                                    </p:set>
                                    <p:animEffect filter="fade" transition="in">
                                      <p:cBhvr>
                                        <p:cTn id="16" dur="1000"/>
                                        <p:tgtEl>
                                          <p:spTgt spid="329"/>
                                        </p:tgtEl>
                                      </p:cBhvr>
                                    </p:animEffect>
                                  </p:childTnLst>
                                </p:cTn>
                              </p:par>
                            </p:childTnLst>
                          </p:cTn>
                        </p:par>
                      </p:childTnLst>
                    </p:cTn>
                  </p:par>
                  <p:par>
                    <p:cTn id="17" fill="hold">
                      <p:stCondLst>
                        <p:cond delay="indefinite"/>
                      </p:stCondLst>
                      <p:childTnLst>
                        <p:par>
                          <p:cTn id="18" fill="hold">
                            <p:stCondLst>
                              <p:cond delay="0"/>
                            </p:stCondLst>
                            <p:childTnLst>
                              <p:par>
                                <p:cTn id="19" presetClass="entr" nodeType="clickEffect" presetID="10" grpId="4" fill="hold">
                                  <p:stCondLst>
                                    <p:cond delay="0"/>
                                  </p:stCondLst>
                                  <p:iterate type="el" backwards="0">
                                    <p:tmAbs val="0"/>
                                  </p:iterate>
                                  <p:childTnLst>
                                    <p:set>
                                      <p:cBhvr>
                                        <p:cTn id="20" fill="hold"/>
                                        <p:tgtEl>
                                          <p:spTgt spid="330"/>
                                        </p:tgtEl>
                                        <p:attrNameLst>
                                          <p:attrName>style.visibility</p:attrName>
                                        </p:attrNameLst>
                                      </p:cBhvr>
                                      <p:to>
                                        <p:strVal val="visible"/>
                                      </p:to>
                                    </p:set>
                                    <p:animEffect filter="fade" transition="in">
                                      <p:cBhvr>
                                        <p:cTn id="21" dur="1000"/>
                                        <p:tgtEl>
                                          <p:spTgt spid="330"/>
                                        </p:tgtEl>
                                      </p:cBhvr>
                                    </p:animEffect>
                                  </p:childTnLst>
                                </p:cTn>
                              </p:par>
                            </p:childTnLst>
                          </p:cTn>
                        </p:par>
                      </p:childTnLst>
                    </p:cTn>
                  </p:par>
                  <p:par>
                    <p:cTn id="22" fill="hold">
                      <p:stCondLst>
                        <p:cond delay="indefinite"/>
                      </p:stCondLst>
                      <p:childTnLst>
                        <p:par>
                          <p:cTn id="23" fill="hold">
                            <p:stCondLst>
                              <p:cond delay="0"/>
                            </p:stCondLst>
                            <p:childTnLst>
                              <p:par>
                                <p:cTn id="24" presetClass="entr" nodeType="clickEffect" presetID="10" grpId="5" fill="hold">
                                  <p:stCondLst>
                                    <p:cond delay="0"/>
                                  </p:stCondLst>
                                  <p:iterate type="el" backwards="0">
                                    <p:tmAbs val="0"/>
                                  </p:iterate>
                                  <p:childTnLst>
                                    <p:set>
                                      <p:cBhvr>
                                        <p:cTn id="25" fill="hold"/>
                                        <p:tgtEl>
                                          <p:spTgt spid="331"/>
                                        </p:tgtEl>
                                        <p:attrNameLst>
                                          <p:attrName>style.visibility</p:attrName>
                                        </p:attrNameLst>
                                      </p:cBhvr>
                                      <p:to>
                                        <p:strVal val="visible"/>
                                      </p:to>
                                    </p:set>
                                    <p:animEffect filter="fade" transition="in">
                                      <p:cBhvr>
                                        <p:cTn id="26" dur="1000"/>
                                        <p:tgtEl>
                                          <p:spTgt spid="33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331" grpId="5"/>
      <p:bldP build="whole" bldLvl="1" animBg="1" rev="0" advAuto="0" spid="327" grpId="1"/>
      <p:bldP build="whole" bldLvl="1" animBg="1" rev="0" advAuto="0" spid="329" grpId="3"/>
      <p:bldP build="whole" bldLvl="1" animBg="1" rev="0" advAuto="0" spid="328" grpId="2"/>
      <p:bldP build="whole" bldLvl="1" animBg="1" rev="0" advAuto="0" spid="330" grpId="4"/>
    </p:bldLst>
  </p:timing>
</p:sld>
</file>

<file path=ppt/slides/slide3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33" name="Slide Number"/>
          <p:cNvSpPr txBox="1"/>
          <p:nvPr>
            <p:ph type="sldNum" sz="quarter" idx="2"/>
          </p:nvPr>
        </p:nvSpPr>
        <p:spPr>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334" name="General Workflow in Git"/>
          <p:cNvSpPr txBox="1"/>
          <p:nvPr>
            <p:ph type="title"/>
          </p:nvPr>
        </p:nvSpPr>
        <p:spPr>
          <a:prstGeom prst="rect">
            <a:avLst/>
          </a:prstGeom>
        </p:spPr>
        <p:txBody>
          <a:bodyPr/>
          <a:lstStyle/>
          <a:p>
            <a:pPr/>
            <a:r>
              <a:t>General Workflow in Git</a:t>
            </a:r>
          </a:p>
        </p:txBody>
      </p:sp>
      <p:sp>
        <p:nvSpPr>
          <p:cNvPr id="335" name="Step 3: Edit, add/delete files as needed. Making commits (snapshots) along the way."/>
          <p:cNvSpPr txBox="1"/>
          <p:nvPr/>
        </p:nvSpPr>
        <p:spPr>
          <a:xfrm>
            <a:off x="141518" y="977900"/>
            <a:ext cx="12721764" cy="990601"/>
          </a:xfrm>
          <a:prstGeom prst="rect">
            <a:avLst/>
          </a:prstGeom>
          <a:ln w="3175">
            <a:miter lim="400000"/>
          </a:ln>
          <a:extLst>
            <a:ext uri="{C572A759-6A51-4108-AA02-DFA0A04FC94B}">
              <ma14:wrappingTextBoxFlag xmlns:ma14="http://schemas.microsoft.com/office/mac/drawingml/2011/main" val="1"/>
            </a:ext>
          </a:extLst>
        </p:spPr>
        <p:txBody>
          <a:bodyPr lIns="38100" tIns="38100" rIns="38100" bIns="38100" anchor="ctr">
            <a:spAutoFit/>
          </a:bodyPr>
          <a:lstStyle/>
          <a:p>
            <a:pPr algn="l">
              <a:defRPr sz="3200">
                <a:solidFill>
                  <a:srgbClr val="000004"/>
                </a:solidFill>
                <a:latin typeface="Franklin Gothic Medium"/>
                <a:ea typeface="Franklin Gothic Medium"/>
                <a:cs typeface="Franklin Gothic Medium"/>
                <a:sym typeface="Franklin Gothic Medium"/>
              </a:defRPr>
            </a:pPr>
            <a:r>
              <a:t>Step 3: Edit, add/delete files as needed. Making </a:t>
            </a:r>
            <a:r>
              <a:rPr i="1">
                <a:solidFill>
                  <a:srgbClr val="008900"/>
                </a:solidFill>
              </a:rPr>
              <a:t>commits</a:t>
            </a:r>
            <a:r>
              <a:t> (snapshots) along the way.</a:t>
            </a:r>
          </a:p>
        </p:txBody>
      </p:sp>
      <p:sp>
        <p:nvSpPr>
          <p:cNvPr id="336" name="Step 4: Push your commits to the appropriate branch of the repo on the server at least once per day."/>
          <p:cNvSpPr txBox="1"/>
          <p:nvPr/>
        </p:nvSpPr>
        <p:spPr>
          <a:xfrm>
            <a:off x="141518" y="6288025"/>
            <a:ext cx="12721764" cy="990601"/>
          </a:xfrm>
          <a:prstGeom prst="rect">
            <a:avLst/>
          </a:prstGeom>
          <a:ln w="3175">
            <a:miter lim="400000"/>
          </a:ln>
          <a:extLst>
            <a:ext uri="{C572A759-6A51-4108-AA02-DFA0A04FC94B}">
              <ma14:wrappingTextBoxFlag xmlns:ma14="http://schemas.microsoft.com/office/mac/drawingml/2011/main" val="1"/>
            </a:ext>
          </a:extLst>
        </p:spPr>
        <p:txBody>
          <a:bodyPr lIns="38100" tIns="38100" rIns="38100" bIns="38100" anchor="ctr">
            <a:spAutoFit/>
          </a:bodyPr>
          <a:lstStyle/>
          <a:p>
            <a:pPr algn="l">
              <a:defRPr sz="3200">
                <a:solidFill>
                  <a:srgbClr val="000004"/>
                </a:solidFill>
                <a:latin typeface="Franklin Gothic Medium"/>
                <a:ea typeface="Franklin Gothic Medium"/>
                <a:cs typeface="Franklin Gothic Medium"/>
                <a:sym typeface="Franklin Gothic Medium"/>
              </a:defRPr>
            </a:pPr>
            <a:r>
              <a:t>Step 4: </a:t>
            </a:r>
            <a:r>
              <a:rPr>
                <a:solidFill>
                  <a:srgbClr val="008900"/>
                </a:solidFill>
              </a:rPr>
              <a:t>Push</a:t>
            </a:r>
            <a:r>
              <a:t> your commits to the appropriate </a:t>
            </a:r>
            <a:r>
              <a:rPr>
                <a:solidFill>
                  <a:srgbClr val="1D2FEB"/>
                </a:solidFill>
              </a:rPr>
              <a:t>branch</a:t>
            </a:r>
            <a:r>
              <a:t> of the repo on the server at least once per day.</a:t>
            </a:r>
          </a:p>
        </p:txBody>
      </p:sp>
      <p:sp>
        <p:nvSpPr>
          <p:cNvPr id="337" name="Step 5: Pull changes that either you (or someone else) made on a different machine AND/OR Pull-Merge changes from another branch into your own."/>
          <p:cNvSpPr txBox="1"/>
          <p:nvPr/>
        </p:nvSpPr>
        <p:spPr>
          <a:xfrm>
            <a:off x="141518" y="7591176"/>
            <a:ext cx="12721764" cy="1447801"/>
          </a:xfrm>
          <a:prstGeom prst="rect">
            <a:avLst/>
          </a:prstGeom>
          <a:ln w="3175">
            <a:miter lim="400000"/>
          </a:ln>
          <a:extLst>
            <a:ext uri="{C572A759-6A51-4108-AA02-DFA0A04FC94B}">
              <ma14:wrappingTextBoxFlag xmlns:ma14="http://schemas.microsoft.com/office/mac/drawingml/2011/main" val="1"/>
            </a:ext>
          </a:extLst>
        </p:spPr>
        <p:txBody>
          <a:bodyPr lIns="38100" tIns="38100" rIns="38100" bIns="38100" anchor="ctr">
            <a:spAutoFit/>
          </a:bodyPr>
          <a:lstStyle/>
          <a:p>
            <a:pPr algn="l">
              <a:defRPr sz="3200">
                <a:solidFill>
                  <a:srgbClr val="000004"/>
                </a:solidFill>
                <a:latin typeface="Franklin Gothic Medium"/>
                <a:ea typeface="Franklin Gothic Medium"/>
                <a:cs typeface="Franklin Gothic Medium"/>
                <a:sym typeface="Franklin Gothic Medium"/>
              </a:defRPr>
            </a:pPr>
            <a:r>
              <a:t>Step 5: </a:t>
            </a:r>
            <a:r>
              <a:rPr>
                <a:solidFill>
                  <a:srgbClr val="008900"/>
                </a:solidFill>
              </a:rPr>
              <a:t>Pull</a:t>
            </a:r>
            <a:r>
              <a:t> changes that either you (or someone else) made on a different machine AND/OR</a:t>
            </a:r>
            <a:r>
              <a:rPr>
                <a:solidFill>
                  <a:srgbClr val="1D2FEB"/>
                </a:solidFill>
              </a:rPr>
              <a:t> Pull-Merge </a:t>
            </a:r>
            <a:r>
              <a:t>changes from another branch into your own.</a:t>
            </a:r>
          </a:p>
        </p:txBody>
      </p:sp>
      <p:sp>
        <p:nvSpPr>
          <p:cNvPr id="338" name="Step 3A: Make and save your changes, add/delete files in your local copy of the repo."/>
          <p:cNvSpPr txBox="1"/>
          <p:nvPr/>
        </p:nvSpPr>
        <p:spPr>
          <a:xfrm>
            <a:off x="471718" y="2056341"/>
            <a:ext cx="12061364" cy="990601"/>
          </a:xfrm>
          <a:prstGeom prst="rect">
            <a:avLst/>
          </a:prstGeom>
          <a:ln w="3175">
            <a:miter lim="400000"/>
          </a:ln>
          <a:extLst>
            <a:ext uri="{C572A759-6A51-4108-AA02-DFA0A04FC94B}">
              <ma14:wrappingTextBoxFlag xmlns:ma14="http://schemas.microsoft.com/office/mac/drawingml/2011/main" val="1"/>
            </a:ext>
          </a:extLst>
        </p:spPr>
        <p:txBody>
          <a:bodyPr lIns="38100" tIns="38100" rIns="38100" bIns="38100" anchor="ctr">
            <a:spAutoFit/>
          </a:bodyPr>
          <a:lstStyle/>
          <a:p>
            <a:pPr algn="l">
              <a:defRPr sz="3200">
                <a:solidFill>
                  <a:srgbClr val="000004"/>
                </a:solidFill>
                <a:latin typeface="Franklin Gothic Medium"/>
                <a:ea typeface="Franklin Gothic Medium"/>
                <a:cs typeface="Franklin Gothic Medium"/>
                <a:sym typeface="Franklin Gothic Medium"/>
              </a:defRPr>
            </a:pPr>
            <a:r>
              <a:t>Step 3A: Make and save your changes, add/delete files in</a:t>
            </a:r>
            <a:r>
              <a:rPr i="1"/>
              <a:t> </a:t>
            </a:r>
            <a:r>
              <a:rPr i="1">
                <a:solidFill>
                  <a:srgbClr val="BA3EB3"/>
                </a:solidFill>
              </a:rPr>
              <a:t>your local copy of the repo</a:t>
            </a:r>
            <a:r>
              <a:t>.</a:t>
            </a:r>
          </a:p>
        </p:txBody>
      </p:sp>
      <p:sp>
        <p:nvSpPr>
          <p:cNvPr id="339" name="Step 3B: Stage which of those changes you want to be part of your next commit."/>
          <p:cNvSpPr txBox="1"/>
          <p:nvPr/>
        </p:nvSpPr>
        <p:spPr>
          <a:xfrm>
            <a:off x="471719" y="3206096"/>
            <a:ext cx="12061363" cy="990601"/>
          </a:xfrm>
          <a:prstGeom prst="rect">
            <a:avLst/>
          </a:prstGeom>
          <a:ln w="3175">
            <a:miter lim="400000"/>
          </a:ln>
          <a:extLst>
            <a:ext uri="{C572A759-6A51-4108-AA02-DFA0A04FC94B}">
              <ma14:wrappingTextBoxFlag xmlns:ma14="http://schemas.microsoft.com/office/mac/drawingml/2011/main" val="1"/>
            </a:ext>
          </a:extLst>
        </p:spPr>
        <p:txBody>
          <a:bodyPr lIns="38100" tIns="38100" rIns="38100" bIns="38100" anchor="ctr">
            <a:spAutoFit/>
          </a:bodyPr>
          <a:lstStyle/>
          <a:p>
            <a:pPr algn="l">
              <a:defRPr sz="3200">
                <a:solidFill>
                  <a:srgbClr val="000004"/>
                </a:solidFill>
                <a:latin typeface="Franklin Gothic Medium"/>
                <a:ea typeface="Franklin Gothic Medium"/>
                <a:cs typeface="Franklin Gothic Medium"/>
                <a:sym typeface="Franklin Gothic Medium"/>
              </a:defRPr>
            </a:pPr>
            <a:r>
              <a:t>Step 3B: </a:t>
            </a:r>
            <a:r>
              <a:rPr>
                <a:solidFill>
                  <a:srgbClr val="008900"/>
                </a:solidFill>
              </a:rPr>
              <a:t>Stage</a:t>
            </a:r>
            <a:r>
              <a:t> which of those changes you want to be part of your next commit.</a:t>
            </a:r>
          </a:p>
        </p:txBody>
      </p:sp>
      <p:sp>
        <p:nvSpPr>
          <p:cNvPr id="340" name="Step 3C: You create a commit of the changes you staged, adding this snapshot to your Git directory."/>
          <p:cNvSpPr txBox="1"/>
          <p:nvPr/>
        </p:nvSpPr>
        <p:spPr>
          <a:xfrm>
            <a:off x="471719" y="4284538"/>
            <a:ext cx="12061363" cy="990601"/>
          </a:xfrm>
          <a:prstGeom prst="rect">
            <a:avLst/>
          </a:prstGeom>
          <a:ln w="3175">
            <a:miter lim="400000"/>
          </a:ln>
          <a:extLst>
            <a:ext uri="{C572A759-6A51-4108-AA02-DFA0A04FC94B}">
              <ma14:wrappingTextBoxFlag xmlns:ma14="http://schemas.microsoft.com/office/mac/drawingml/2011/main" val="1"/>
            </a:ext>
          </a:extLst>
        </p:spPr>
        <p:txBody>
          <a:bodyPr lIns="38100" tIns="38100" rIns="38100" bIns="38100" anchor="ctr">
            <a:spAutoFit/>
          </a:bodyPr>
          <a:lstStyle/>
          <a:p>
            <a:pPr algn="l">
              <a:defRPr sz="3200">
                <a:solidFill>
                  <a:srgbClr val="000004"/>
                </a:solidFill>
                <a:latin typeface="Franklin Gothic Medium"/>
                <a:ea typeface="Franklin Gothic Medium"/>
                <a:cs typeface="Franklin Gothic Medium"/>
                <a:sym typeface="Franklin Gothic Medium"/>
              </a:defRPr>
            </a:pPr>
            <a:r>
              <a:t>Step 3C: You </a:t>
            </a:r>
            <a:r>
              <a:rPr>
                <a:solidFill>
                  <a:srgbClr val="008900"/>
                </a:solidFill>
              </a:rPr>
              <a:t>create a commit</a:t>
            </a:r>
            <a:r>
              <a:t> of the changes you staged, adding this snapshot to your Git directory.</a:t>
            </a:r>
          </a:p>
        </p:txBody>
      </p:sp>
      <p:sp>
        <p:nvSpPr>
          <p:cNvPr id="341" name="Suggestion: make a commit at the end of each step of your plan."/>
          <p:cNvSpPr txBox="1"/>
          <p:nvPr/>
        </p:nvSpPr>
        <p:spPr>
          <a:xfrm>
            <a:off x="471719" y="5434292"/>
            <a:ext cx="12061363" cy="533401"/>
          </a:xfrm>
          <a:prstGeom prst="rect">
            <a:avLst/>
          </a:prstGeom>
          <a:ln w="3175">
            <a:miter lim="400000"/>
          </a:ln>
          <a:extLst>
            <a:ext uri="{C572A759-6A51-4108-AA02-DFA0A04FC94B}">
              <ma14:wrappingTextBoxFlag xmlns:ma14="http://schemas.microsoft.com/office/mac/drawingml/2011/main" val="1"/>
            </a:ext>
          </a:extLst>
        </p:spPr>
        <p:txBody>
          <a:bodyPr lIns="38100" tIns="38100" rIns="38100" bIns="38100" anchor="ctr">
            <a:spAutoFit/>
          </a:bodyPr>
          <a:lstStyle>
            <a:lvl1pPr algn="l">
              <a:defRPr sz="3200">
                <a:solidFill>
                  <a:srgbClr val="BA3EB3"/>
                </a:solidFill>
                <a:latin typeface="Franklin Gothic Medium"/>
                <a:ea typeface="Franklin Gothic Medium"/>
                <a:cs typeface="Franklin Gothic Medium"/>
                <a:sym typeface="Franklin Gothic Medium"/>
              </a:defRPr>
            </a:lvl1pPr>
          </a:lstStyle>
          <a:p>
            <a:pPr/>
            <a:r>
              <a:t>Suggestion: make a commit at the end of each step of your plan.</a:t>
            </a:r>
          </a:p>
        </p:txBody>
      </p:sp>
    </p:spTree>
  </p:cSld>
  <p:clrMapOvr>
    <a:masterClrMapping/>
  </p:clrMapOvr>
  <mc:AlternateContent xmlns:mc="http://schemas.openxmlformats.org/markup-compatibility/2006">
    <mc:Choice xmlns:p14="http://schemas.microsoft.com/office/powerpoint/2010/main" Requires="p14">
      <p:transition spd="slow" advClick="1" p14:dur="1500">
        <p:fade/>
      </p:transition>
    </mc:Choice>
    <mc:Fallback>
      <p:transition spd="slow">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ID="10" grpId="1" fill="hold">
                                  <p:stCondLst>
                                    <p:cond delay="0"/>
                                  </p:stCondLst>
                                  <p:iterate type="el" backwards="0">
                                    <p:tmAbs val="0"/>
                                  </p:iterate>
                                  <p:childTnLst>
                                    <p:set>
                                      <p:cBhvr>
                                        <p:cTn id="6" fill="hold"/>
                                        <p:tgtEl>
                                          <p:spTgt spid="338"/>
                                        </p:tgtEl>
                                        <p:attrNameLst>
                                          <p:attrName>style.visibility</p:attrName>
                                        </p:attrNameLst>
                                      </p:cBhvr>
                                      <p:to>
                                        <p:strVal val="visible"/>
                                      </p:to>
                                    </p:set>
                                    <p:animEffect filter="fade" transition="in">
                                      <p:cBhvr>
                                        <p:cTn id="7" dur="1000"/>
                                        <p:tgtEl>
                                          <p:spTgt spid="338"/>
                                        </p:tgtEl>
                                      </p:cBhvr>
                                    </p:animEffect>
                                  </p:childTnLst>
                                </p:cTn>
                              </p:par>
                            </p:childTnLst>
                          </p:cTn>
                        </p:par>
                      </p:childTnLst>
                    </p:cTn>
                  </p:par>
                  <p:par>
                    <p:cTn id="8" fill="hold">
                      <p:stCondLst>
                        <p:cond delay="indefinite"/>
                      </p:stCondLst>
                      <p:childTnLst>
                        <p:par>
                          <p:cTn id="9" fill="hold">
                            <p:stCondLst>
                              <p:cond delay="0"/>
                            </p:stCondLst>
                            <p:childTnLst>
                              <p:par>
                                <p:cTn id="10" presetClass="entr" nodeType="clickEffect" presetID="10" grpId="2" fill="hold">
                                  <p:stCondLst>
                                    <p:cond delay="0"/>
                                  </p:stCondLst>
                                  <p:iterate type="el" backwards="0">
                                    <p:tmAbs val="0"/>
                                  </p:iterate>
                                  <p:childTnLst>
                                    <p:set>
                                      <p:cBhvr>
                                        <p:cTn id="11" fill="hold"/>
                                        <p:tgtEl>
                                          <p:spTgt spid="339"/>
                                        </p:tgtEl>
                                        <p:attrNameLst>
                                          <p:attrName>style.visibility</p:attrName>
                                        </p:attrNameLst>
                                      </p:cBhvr>
                                      <p:to>
                                        <p:strVal val="visible"/>
                                      </p:to>
                                    </p:set>
                                    <p:animEffect filter="fade" transition="in">
                                      <p:cBhvr>
                                        <p:cTn id="12" dur="1000"/>
                                        <p:tgtEl>
                                          <p:spTgt spid="339"/>
                                        </p:tgtEl>
                                      </p:cBhvr>
                                    </p:animEffect>
                                  </p:childTnLst>
                                </p:cTn>
                              </p:par>
                            </p:childTnLst>
                          </p:cTn>
                        </p:par>
                      </p:childTnLst>
                    </p:cTn>
                  </p:par>
                  <p:par>
                    <p:cTn id="13" fill="hold">
                      <p:stCondLst>
                        <p:cond delay="indefinite"/>
                      </p:stCondLst>
                      <p:childTnLst>
                        <p:par>
                          <p:cTn id="14" fill="hold">
                            <p:stCondLst>
                              <p:cond delay="0"/>
                            </p:stCondLst>
                            <p:childTnLst>
                              <p:par>
                                <p:cTn id="15" presetClass="entr" nodeType="clickEffect" presetID="10" grpId="3" fill="hold">
                                  <p:stCondLst>
                                    <p:cond delay="0"/>
                                  </p:stCondLst>
                                  <p:iterate type="el" backwards="0">
                                    <p:tmAbs val="0"/>
                                  </p:iterate>
                                  <p:childTnLst>
                                    <p:set>
                                      <p:cBhvr>
                                        <p:cTn id="16" fill="hold"/>
                                        <p:tgtEl>
                                          <p:spTgt spid="340"/>
                                        </p:tgtEl>
                                        <p:attrNameLst>
                                          <p:attrName>style.visibility</p:attrName>
                                        </p:attrNameLst>
                                      </p:cBhvr>
                                      <p:to>
                                        <p:strVal val="visible"/>
                                      </p:to>
                                    </p:set>
                                    <p:animEffect filter="fade" transition="in">
                                      <p:cBhvr>
                                        <p:cTn id="17" dur="1000"/>
                                        <p:tgtEl>
                                          <p:spTgt spid="340"/>
                                        </p:tgtEl>
                                      </p:cBhvr>
                                    </p:animEffect>
                                  </p:childTnLst>
                                </p:cTn>
                              </p:par>
                            </p:childTnLst>
                          </p:cTn>
                        </p:par>
                      </p:childTnLst>
                    </p:cTn>
                  </p:par>
                  <p:par>
                    <p:cTn id="18" fill="hold">
                      <p:stCondLst>
                        <p:cond delay="indefinite"/>
                      </p:stCondLst>
                      <p:childTnLst>
                        <p:par>
                          <p:cTn id="19" fill="hold">
                            <p:stCondLst>
                              <p:cond delay="0"/>
                            </p:stCondLst>
                            <p:childTnLst>
                              <p:par>
                                <p:cTn id="20" presetClass="entr" nodeType="clickEffect" presetID="10" grpId="4" fill="hold">
                                  <p:stCondLst>
                                    <p:cond delay="0"/>
                                  </p:stCondLst>
                                  <p:iterate type="el" backwards="0">
                                    <p:tmAbs val="0"/>
                                  </p:iterate>
                                  <p:childTnLst>
                                    <p:set>
                                      <p:cBhvr>
                                        <p:cTn id="21" fill="hold"/>
                                        <p:tgtEl>
                                          <p:spTgt spid="341"/>
                                        </p:tgtEl>
                                        <p:attrNameLst>
                                          <p:attrName>style.visibility</p:attrName>
                                        </p:attrNameLst>
                                      </p:cBhvr>
                                      <p:to>
                                        <p:strVal val="visible"/>
                                      </p:to>
                                    </p:set>
                                    <p:animEffect filter="fade" transition="in">
                                      <p:cBhvr>
                                        <p:cTn id="22" dur="1000"/>
                                        <p:tgtEl>
                                          <p:spTgt spid="341"/>
                                        </p:tgtEl>
                                      </p:cBhvr>
                                    </p:animEffect>
                                  </p:childTnLst>
                                </p:cTn>
                              </p:par>
                            </p:childTnLst>
                          </p:cTn>
                        </p:par>
                      </p:childTnLst>
                    </p:cTn>
                  </p:par>
                  <p:par>
                    <p:cTn id="23" fill="hold">
                      <p:stCondLst>
                        <p:cond delay="indefinite"/>
                      </p:stCondLst>
                      <p:childTnLst>
                        <p:par>
                          <p:cTn id="24" fill="hold">
                            <p:stCondLst>
                              <p:cond delay="0"/>
                            </p:stCondLst>
                            <p:childTnLst>
                              <p:par>
                                <p:cTn id="25" presetClass="entr" nodeType="clickEffect" presetID="10" grpId="5" fill="hold">
                                  <p:stCondLst>
                                    <p:cond delay="0"/>
                                  </p:stCondLst>
                                  <p:iterate type="el" backwards="0">
                                    <p:tmAbs val="0"/>
                                  </p:iterate>
                                  <p:childTnLst>
                                    <p:set>
                                      <p:cBhvr>
                                        <p:cTn id="26" fill="hold"/>
                                        <p:tgtEl>
                                          <p:spTgt spid="336"/>
                                        </p:tgtEl>
                                        <p:attrNameLst>
                                          <p:attrName>style.visibility</p:attrName>
                                        </p:attrNameLst>
                                      </p:cBhvr>
                                      <p:to>
                                        <p:strVal val="visible"/>
                                      </p:to>
                                    </p:set>
                                    <p:animEffect filter="fade" transition="in">
                                      <p:cBhvr>
                                        <p:cTn id="27" dur="1000"/>
                                        <p:tgtEl>
                                          <p:spTgt spid="336"/>
                                        </p:tgtEl>
                                      </p:cBhvr>
                                    </p:animEffect>
                                  </p:childTnLst>
                                </p:cTn>
                              </p:par>
                            </p:childTnLst>
                          </p:cTn>
                        </p:par>
                      </p:childTnLst>
                    </p:cTn>
                  </p:par>
                  <p:par>
                    <p:cTn id="28" fill="hold">
                      <p:stCondLst>
                        <p:cond delay="indefinite"/>
                      </p:stCondLst>
                      <p:childTnLst>
                        <p:par>
                          <p:cTn id="29" fill="hold">
                            <p:stCondLst>
                              <p:cond delay="0"/>
                            </p:stCondLst>
                            <p:childTnLst>
                              <p:par>
                                <p:cTn id="30" presetClass="entr" nodeType="clickEffect" presetID="10" grpId="6" fill="hold">
                                  <p:stCondLst>
                                    <p:cond delay="0"/>
                                  </p:stCondLst>
                                  <p:iterate type="el" backwards="0">
                                    <p:tmAbs val="0"/>
                                  </p:iterate>
                                  <p:childTnLst>
                                    <p:set>
                                      <p:cBhvr>
                                        <p:cTn id="31" fill="hold"/>
                                        <p:tgtEl>
                                          <p:spTgt spid="337"/>
                                        </p:tgtEl>
                                        <p:attrNameLst>
                                          <p:attrName>style.visibility</p:attrName>
                                        </p:attrNameLst>
                                      </p:cBhvr>
                                      <p:to>
                                        <p:strVal val="visible"/>
                                      </p:to>
                                    </p:set>
                                    <p:animEffect filter="fade" transition="in">
                                      <p:cBhvr>
                                        <p:cTn id="32" dur="1000"/>
                                        <p:tgtEl>
                                          <p:spTgt spid="33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340" grpId="3"/>
      <p:bldP build="whole" bldLvl="1" animBg="1" rev="0" advAuto="0" spid="341" grpId="4"/>
      <p:bldP build="whole" bldLvl="1" animBg="1" rev="0" advAuto="0" spid="337" grpId="6"/>
      <p:bldP build="whole" bldLvl="1" animBg="1" rev="0" advAuto="0" spid="339" grpId="2"/>
      <p:bldP build="whole" bldLvl="1" animBg="1" rev="0" advAuto="0" spid="338" grpId="1"/>
      <p:bldP build="whole" bldLvl="1" animBg="1" rev="0" advAuto="0" spid="336" grpId="5"/>
    </p:bldLst>
  </p:timing>
</p:sld>
</file>

<file path=ppt/slides/slide3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43" name="Slide Number"/>
          <p:cNvSpPr txBox="1"/>
          <p:nvPr>
            <p:ph type="sldNum" sz="quarter" idx="2"/>
          </p:nvPr>
        </p:nvSpPr>
        <p:spPr>
          <a:xfrm>
            <a:off x="6345870" y="9369954"/>
            <a:ext cx="313060" cy="256506"/>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344" name="Let's Practice"/>
          <p:cNvSpPr txBox="1"/>
          <p:nvPr>
            <p:ph type="title"/>
          </p:nvPr>
        </p:nvSpPr>
        <p:spPr>
          <a:xfrm>
            <a:off x="1773844" y="-46567"/>
            <a:ext cx="9457111" cy="885826"/>
          </a:xfrm>
          <a:prstGeom prst="rect">
            <a:avLst/>
          </a:prstGeom>
        </p:spPr>
        <p:txBody>
          <a:bodyPr/>
          <a:lstStyle/>
          <a:p>
            <a:pPr/>
            <a:r>
              <a:t>Let's Practice</a:t>
            </a:r>
          </a:p>
        </p:txBody>
      </p:sp>
      <p:sp>
        <p:nvSpPr>
          <p:cNvPr id="345" name="Go to GitHub.com and log in."/>
          <p:cNvSpPr txBox="1"/>
          <p:nvPr/>
        </p:nvSpPr>
        <p:spPr>
          <a:xfrm>
            <a:off x="82152" y="1206500"/>
            <a:ext cx="12840496" cy="533401"/>
          </a:xfrm>
          <a:prstGeom prst="rect">
            <a:avLst/>
          </a:prstGeom>
          <a:ln w="3175">
            <a:miter lim="400000"/>
          </a:ln>
          <a:extLst>
            <a:ext uri="{C572A759-6A51-4108-AA02-DFA0A04FC94B}">
              <ma14:wrappingTextBoxFlag xmlns:ma14="http://schemas.microsoft.com/office/mac/drawingml/2011/main" val="1"/>
            </a:ext>
          </a:extLst>
        </p:spPr>
        <p:txBody>
          <a:bodyPr lIns="38100" tIns="38100" rIns="38100" bIns="38100" anchor="ctr">
            <a:spAutoFit/>
          </a:bodyPr>
          <a:lstStyle/>
          <a:p>
            <a:pPr algn="l">
              <a:defRPr sz="3200">
                <a:solidFill>
                  <a:srgbClr val="000004"/>
                </a:solidFill>
                <a:latin typeface="Franklin Gothic Medium"/>
                <a:ea typeface="Franklin Gothic Medium"/>
                <a:cs typeface="Franklin Gothic Medium"/>
                <a:sym typeface="Franklin Gothic Medium"/>
              </a:defRPr>
            </a:pPr>
            <a:r>
              <a:t>Go to </a:t>
            </a:r>
            <a:r>
              <a:rPr u="sng">
                <a:hlinkClick r:id="rId2" invalidUrl="" action="" tgtFrame="" tooltip="" history="1" highlightClick="0" endSnd="0"/>
              </a:rPr>
              <a:t>GitHub.com</a:t>
            </a:r>
            <a:r>
              <a:t> and log in.</a:t>
            </a:r>
          </a:p>
        </p:txBody>
      </p:sp>
      <p:sp>
        <p:nvSpPr>
          <p:cNvPr id="346" name="We're going to work together to create a practice repo together."/>
          <p:cNvSpPr txBox="1"/>
          <p:nvPr/>
        </p:nvSpPr>
        <p:spPr>
          <a:xfrm>
            <a:off x="82152" y="2551906"/>
            <a:ext cx="12840496" cy="533401"/>
          </a:xfrm>
          <a:prstGeom prst="rect">
            <a:avLst/>
          </a:prstGeom>
          <a:ln w="3175">
            <a:miter lim="400000"/>
          </a:ln>
          <a:extLst>
            <a:ext uri="{C572A759-6A51-4108-AA02-DFA0A04FC94B}">
              <ma14:wrappingTextBoxFlag xmlns:ma14="http://schemas.microsoft.com/office/mac/drawingml/2011/main" val="1"/>
            </a:ext>
          </a:extLst>
        </p:spPr>
        <p:txBody>
          <a:bodyPr lIns="38100" tIns="38100" rIns="38100" bIns="38100" anchor="ctr">
            <a:spAutoFit/>
          </a:bodyPr>
          <a:lstStyle>
            <a:lvl1pPr algn="l">
              <a:defRPr sz="3200">
                <a:solidFill>
                  <a:srgbClr val="000004"/>
                </a:solidFill>
                <a:latin typeface="Franklin Gothic Medium"/>
                <a:ea typeface="Franklin Gothic Medium"/>
                <a:cs typeface="Franklin Gothic Medium"/>
                <a:sym typeface="Franklin Gothic Medium"/>
              </a:defRPr>
            </a:lvl1pPr>
          </a:lstStyle>
          <a:p>
            <a:pPr/>
            <a:r>
              <a:t>We're going to work together to create a practice repo together.</a:t>
            </a:r>
          </a:p>
        </p:txBody>
      </p:sp>
    </p:spTree>
  </p:cSld>
  <p:clrMapOvr>
    <a:masterClrMapping/>
  </p:clrMapOvr>
  <mc:AlternateContent xmlns:mc="http://schemas.openxmlformats.org/markup-compatibility/2006">
    <mc:Choice xmlns:p14="http://schemas.microsoft.com/office/powerpoint/2010/main" Requires="p14">
      <p:transition spd="slow" advClick="1" p14:dur="1500">
        <p:fade/>
      </p:transition>
    </mc:Choice>
    <mc:Fallback>
      <p:transition spd="slow">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48" name="Slide Number"/>
          <p:cNvSpPr txBox="1"/>
          <p:nvPr>
            <p:ph type="sldNum" sz="quarter" idx="2"/>
          </p:nvPr>
        </p:nvSpPr>
        <p:spPr>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349" name="Homework"/>
          <p:cNvSpPr txBox="1"/>
          <p:nvPr>
            <p:ph type="title"/>
          </p:nvPr>
        </p:nvSpPr>
        <p:spPr>
          <a:prstGeom prst="rect">
            <a:avLst/>
          </a:prstGeom>
        </p:spPr>
        <p:txBody>
          <a:bodyPr/>
          <a:lstStyle/>
          <a:p>
            <a:pPr/>
            <a:r>
              <a:t>Homework</a:t>
            </a:r>
          </a:p>
        </p:txBody>
      </p:sp>
      <p:sp>
        <p:nvSpPr>
          <p:cNvPr id="350" name="Assignments…"/>
          <p:cNvSpPr txBox="1"/>
          <p:nvPr/>
        </p:nvSpPr>
        <p:spPr>
          <a:xfrm>
            <a:off x="280731" y="2114347"/>
            <a:ext cx="11969204" cy="2844801"/>
          </a:xfrm>
          <a:prstGeom prst="rect">
            <a:avLst/>
          </a:prstGeom>
          <a:ln w="3175">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lgn="l">
              <a:defRPr sz="3200">
                <a:solidFill>
                  <a:srgbClr val="000004"/>
                </a:solidFill>
                <a:latin typeface="Franklin Gothic Medium"/>
                <a:ea typeface="Franklin Gothic Medium"/>
                <a:cs typeface="Franklin Gothic Medium"/>
                <a:sym typeface="Franklin Gothic Medium"/>
              </a:defRPr>
            </a:pPr>
            <a:r>
              <a:t>Assignments</a:t>
            </a:r>
          </a:p>
          <a:p>
            <a:pPr marL="508000" indent="-508000" algn="l">
              <a:buSzPct val="171000"/>
              <a:buChar char="•"/>
              <a:defRPr sz="3200">
                <a:solidFill>
                  <a:srgbClr val="000004"/>
                </a:solidFill>
                <a:latin typeface="Franklin Gothic Medium"/>
                <a:ea typeface="Franklin Gothic Medium"/>
                <a:cs typeface="Franklin Gothic Medium"/>
                <a:sym typeface="Franklin Gothic Medium"/>
              </a:defRPr>
            </a:pPr>
            <a:r>
              <a:t>HW #4.3: Reproducible Data Analysis</a:t>
            </a:r>
          </a:p>
          <a:p>
            <a:pPr lvl="1" marL="1465384" indent="-703384" algn="l">
              <a:buSzPct val="171000"/>
              <a:buChar char="•"/>
              <a:defRPr sz="3200">
                <a:solidFill>
                  <a:srgbClr val="000004"/>
                </a:solidFill>
                <a:latin typeface="Franklin Gothic Medium"/>
                <a:ea typeface="Franklin Gothic Medium"/>
                <a:cs typeface="Franklin Gothic Medium"/>
                <a:sym typeface="Franklin Gothic Medium"/>
              </a:defRPr>
            </a:pPr>
            <a:r>
              <a:t>Due by 11:59pm, Monday, April 13, 2026</a:t>
            </a:r>
          </a:p>
          <a:p>
            <a:pPr lvl="1" marL="1465384" indent="-703384" algn="l">
              <a:buSzPct val="171000"/>
              <a:buChar char="•"/>
              <a:defRPr sz="3200">
                <a:solidFill>
                  <a:srgbClr val="000004"/>
                </a:solidFill>
                <a:latin typeface="Franklin Gothic Medium"/>
                <a:ea typeface="Franklin Gothic Medium"/>
                <a:cs typeface="Franklin Gothic Medium"/>
                <a:sym typeface="Franklin Gothic Medium"/>
              </a:defRPr>
            </a:pPr>
            <a:r>
              <a:t>Be sure to review the rubrics and the info questions</a:t>
            </a:r>
          </a:p>
          <a:p>
            <a:pPr lvl="1" marL="1465384" indent="-703384" algn="l">
              <a:buSzPct val="171000"/>
              <a:buChar char="•"/>
              <a:defRPr sz="3200">
                <a:solidFill>
                  <a:srgbClr val="000004"/>
                </a:solidFill>
                <a:latin typeface="Franklin Gothic Medium"/>
                <a:ea typeface="Franklin Gothic Medium"/>
                <a:cs typeface="Franklin Gothic Medium"/>
                <a:sym typeface="Franklin Gothic Medium"/>
              </a:defRPr>
            </a:pPr>
            <a:r>
              <a:t>There is a separate submission portal for uploading your rendered PDF.</a:t>
            </a:r>
          </a:p>
        </p:txBody>
      </p:sp>
    </p:spTree>
  </p:cSld>
  <p:clrMapOvr>
    <a:masterClrMapping/>
  </p:clrMapOvr>
  <mc:AlternateContent xmlns:mc="http://schemas.openxmlformats.org/markup-compatibility/2006">
    <mc:Choice xmlns:p14="http://schemas.microsoft.com/office/powerpoint/2010/main" Requires="p14">
      <p:transition spd="slow" advClick="1" p14:dur="1500">
        <p:fade/>
      </p:transition>
    </mc:Choice>
    <mc:Fallback>
      <p:transition spd="slow">
        <p:fade/>
      </p:transition>
    </mc:Fallback>
  </mc:AlternateContent>
</p:sld>
</file>

<file path=ppt/theme/_rels/theme1.xml.rels><?xml version="1.0" encoding="UTF-8"?>
<Relationships xmlns="http://schemas.openxmlformats.org/package/2006/relationships"><Relationship Id="rId1" Type="http://schemas.openxmlformats.org/officeDocument/2006/relationships/image" Target="../media/image1.jpeg"/></Relationships>

</file>

<file path=ppt/theme/_rels/theme2.xml.rels><?xml version="1.0" encoding="UTF-8"?>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xmlns:r="http://schemas.openxmlformats.org/officeDocument/2006/relationships" name="White">
  <a:themeElements>
    <a:clrScheme name="White">
      <a:dk1>
        <a:srgbClr val="1E407C"/>
      </a:dk1>
      <a:lt1>
        <a:srgbClr val="FFFFFF"/>
      </a:lt1>
      <a:dk2>
        <a:srgbClr val="53585F"/>
      </a:dk2>
      <a:lt2>
        <a:srgbClr val="DCDEE0"/>
      </a:lt2>
      <a:accent1>
        <a:srgbClr val="0365C0"/>
      </a:accent1>
      <a:accent2>
        <a:srgbClr val="00882B"/>
      </a:accent2>
      <a:accent3>
        <a:srgbClr val="DCBD23"/>
      </a:accent3>
      <a:accent4>
        <a:srgbClr val="DE6A10"/>
      </a:accent4>
      <a:accent5>
        <a:srgbClr val="C82506"/>
      </a:accent5>
      <a:accent6>
        <a:srgbClr val="773F9B"/>
      </a:accent6>
      <a:hlink>
        <a:srgbClr val="0000FF"/>
      </a:hlink>
      <a:folHlink>
        <a:srgbClr val="FF00FF"/>
      </a:folHlink>
    </a:clrScheme>
    <a:fontScheme name="White">
      <a:majorFont>
        <a:latin typeface="Rockwell"/>
        <a:ea typeface="Rockwell"/>
        <a:cs typeface="Rockwell"/>
      </a:majorFont>
      <a:minorFont>
        <a:latin typeface="Rockwell"/>
        <a:ea typeface="Rockwell"/>
        <a:cs typeface="Rockwell"/>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outerShdw sx="100000" sy="100000" kx="0" ky="0" algn="b" rotWithShape="0" blurRad="25400" dist="0" dir="0">
              <a:srgbClr val="000000">
                <a:alpha val="50000"/>
              </a:srgbClr>
            </a:outerShdw>
          </a:effectLst>
        </a:effectStyle>
        <a:effectStyle>
          <a:effectLst>
            <a:outerShdw sx="100000" sy="100000" kx="0" ky="0" algn="b" rotWithShape="0" blurRad="25400" dist="12700" dir="5400000">
              <a:srgbClr val="000000">
                <a:alpha val="50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lipFill rotWithShape="1">
          <a:blip r:embed="rId1"/>
          <a:srcRect l="0" t="0" r="0" b="0"/>
          <a:tile tx="0" ty="0" sx="100000" sy="100000" flip="none" algn="tl"/>
        </a:blipFill>
        <a:ln w="12700" cap="flat">
          <a:solidFill>
            <a:srgbClr val="000000"/>
          </a:solidFill>
          <a:prstDash val="solid"/>
          <a:miter lim="400000"/>
        </a:ln>
        <a:effectLst/>
        <a:sp3d/>
      </a:spPr>
      <a:bodyPr rot="0" spcFirstLastPara="1" vertOverflow="overflow" horzOverflow="overflow" vert="horz" wrap="square" lIns="38100" tIns="38100" rIns="38100" bIns="38100" numCol="1" spcCol="38100" rtlCol="0" anchor="ctr" upright="0">
        <a:spAutoFit/>
      </a:bodyPr>
      <a:lstStyle>
        <a:defPPr marL="0" marR="0" indent="0" algn="ctr" defTabSz="584200" rtl="0" fontAlgn="auto" latinLnBrk="0" hangingPunct="0">
          <a:lnSpc>
            <a:spcPct val="100000"/>
          </a:lnSpc>
          <a:spcBef>
            <a:spcPts val="0"/>
          </a:spcBef>
          <a:spcAft>
            <a:spcPts val="0"/>
          </a:spcAft>
          <a:buClrTx/>
          <a:buSzTx/>
          <a:buFontTx/>
          <a:buNone/>
          <a:tabLst/>
          <a:defRPr b="0" baseline="0" cap="none" i="0" spc="0" strike="noStrike" sz="3800" u="none" kumimoji="0" normalizeH="0">
            <a:ln>
              <a:noFill/>
            </a:ln>
            <a:solidFill>
              <a:srgbClr val="FFFFFF"/>
            </a:solidFill>
            <a:effectLst>
              <a:outerShdw sx="100000" sy="100000" kx="0" ky="0" algn="b" rotWithShape="0" blurRad="38100" dist="12700" dir="5400000">
                <a:srgbClr val="000000">
                  <a:alpha val="50000"/>
                </a:srgbClr>
              </a:outerShdw>
            </a:effectLst>
            <a:uFillTx/>
            <a:latin typeface="Times New Roman"/>
            <a:ea typeface="Times New Roman"/>
            <a:cs typeface="Times New Roman"/>
            <a:sym typeface="Times New Roman"/>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3175" cap="flat">
          <a:noFill/>
          <a:miter lim="400000"/>
        </a:ln>
        <a:effectLst/>
        <a:sp3d/>
      </a:spPr>
      <a:bodyPr rot="0" spcFirstLastPara="1" vertOverflow="overflow" horzOverflow="overflow" vert="horz" wrap="square" lIns="38100" tIns="38100" rIns="38100" bIns="38100" numCol="1" spcCol="38100" rtlCol="0" anchor="ctr" upright="0">
        <a:spAutoFit/>
      </a:bodyPr>
      <a:lstStyle>
        <a:defPPr marL="0" marR="0" indent="0" algn="ctr" defTabSz="5842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1E407C"/>
            </a:solidFill>
            <a:effectLst/>
            <a:uFillTx/>
            <a:latin typeface="Rockwell Bold"/>
            <a:ea typeface="Rockwell Bold"/>
            <a:cs typeface="Rockwell Bold"/>
            <a:sym typeface="Rockwell Bold"/>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White">
  <a:themeElements>
    <a:clrScheme name="White">
      <a:dk1>
        <a:srgbClr val="000000"/>
      </a:dk1>
      <a:lt1>
        <a:srgbClr val="FFFFFF"/>
      </a:lt1>
      <a:dk2>
        <a:srgbClr val="53585F"/>
      </a:dk2>
      <a:lt2>
        <a:srgbClr val="DCDEE0"/>
      </a:lt2>
      <a:accent1>
        <a:srgbClr val="0365C0"/>
      </a:accent1>
      <a:accent2>
        <a:srgbClr val="00882B"/>
      </a:accent2>
      <a:accent3>
        <a:srgbClr val="DCBD23"/>
      </a:accent3>
      <a:accent4>
        <a:srgbClr val="DE6A10"/>
      </a:accent4>
      <a:accent5>
        <a:srgbClr val="C82506"/>
      </a:accent5>
      <a:accent6>
        <a:srgbClr val="773F9B"/>
      </a:accent6>
      <a:hlink>
        <a:srgbClr val="0000FF"/>
      </a:hlink>
      <a:folHlink>
        <a:srgbClr val="FF00FF"/>
      </a:folHlink>
    </a:clrScheme>
    <a:fontScheme name="White">
      <a:majorFont>
        <a:latin typeface="Rockwell"/>
        <a:ea typeface="Rockwell"/>
        <a:cs typeface="Rockwell"/>
      </a:majorFont>
      <a:minorFont>
        <a:latin typeface="Rockwell"/>
        <a:ea typeface="Rockwell"/>
        <a:cs typeface="Rockwell"/>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outerShdw sx="100000" sy="100000" kx="0" ky="0" algn="b" rotWithShape="0" blurRad="25400" dist="0" dir="0">
              <a:srgbClr val="000000">
                <a:alpha val="50000"/>
              </a:srgbClr>
            </a:outerShdw>
          </a:effectLst>
        </a:effectStyle>
        <a:effectStyle>
          <a:effectLst>
            <a:outerShdw sx="100000" sy="100000" kx="0" ky="0" algn="b" rotWithShape="0" blurRad="25400" dist="12700" dir="5400000">
              <a:srgbClr val="000000">
                <a:alpha val="50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lipFill rotWithShape="1">
          <a:blip r:embed="rId1"/>
          <a:srcRect l="0" t="0" r="0" b="0"/>
          <a:tile tx="0" ty="0" sx="100000" sy="100000" flip="none" algn="tl"/>
        </a:blipFill>
        <a:ln w="12700" cap="flat">
          <a:solidFill>
            <a:srgbClr val="000000"/>
          </a:solidFill>
          <a:prstDash val="solid"/>
          <a:miter lim="400000"/>
        </a:ln>
        <a:effectLst/>
        <a:sp3d/>
      </a:spPr>
      <a:bodyPr rot="0" spcFirstLastPara="1" vertOverflow="overflow" horzOverflow="overflow" vert="horz" wrap="square" lIns="38100" tIns="38100" rIns="38100" bIns="38100" numCol="1" spcCol="38100" rtlCol="0" anchor="ctr" upright="0">
        <a:spAutoFit/>
      </a:bodyPr>
      <a:lstStyle>
        <a:defPPr marL="0" marR="0" indent="0" algn="ctr" defTabSz="584200" rtl="0" fontAlgn="auto" latinLnBrk="0" hangingPunct="0">
          <a:lnSpc>
            <a:spcPct val="100000"/>
          </a:lnSpc>
          <a:spcBef>
            <a:spcPts val="0"/>
          </a:spcBef>
          <a:spcAft>
            <a:spcPts val="0"/>
          </a:spcAft>
          <a:buClrTx/>
          <a:buSzTx/>
          <a:buFontTx/>
          <a:buNone/>
          <a:tabLst/>
          <a:defRPr b="0" baseline="0" cap="none" i="0" spc="0" strike="noStrike" sz="3800" u="none" kumimoji="0" normalizeH="0">
            <a:ln>
              <a:noFill/>
            </a:ln>
            <a:solidFill>
              <a:srgbClr val="FFFFFF"/>
            </a:solidFill>
            <a:effectLst>
              <a:outerShdw sx="100000" sy="100000" kx="0" ky="0" algn="b" rotWithShape="0" blurRad="38100" dist="12700" dir="5400000">
                <a:srgbClr val="000000">
                  <a:alpha val="50000"/>
                </a:srgbClr>
              </a:outerShdw>
            </a:effectLst>
            <a:uFillTx/>
            <a:latin typeface="Times New Roman"/>
            <a:ea typeface="Times New Roman"/>
            <a:cs typeface="Times New Roman"/>
            <a:sym typeface="Times New Roman"/>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3175" cap="flat">
          <a:noFill/>
          <a:miter lim="400000"/>
        </a:ln>
        <a:effectLst/>
        <a:sp3d/>
      </a:spPr>
      <a:bodyPr rot="0" spcFirstLastPara="1" vertOverflow="overflow" horzOverflow="overflow" vert="horz" wrap="square" lIns="38100" tIns="38100" rIns="38100" bIns="38100" numCol="1" spcCol="38100" rtlCol="0" anchor="ctr" upright="0">
        <a:spAutoFit/>
      </a:bodyPr>
      <a:lstStyle>
        <a:defPPr marL="0" marR="0" indent="0" algn="ctr" defTabSz="5842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1E407C"/>
            </a:solidFill>
            <a:effectLst/>
            <a:uFillTx/>
            <a:latin typeface="Rockwell Bold"/>
            <a:ea typeface="Rockwell Bold"/>
            <a:cs typeface="Rockwell Bold"/>
            <a:sym typeface="Rockwell Bold"/>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C92F981803B1A4C96544B4905F624A5" ma:contentTypeVersion="12" ma:contentTypeDescription="Create a new document." ma:contentTypeScope="" ma:versionID="80c54429c1845a16bdf37849ad5aebd8">
  <xsd:schema xmlns:xsd="http://www.w3.org/2001/XMLSchema" xmlns:xs="http://www.w3.org/2001/XMLSchema" xmlns:p="http://schemas.microsoft.com/office/2006/metadata/properties" xmlns:ns2="98c0ccd4-65d7-4eba-ba49-a1ad4d2ac54f" xmlns:ns3="b1c51596-f30e-498a-bd78-1c3673e5420f" targetNamespace="http://schemas.microsoft.com/office/2006/metadata/properties" ma:root="true" ma:fieldsID="f70f8e8c71177ac27f1fa1b1900b6a50" ns2:_="" ns3:_="">
    <xsd:import namespace="98c0ccd4-65d7-4eba-ba49-a1ad4d2ac54f"/>
    <xsd:import namespace="b1c51596-f30e-498a-bd78-1c3673e5420f"/>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8c0ccd4-65d7-4eba-ba49-a1ad4d2ac54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lcf76f155ced4ddcb4097134ff3c332f" ma:index="16" nillable="true" ma:taxonomy="true" ma:internalName="lcf76f155ced4ddcb4097134ff3c332f" ma:taxonomyFieldName="MediaServiceImageTags" ma:displayName="Image Tags" ma:readOnly="false" ma:fieldId="{5cf76f15-5ced-4ddc-b409-7134ff3c332f}" ma:taxonomyMulti="true" ma:sspId="28b28469-8996-4088-bd89-44d87d6385e5" ma:termSetId="09814cd3-568e-fe90-9814-8d621ff8fb84" ma:anchorId="fba54fb3-c3e1-fe81-a776-ca4b69148c4d" ma:open="true" ma:isKeyword="false">
      <xsd:complexType>
        <xsd:sequence>
          <xsd:element ref="pc:Terms" minOccurs="0" maxOccurs="1"/>
        </xsd:sequence>
      </xsd:complexType>
    </xsd:element>
    <xsd:element name="MediaServiceOCR" ma:index="18" nillable="true" ma:displayName="Extracted Text" ma:internalName="MediaServiceOCR" ma:readOnly="true">
      <xsd:simpleType>
        <xsd:restriction base="dms:Note">
          <xsd:maxLength value="255"/>
        </xsd:restriction>
      </xsd:simpleType>
    </xsd:element>
    <xsd:element name="MediaServiceBillingMetadata" ma:index="19"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b1c51596-f30e-498a-bd78-1c3673e5420f" elementFormDefault="qualified">
    <xsd:import namespace="http://schemas.microsoft.com/office/2006/documentManagement/types"/>
    <xsd:import namespace="http://schemas.microsoft.com/office/infopath/2007/PartnerControls"/>
    <xsd:element name="TaxCatchAll" ma:index="17" nillable="true" ma:displayName="Taxonomy Catch All Column" ma:hidden="true" ma:list="{1539ae3e-bb04-4453-acf9-9ff9a62612b2}" ma:internalName="TaxCatchAll" ma:showField="CatchAllData" ma:web="b1c51596-f30e-498a-bd78-1c3673e5420f">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b1c51596-f30e-498a-bd78-1c3673e5420f" xsi:nil="true"/>
    <lcf76f155ced4ddcb4097134ff3c332f xmlns="98c0ccd4-65d7-4eba-ba49-a1ad4d2ac54f">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8CAE68F4-6A11-48B3-8F2A-A294DEE541EF}"/>
</file>

<file path=customXml/itemProps2.xml><?xml version="1.0" encoding="utf-8"?>
<ds:datastoreItem xmlns:ds="http://schemas.openxmlformats.org/officeDocument/2006/customXml" ds:itemID="{5EDCED2E-A7BA-4F5D-B78F-97F7BFBF96B0}"/>
</file>

<file path=customXml/itemProps3.xml><?xml version="1.0" encoding="utf-8"?>
<ds:datastoreItem xmlns:ds="http://schemas.openxmlformats.org/officeDocument/2006/customXml" ds:itemID="{19CE9940-427A-431D-8E9A-045596C60A01}"/>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0x0101007C92F981803B1A4C96544B4905F624A5</vt:lpwstr>
  </property>
</Properties>
</file>