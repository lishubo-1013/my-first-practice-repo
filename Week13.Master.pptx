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6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1E407C"/>
        </a:solidFill>
        <a:effectLst/>
        <a:uFillTx/>
        <a:latin typeface="Rockwell Bold"/>
        <a:ea typeface="Rockwell Bold"/>
        <a:cs typeface="Rockwell Bold"/>
        <a:sym typeface="Rockwell Bold"/>
      </a:defRPr>
    </a:lvl1pPr>
    <a:lvl2pPr marL="0" marR="0" indent="228600" algn="ctr" defTabSz="5842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1E407C"/>
        </a:solidFill>
        <a:effectLst/>
        <a:uFillTx/>
        <a:latin typeface="Rockwell Bold"/>
        <a:ea typeface="Rockwell Bold"/>
        <a:cs typeface="Rockwell Bold"/>
        <a:sym typeface="Rockwell Bold"/>
      </a:defRPr>
    </a:lvl2pPr>
    <a:lvl3pPr marL="0" marR="0" indent="457200" algn="ctr" defTabSz="5842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1E407C"/>
        </a:solidFill>
        <a:effectLst/>
        <a:uFillTx/>
        <a:latin typeface="Rockwell Bold"/>
        <a:ea typeface="Rockwell Bold"/>
        <a:cs typeface="Rockwell Bold"/>
        <a:sym typeface="Rockwell Bold"/>
      </a:defRPr>
    </a:lvl3pPr>
    <a:lvl4pPr marL="0" marR="0" indent="685800" algn="ctr" defTabSz="5842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1E407C"/>
        </a:solidFill>
        <a:effectLst/>
        <a:uFillTx/>
        <a:latin typeface="Rockwell Bold"/>
        <a:ea typeface="Rockwell Bold"/>
        <a:cs typeface="Rockwell Bold"/>
        <a:sym typeface="Rockwell Bold"/>
      </a:defRPr>
    </a:lvl4pPr>
    <a:lvl5pPr marL="0" marR="0" indent="914400" algn="ctr" defTabSz="5842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1E407C"/>
        </a:solidFill>
        <a:effectLst/>
        <a:uFillTx/>
        <a:latin typeface="Rockwell Bold"/>
        <a:ea typeface="Rockwell Bold"/>
        <a:cs typeface="Rockwell Bold"/>
        <a:sym typeface="Rockwell Bold"/>
      </a:defRPr>
    </a:lvl5pPr>
    <a:lvl6pPr marL="0" marR="0" indent="1143000" algn="ctr" defTabSz="5842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1E407C"/>
        </a:solidFill>
        <a:effectLst/>
        <a:uFillTx/>
        <a:latin typeface="Rockwell Bold"/>
        <a:ea typeface="Rockwell Bold"/>
        <a:cs typeface="Rockwell Bold"/>
        <a:sym typeface="Rockwell Bold"/>
      </a:defRPr>
    </a:lvl6pPr>
    <a:lvl7pPr marL="0" marR="0" indent="1371600" algn="ctr" defTabSz="5842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1E407C"/>
        </a:solidFill>
        <a:effectLst/>
        <a:uFillTx/>
        <a:latin typeface="Rockwell Bold"/>
        <a:ea typeface="Rockwell Bold"/>
        <a:cs typeface="Rockwell Bold"/>
        <a:sym typeface="Rockwell Bold"/>
      </a:defRPr>
    </a:lvl7pPr>
    <a:lvl8pPr marL="0" marR="0" indent="1600200" algn="ctr" defTabSz="5842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1E407C"/>
        </a:solidFill>
        <a:effectLst/>
        <a:uFillTx/>
        <a:latin typeface="Rockwell Bold"/>
        <a:ea typeface="Rockwell Bold"/>
        <a:cs typeface="Rockwell Bold"/>
        <a:sym typeface="Rockwell Bold"/>
      </a:defRPr>
    </a:lvl8pPr>
    <a:lvl9pPr marL="0" marR="0" indent="1828800" algn="ctr" defTabSz="5842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1E407C"/>
        </a:solidFill>
        <a:effectLst/>
        <a:uFillTx/>
        <a:latin typeface="Rockwell Bold"/>
        <a:ea typeface="Rockwell Bold"/>
        <a:cs typeface="Rockwell Bold"/>
        <a:sym typeface="Rockwell Bold"/>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
          <a:latin typeface="Times New Roman"/>
          <a:ea typeface="Times New Roman"/>
          <a:cs typeface="Times New Roman"/>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Gill Sans"/>
          <a:ea typeface="Gill Sans"/>
          <a:cs typeface="Gill Sans"/>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ff" i="off">
        <a:font>
          <a:latin typeface="Gill Sans"/>
          <a:ea typeface="Gill Sans"/>
          <a:cs typeface="Gill Sans"/>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Gill Sans"/>
          <a:ea typeface="Gill Sans"/>
          <a:cs typeface="Gill Sans"/>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12700" cap="flat">
              <a:solidFill>
                <a:srgbClr val="606060"/>
              </a:solidFill>
              <a:prstDash val="solid"/>
              <a:miter lim="400000"/>
            </a:ln>
          </a:top>
          <a:bottom>
            <a:ln w="3175" cap="flat">
              <a:solidFill>
                <a:srgbClr val="606060"/>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2"/>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85" d="100"/>
          <a:sy n="85" d="100"/>
        </p:scale>
        <p:origin x="191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4" name="Shape 54"/>
          <p:cNvSpPr>
            <a:spLocks noGrp="1" noRot="1" noChangeAspect="1"/>
          </p:cNvSpPr>
          <p:nvPr>
            <p:ph type="sldImg"/>
          </p:nvPr>
        </p:nvSpPr>
        <p:spPr>
          <a:xfrm>
            <a:off x="1143000" y="685800"/>
            <a:ext cx="4572000" cy="3429000"/>
          </a:xfrm>
          <a:prstGeom prst="rect">
            <a:avLst/>
          </a:prstGeom>
        </p:spPr>
        <p:txBody>
          <a:bodyPr/>
          <a:lstStyle/>
          <a:p>
            <a:endParaRPr/>
          </a:p>
        </p:txBody>
      </p:sp>
      <p:sp>
        <p:nvSpPr>
          <p:cNvPr id="55" name="Shape 5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584200" latinLnBrk="0">
      <a:defRPr sz="2200">
        <a:latin typeface="Lucida Grande"/>
        <a:ea typeface="Lucida Grande"/>
        <a:cs typeface="Lucida Grande"/>
        <a:sym typeface="Lucida Grande"/>
      </a:defRPr>
    </a:lvl1pPr>
    <a:lvl2pPr indent="228600" defTabSz="584200" latinLnBrk="0">
      <a:defRPr sz="2200">
        <a:latin typeface="Lucida Grande"/>
        <a:ea typeface="Lucida Grande"/>
        <a:cs typeface="Lucida Grande"/>
        <a:sym typeface="Lucida Grande"/>
      </a:defRPr>
    </a:lvl2pPr>
    <a:lvl3pPr indent="457200" defTabSz="584200" latinLnBrk="0">
      <a:defRPr sz="2200">
        <a:latin typeface="Lucida Grande"/>
        <a:ea typeface="Lucida Grande"/>
        <a:cs typeface="Lucida Grande"/>
        <a:sym typeface="Lucida Grande"/>
      </a:defRPr>
    </a:lvl3pPr>
    <a:lvl4pPr indent="685800" defTabSz="584200" latinLnBrk="0">
      <a:defRPr sz="2200">
        <a:latin typeface="Lucida Grande"/>
        <a:ea typeface="Lucida Grande"/>
        <a:cs typeface="Lucida Grande"/>
        <a:sym typeface="Lucida Grande"/>
      </a:defRPr>
    </a:lvl4pPr>
    <a:lvl5pPr indent="914400" defTabSz="584200" latinLnBrk="0">
      <a:defRPr sz="2200">
        <a:latin typeface="Lucida Grande"/>
        <a:ea typeface="Lucida Grande"/>
        <a:cs typeface="Lucida Grande"/>
        <a:sym typeface="Lucida Grande"/>
      </a:defRPr>
    </a:lvl5pPr>
    <a:lvl6pPr indent="1143000" defTabSz="584200" latinLnBrk="0">
      <a:defRPr sz="2200">
        <a:latin typeface="Lucida Grande"/>
        <a:ea typeface="Lucida Grande"/>
        <a:cs typeface="Lucida Grande"/>
        <a:sym typeface="Lucida Grande"/>
      </a:defRPr>
    </a:lvl6pPr>
    <a:lvl7pPr indent="1371600" defTabSz="584200" latinLnBrk="0">
      <a:defRPr sz="2200">
        <a:latin typeface="Lucida Grande"/>
        <a:ea typeface="Lucida Grande"/>
        <a:cs typeface="Lucida Grande"/>
        <a:sym typeface="Lucida Grande"/>
      </a:defRPr>
    </a:lvl7pPr>
    <a:lvl8pPr indent="1600200" defTabSz="584200" latinLnBrk="0">
      <a:defRPr sz="2200">
        <a:latin typeface="Lucida Grande"/>
        <a:ea typeface="Lucida Grande"/>
        <a:cs typeface="Lucida Grande"/>
        <a:sym typeface="Lucida Grande"/>
      </a:defRPr>
    </a:lvl8pPr>
    <a:lvl9pPr indent="1828800" defTabSz="584200" latinLnBrk="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hape 112"/>
          <p:cNvSpPr>
            <a:spLocks noGrp="1" noRot="1" noChangeAspect="1"/>
          </p:cNvSpPr>
          <p:nvPr>
            <p:ph type="sldImg"/>
          </p:nvPr>
        </p:nvSpPr>
        <p:spPr>
          <a:prstGeom prst="rect">
            <a:avLst/>
          </a:prstGeom>
        </p:spPr>
        <p:txBody>
          <a:bodyPr/>
          <a:lstStyle/>
          <a:p>
            <a:endParaRPr/>
          </a:p>
        </p:txBody>
      </p:sp>
      <p:sp>
        <p:nvSpPr>
          <p:cNvPr id="113" name="Shape 113"/>
          <p:cNvSpPr>
            <a:spLocks noGrp="1"/>
          </p:cNvSpPr>
          <p:nvPr>
            <p:ph type="body" sz="quarter" idx="1"/>
          </p:nvPr>
        </p:nvSpPr>
        <p:spPr>
          <a:prstGeom prst="rect">
            <a:avLst/>
          </a:prstGeom>
        </p:spPr>
        <p:txBody>
          <a:bodyPr/>
          <a:lstStyle/>
          <a:p>
            <a:r>
              <a:t>Subject only needed: Add a RStudio Project to the repo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prstGeom prst="rect">
            <a:avLst/>
          </a:prstGeom>
        </p:spPr>
        <p:txBody>
          <a:bodyPr/>
          <a:lstStyle/>
          <a:p>
            <a:endParaRPr/>
          </a:p>
        </p:txBody>
      </p:sp>
      <p:sp>
        <p:nvSpPr>
          <p:cNvPr id="120" name="Shape 120"/>
          <p:cNvSpPr>
            <a:spLocks noGrp="1"/>
          </p:cNvSpPr>
          <p:nvPr>
            <p:ph type="body" sz="quarter" idx="1"/>
          </p:nvPr>
        </p:nvSpPr>
        <p:spPr>
          <a:prstGeom prst="rect">
            <a:avLst/>
          </a:prstGeom>
        </p:spPr>
        <p:txBody>
          <a:bodyPr/>
          <a:lstStyle/>
          <a:p>
            <a:r>
              <a:t>Subject and Message Required--Note what is staged (checked)</a:t>
            </a:r>
          </a:p>
          <a:p>
            <a:r>
              <a:t>Subject: Change files related to factorial designs and baking contexts.</a:t>
            </a:r>
          </a:p>
          <a:p>
            <a:r>
              <a:t>Message (limited since they don't know the why): Changes two R scripts to address problems inconsistent formatting and updates a quarto file.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a:spLocks noGrp="1" noRot="1" noChangeAspect="1"/>
          </p:cNvSpPr>
          <p:nvPr>
            <p:ph type="sldImg"/>
          </p:nvPr>
        </p:nvSpPr>
        <p:spPr>
          <a:prstGeom prst="rect">
            <a:avLst/>
          </a:prstGeom>
        </p:spPr>
        <p:txBody>
          <a:bodyPr/>
          <a:lstStyle/>
          <a:p>
            <a:endParaRPr/>
          </a:p>
        </p:txBody>
      </p:sp>
      <p:sp>
        <p:nvSpPr>
          <p:cNvPr id="127" name="Shape 127"/>
          <p:cNvSpPr>
            <a:spLocks noGrp="1"/>
          </p:cNvSpPr>
          <p:nvPr>
            <p:ph type="body" sz="quarter" idx="1"/>
          </p:nvPr>
        </p:nvSpPr>
        <p:spPr>
          <a:prstGeom prst="rect">
            <a:avLst/>
          </a:prstGeom>
        </p:spPr>
        <p:txBody>
          <a:bodyPr/>
          <a:lstStyle/>
          <a:p>
            <a:r>
              <a:t>Subject and Message Required</a:t>
            </a:r>
          </a:p>
          <a:p>
            <a:r>
              <a:t>Subject: Add Example Solutions for Activity 14</a:t>
            </a:r>
          </a:p>
          <a:p>
            <a:r>
              <a:t>Message: Adds the original quarto document that functions as an example solution for Activity 14 as well as the rendered PDF output.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4" name="Title Text"/>
          <p:cNvSpPr txBox="1">
            <a:spLocks noGrp="1"/>
          </p:cNvSpPr>
          <p:nvPr>
            <p:ph type="title"/>
          </p:nvPr>
        </p:nvSpPr>
        <p:spPr>
          <a:prstGeom prst="rect">
            <a:avLst/>
          </a:prstGeom>
        </p:spPr>
        <p:txBody>
          <a:bodyPr/>
          <a:lstStyle/>
          <a:p>
            <a:r>
              <a:t>Title Text</a:t>
            </a:r>
          </a:p>
        </p:txBody>
      </p:sp>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6" name="Body Level One…"/>
          <p:cNvSpPr txBox="1">
            <a:spLocks noGrp="1"/>
          </p:cNvSpPr>
          <p:nvPr>
            <p:ph type="body" sz="quarter"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23" name="Title Text"/>
          <p:cNvSpPr txBox="1">
            <a:spLocks noGrp="1"/>
          </p:cNvSpPr>
          <p:nvPr>
            <p:ph type="title"/>
          </p:nvPr>
        </p:nvSpPr>
        <p:spPr>
          <a:xfrm>
            <a:off x="2578099" y="3448050"/>
            <a:ext cx="7848602" cy="1876426"/>
          </a:xfrm>
          <a:prstGeom prst="rect">
            <a:avLst/>
          </a:prstGeom>
        </p:spPr>
        <p:txBody>
          <a:bodyPr/>
          <a:lstStyle/>
          <a:p>
            <a:r>
              <a:t>Title Text</a:t>
            </a:r>
          </a:p>
        </p:txBody>
      </p:sp>
      <p:sp>
        <p:nvSpPr>
          <p:cNvPr id="24" name="Slide Number"/>
          <p:cNvSpPr txBox="1">
            <a:spLocks noGrp="1"/>
          </p:cNvSpPr>
          <p:nvPr>
            <p:ph type="sldNum" sz="quarter" idx="2"/>
          </p:nvPr>
        </p:nvSpPr>
        <p:spPr>
          <a:xfrm>
            <a:off x="6345956" y="9369954"/>
            <a:ext cx="312888" cy="256506"/>
          </a:xfrm>
          <a:prstGeom prst="rect">
            <a:avLst/>
          </a:prstGeom>
        </p:spPr>
        <p:txBody>
          <a:bodyPr/>
          <a:lstStyle/>
          <a:p>
            <a:fld id="{86CB4B4D-7CA3-9044-876B-883B54F8677D}" type="slidenum">
              <a:t>‹#›</a:t>
            </a:fld>
            <a:endParaRPr/>
          </a:p>
        </p:txBody>
      </p:sp>
      <p:sp>
        <p:nvSpPr>
          <p:cNvPr id="25" name="Discussion 35/Unit 4"/>
          <p:cNvSpPr txBox="1"/>
          <p:nvPr/>
        </p:nvSpPr>
        <p:spPr>
          <a:xfrm>
            <a:off x="153696" y="9369954"/>
            <a:ext cx="2030807" cy="256506"/>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spAutoFit/>
          </a:bodyPr>
          <a:lstStyle/>
          <a:p>
            <a:r>
              <a:t>Discussion 35/Unit 4</a:t>
            </a:r>
          </a:p>
        </p:txBody>
      </p:sp>
      <p:pic>
        <p:nvPicPr>
          <p:cNvPr id="26" name="Penn State Shield logo" descr="Penn State Shield logo"/>
          <p:cNvPicPr>
            <a:picLocks noChangeAspect="1"/>
          </p:cNvPicPr>
          <p:nvPr/>
        </p:nvPicPr>
        <p:blipFill>
          <a:blip r:embed="rId2"/>
          <a:stretch>
            <a:fillRect/>
          </a:stretch>
        </p:blipFill>
        <p:spPr>
          <a:xfrm>
            <a:off x="10327551" y="8811954"/>
            <a:ext cx="2658200" cy="923772"/>
          </a:xfrm>
          <a:prstGeom prst="rect">
            <a:avLst/>
          </a:prstGeom>
          <a:ln w="3175">
            <a:miter lim="400000"/>
          </a:ln>
        </p:spPr>
      </p:pic>
      <p:sp>
        <p:nvSpPr>
          <p:cNvPr id="27" name="© 2026"/>
          <p:cNvSpPr txBox="1"/>
          <p:nvPr/>
        </p:nvSpPr>
        <p:spPr>
          <a:xfrm>
            <a:off x="12208286" y="9369954"/>
            <a:ext cx="746362" cy="256506"/>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p>
            <a:r>
              <a:t>© 2026</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34" name="Title Text"/>
          <p:cNvSpPr txBox="1">
            <a:spLocks noGrp="1"/>
          </p:cNvSpPr>
          <p:nvPr>
            <p:ph type="title"/>
          </p:nvPr>
        </p:nvSpPr>
        <p:spPr>
          <a:xfrm>
            <a:off x="2578099" y="4233"/>
            <a:ext cx="7848602" cy="885826"/>
          </a:xfrm>
          <a:prstGeom prst="rect">
            <a:avLst/>
          </a:prstGeom>
        </p:spPr>
        <p:txBody>
          <a:bodyPr anchor="b"/>
          <a:lstStyle/>
          <a:p>
            <a:r>
              <a:t>Title Text</a:t>
            </a:r>
          </a:p>
        </p:txBody>
      </p:sp>
      <p:sp>
        <p:nvSpPr>
          <p:cNvPr id="35" name="Slide Number"/>
          <p:cNvSpPr txBox="1">
            <a:spLocks noGrp="1"/>
          </p:cNvSpPr>
          <p:nvPr>
            <p:ph type="sldNum" sz="quarter" idx="2"/>
          </p:nvPr>
        </p:nvSpPr>
        <p:spPr>
          <a:xfrm>
            <a:off x="6345956" y="9369954"/>
            <a:ext cx="312888" cy="256506"/>
          </a:xfrm>
          <a:prstGeom prst="rect">
            <a:avLst/>
          </a:prstGeom>
        </p:spPr>
        <p:txBody>
          <a:bodyPr/>
          <a:lstStyle/>
          <a:p>
            <a:fld id="{86CB4B4D-7CA3-9044-876B-883B54F8677D}" type="slidenum">
              <a:t>‹#›</a:t>
            </a:fld>
            <a:endParaRPr/>
          </a:p>
        </p:txBody>
      </p:sp>
      <p:sp>
        <p:nvSpPr>
          <p:cNvPr id="36" name="Discussion 35/Unit 4"/>
          <p:cNvSpPr txBox="1"/>
          <p:nvPr/>
        </p:nvSpPr>
        <p:spPr>
          <a:xfrm>
            <a:off x="153696" y="9369954"/>
            <a:ext cx="2030807" cy="256506"/>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spAutoFit/>
          </a:bodyPr>
          <a:lstStyle/>
          <a:p>
            <a:r>
              <a:t>Discussion 35/Unit 4</a:t>
            </a:r>
          </a:p>
        </p:txBody>
      </p:sp>
      <p:pic>
        <p:nvPicPr>
          <p:cNvPr id="37" name="Penn State Shield logo" descr="Penn State Shield logo"/>
          <p:cNvPicPr>
            <a:picLocks noChangeAspect="1"/>
          </p:cNvPicPr>
          <p:nvPr/>
        </p:nvPicPr>
        <p:blipFill>
          <a:blip r:embed="rId2"/>
          <a:stretch>
            <a:fillRect/>
          </a:stretch>
        </p:blipFill>
        <p:spPr>
          <a:xfrm>
            <a:off x="10327551" y="8811954"/>
            <a:ext cx="2658200" cy="923772"/>
          </a:xfrm>
          <a:prstGeom prst="rect">
            <a:avLst/>
          </a:prstGeom>
          <a:ln w="3175">
            <a:miter lim="400000"/>
          </a:ln>
        </p:spPr>
      </p:pic>
      <p:sp>
        <p:nvSpPr>
          <p:cNvPr id="38" name="© 2026"/>
          <p:cNvSpPr txBox="1"/>
          <p:nvPr/>
        </p:nvSpPr>
        <p:spPr>
          <a:xfrm>
            <a:off x="12208286" y="9369954"/>
            <a:ext cx="746362" cy="256506"/>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p>
            <a:r>
              <a:t>© 2026</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45" name="Slide Number"/>
          <p:cNvSpPr txBox="1">
            <a:spLocks noGrp="1"/>
          </p:cNvSpPr>
          <p:nvPr>
            <p:ph type="sldNum" sz="quarter" idx="2"/>
          </p:nvPr>
        </p:nvSpPr>
        <p:spPr>
          <a:xfrm>
            <a:off x="6345956" y="9369954"/>
            <a:ext cx="312888" cy="256506"/>
          </a:xfrm>
          <a:prstGeom prst="rect">
            <a:avLst/>
          </a:prstGeom>
        </p:spPr>
        <p:txBody>
          <a:bodyPr/>
          <a:lstStyle/>
          <a:p>
            <a:fld id="{86CB4B4D-7CA3-9044-876B-883B54F8677D}" type="slidenum">
              <a:t>‹#›</a:t>
            </a:fld>
            <a:endParaRPr/>
          </a:p>
        </p:txBody>
      </p:sp>
      <p:sp>
        <p:nvSpPr>
          <p:cNvPr id="46" name="Discussion 35/Unit 4"/>
          <p:cNvSpPr txBox="1"/>
          <p:nvPr/>
        </p:nvSpPr>
        <p:spPr>
          <a:xfrm>
            <a:off x="153696" y="9369954"/>
            <a:ext cx="2030807" cy="256506"/>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spAutoFit/>
          </a:bodyPr>
          <a:lstStyle/>
          <a:p>
            <a:r>
              <a:t>Discussion 35/Unit 4</a:t>
            </a:r>
          </a:p>
        </p:txBody>
      </p:sp>
      <p:pic>
        <p:nvPicPr>
          <p:cNvPr id="47" name="Penn State Shield logo" descr="Penn State Shield logo"/>
          <p:cNvPicPr>
            <a:picLocks noChangeAspect="1"/>
          </p:cNvPicPr>
          <p:nvPr/>
        </p:nvPicPr>
        <p:blipFill>
          <a:blip r:embed="rId2"/>
          <a:stretch>
            <a:fillRect/>
          </a:stretch>
        </p:blipFill>
        <p:spPr>
          <a:xfrm>
            <a:off x="10327551" y="8811954"/>
            <a:ext cx="2658200" cy="923772"/>
          </a:xfrm>
          <a:prstGeom prst="rect">
            <a:avLst/>
          </a:prstGeom>
          <a:ln w="3175">
            <a:miter lim="400000"/>
          </a:ln>
        </p:spPr>
      </p:pic>
      <p:sp>
        <p:nvSpPr>
          <p:cNvPr id="48" name="© 2026"/>
          <p:cNvSpPr txBox="1"/>
          <p:nvPr/>
        </p:nvSpPr>
        <p:spPr>
          <a:xfrm>
            <a:off x="12208286" y="9369954"/>
            <a:ext cx="746362" cy="256506"/>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p>
            <a:r>
              <a:t>© 2026</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578099" y="2447924"/>
            <a:ext cx="7848602" cy="24765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normAutofit/>
          </a:bodyPr>
          <a:lstStyle/>
          <a:p>
            <a:r>
              <a:t>Title Text</a:t>
            </a:r>
          </a:p>
        </p:txBody>
      </p:sp>
      <p:sp>
        <p:nvSpPr>
          <p:cNvPr id="3" name="Slide Number"/>
          <p:cNvSpPr txBox="1">
            <a:spLocks noGrp="1"/>
          </p:cNvSpPr>
          <p:nvPr>
            <p:ph type="sldNum" sz="quarter" idx="2"/>
          </p:nvPr>
        </p:nvSpPr>
        <p:spPr>
          <a:xfrm>
            <a:off x="6345956" y="9369954"/>
            <a:ext cx="312888" cy="256506"/>
          </a:xfrm>
          <a:prstGeom prst="rect">
            <a:avLst/>
          </a:prstGeom>
          <a:ln w="3175">
            <a:miter lim="400000"/>
          </a:ln>
        </p:spPr>
        <p:txBody>
          <a:bodyPr wrap="none" lIns="38100" tIns="38100" rIns="38100" bIns="38100">
            <a:normAutofit/>
          </a:bodyPr>
          <a:lstStyle/>
          <a:p>
            <a:fld id="{86CB4B4D-7CA3-9044-876B-883B54F8677D}" type="slidenum">
              <a:t>‹#›</a:t>
            </a:fld>
            <a:endParaRPr/>
          </a:p>
        </p:txBody>
      </p:sp>
      <p:sp>
        <p:nvSpPr>
          <p:cNvPr id="4" name="Body Level One…"/>
          <p:cNvSpPr txBox="1">
            <a:spLocks noGrp="1"/>
          </p:cNvSpPr>
          <p:nvPr>
            <p:ph type="body" idx="1"/>
          </p:nvPr>
        </p:nvSpPr>
        <p:spPr>
          <a:xfrm>
            <a:off x="2578099" y="5410200"/>
            <a:ext cx="7848602" cy="847725"/>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ormAutofit/>
          </a:bodyPr>
          <a:lstStyle/>
          <a:p>
            <a:r>
              <a:t>Body Level One</a:t>
            </a:r>
          </a:p>
          <a:p>
            <a:pPr lvl="1"/>
            <a:r>
              <a:t>Body Level Two</a:t>
            </a:r>
          </a:p>
          <a:p>
            <a:pPr lvl="2"/>
            <a:r>
              <a:t>Body Level Three</a:t>
            </a:r>
          </a:p>
          <a:p>
            <a:pPr lvl="3"/>
            <a:r>
              <a:t>Body Level Four</a:t>
            </a:r>
          </a:p>
          <a:p>
            <a:pPr lvl="4"/>
            <a:r>
              <a:t>Body Level Five</a:t>
            </a:r>
          </a:p>
        </p:txBody>
      </p:sp>
      <p:pic>
        <p:nvPicPr>
          <p:cNvPr id="5" name="Penn State Shield logo" descr="Penn State Shield logo"/>
          <p:cNvPicPr>
            <a:picLocks noChangeAspect="1"/>
          </p:cNvPicPr>
          <p:nvPr/>
        </p:nvPicPr>
        <p:blipFill>
          <a:blip r:embed="rId6"/>
          <a:stretch>
            <a:fillRect/>
          </a:stretch>
        </p:blipFill>
        <p:spPr>
          <a:xfrm>
            <a:off x="10327551" y="8811954"/>
            <a:ext cx="2658200" cy="923772"/>
          </a:xfrm>
          <a:prstGeom prst="rect">
            <a:avLst/>
          </a:prstGeom>
          <a:ln w="3175">
            <a:miter lim="400000"/>
          </a:ln>
        </p:spPr>
      </p:pic>
      <p:sp>
        <p:nvSpPr>
          <p:cNvPr id="6" name="© 2026"/>
          <p:cNvSpPr txBox="1"/>
          <p:nvPr/>
        </p:nvSpPr>
        <p:spPr>
          <a:xfrm>
            <a:off x="12208286" y="9369954"/>
            <a:ext cx="746362" cy="256506"/>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p>
            <a:r>
              <a:t>© 2026</a:t>
            </a:r>
          </a:p>
        </p:txBody>
      </p:sp>
      <p:sp>
        <p:nvSpPr>
          <p:cNvPr id="7" name="Discussion 35/Unit 4"/>
          <p:cNvSpPr txBox="1"/>
          <p:nvPr/>
        </p:nvSpPr>
        <p:spPr>
          <a:xfrm>
            <a:off x="153696" y="9369954"/>
            <a:ext cx="2030807" cy="256506"/>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spAutoFit/>
          </a:bodyPr>
          <a:lstStyle/>
          <a:p>
            <a:r>
              <a:t>Discussion 35/Unit 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med"/>
  <p:txStyles>
    <p:titleStyle>
      <a:lvl1pPr marL="0" marR="0" indent="0" algn="ctr" defTabSz="584200" latinLnBrk="0">
        <a:lnSpc>
          <a:spcPct val="100000"/>
        </a:lnSpc>
        <a:spcBef>
          <a:spcPts val="0"/>
        </a:spcBef>
        <a:spcAft>
          <a:spcPts val="0"/>
        </a:spcAft>
        <a:buClrTx/>
        <a:buSzTx/>
        <a:buFontTx/>
        <a:buNone/>
        <a:tabLst/>
        <a:defRPr sz="4600" b="0" i="0" u="none" strike="noStrike" cap="none" spc="0" baseline="0">
          <a:solidFill>
            <a:srgbClr val="1E407C"/>
          </a:solidFill>
          <a:uFillTx/>
          <a:latin typeface="+mn-lt"/>
          <a:ea typeface="+mn-ea"/>
          <a:cs typeface="+mn-cs"/>
          <a:sym typeface="Rockwell"/>
        </a:defRPr>
      </a:lvl1pPr>
      <a:lvl2pPr marL="0" marR="0" indent="228600" algn="ctr" defTabSz="584200" latinLnBrk="0">
        <a:lnSpc>
          <a:spcPct val="100000"/>
        </a:lnSpc>
        <a:spcBef>
          <a:spcPts val="0"/>
        </a:spcBef>
        <a:spcAft>
          <a:spcPts val="0"/>
        </a:spcAft>
        <a:buClrTx/>
        <a:buSzTx/>
        <a:buFontTx/>
        <a:buNone/>
        <a:tabLst/>
        <a:defRPr sz="4600" b="0" i="0" u="none" strike="noStrike" cap="none" spc="0" baseline="0">
          <a:solidFill>
            <a:srgbClr val="1E407C"/>
          </a:solidFill>
          <a:uFillTx/>
          <a:latin typeface="+mn-lt"/>
          <a:ea typeface="+mn-ea"/>
          <a:cs typeface="+mn-cs"/>
          <a:sym typeface="Rockwell"/>
        </a:defRPr>
      </a:lvl2pPr>
      <a:lvl3pPr marL="0" marR="0" indent="457200" algn="ctr" defTabSz="584200" latinLnBrk="0">
        <a:lnSpc>
          <a:spcPct val="100000"/>
        </a:lnSpc>
        <a:spcBef>
          <a:spcPts val="0"/>
        </a:spcBef>
        <a:spcAft>
          <a:spcPts val="0"/>
        </a:spcAft>
        <a:buClrTx/>
        <a:buSzTx/>
        <a:buFontTx/>
        <a:buNone/>
        <a:tabLst/>
        <a:defRPr sz="4600" b="0" i="0" u="none" strike="noStrike" cap="none" spc="0" baseline="0">
          <a:solidFill>
            <a:srgbClr val="1E407C"/>
          </a:solidFill>
          <a:uFillTx/>
          <a:latin typeface="+mn-lt"/>
          <a:ea typeface="+mn-ea"/>
          <a:cs typeface="+mn-cs"/>
          <a:sym typeface="Rockwell"/>
        </a:defRPr>
      </a:lvl3pPr>
      <a:lvl4pPr marL="0" marR="0" indent="685800" algn="ctr" defTabSz="584200" latinLnBrk="0">
        <a:lnSpc>
          <a:spcPct val="100000"/>
        </a:lnSpc>
        <a:spcBef>
          <a:spcPts val="0"/>
        </a:spcBef>
        <a:spcAft>
          <a:spcPts val="0"/>
        </a:spcAft>
        <a:buClrTx/>
        <a:buSzTx/>
        <a:buFontTx/>
        <a:buNone/>
        <a:tabLst/>
        <a:defRPr sz="4600" b="0" i="0" u="none" strike="noStrike" cap="none" spc="0" baseline="0">
          <a:solidFill>
            <a:srgbClr val="1E407C"/>
          </a:solidFill>
          <a:uFillTx/>
          <a:latin typeface="+mn-lt"/>
          <a:ea typeface="+mn-ea"/>
          <a:cs typeface="+mn-cs"/>
          <a:sym typeface="Rockwell"/>
        </a:defRPr>
      </a:lvl4pPr>
      <a:lvl5pPr marL="0" marR="0" indent="914400" algn="ctr" defTabSz="584200" latinLnBrk="0">
        <a:lnSpc>
          <a:spcPct val="100000"/>
        </a:lnSpc>
        <a:spcBef>
          <a:spcPts val="0"/>
        </a:spcBef>
        <a:spcAft>
          <a:spcPts val="0"/>
        </a:spcAft>
        <a:buClrTx/>
        <a:buSzTx/>
        <a:buFontTx/>
        <a:buNone/>
        <a:tabLst/>
        <a:defRPr sz="4600" b="0" i="0" u="none" strike="noStrike" cap="none" spc="0" baseline="0">
          <a:solidFill>
            <a:srgbClr val="1E407C"/>
          </a:solidFill>
          <a:uFillTx/>
          <a:latin typeface="+mn-lt"/>
          <a:ea typeface="+mn-ea"/>
          <a:cs typeface="+mn-cs"/>
          <a:sym typeface="Rockwell"/>
        </a:defRPr>
      </a:lvl5pPr>
      <a:lvl6pPr marL="0" marR="0" indent="1143000" algn="ctr" defTabSz="584200" latinLnBrk="0">
        <a:lnSpc>
          <a:spcPct val="100000"/>
        </a:lnSpc>
        <a:spcBef>
          <a:spcPts val="0"/>
        </a:spcBef>
        <a:spcAft>
          <a:spcPts val="0"/>
        </a:spcAft>
        <a:buClrTx/>
        <a:buSzTx/>
        <a:buFontTx/>
        <a:buNone/>
        <a:tabLst/>
        <a:defRPr sz="4600" b="0" i="0" u="none" strike="noStrike" cap="none" spc="0" baseline="0">
          <a:solidFill>
            <a:srgbClr val="1E407C"/>
          </a:solidFill>
          <a:uFillTx/>
          <a:latin typeface="+mn-lt"/>
          <a:ea typeface="+mn-ea"/>
          <a:cs typeface="+mn-cs"/>
          <a:sym typeface="Rockwell"/>
        </a:defRPr>
      </a:lvl6pPr>
      <a:lvl7pPr marL="0" marR="0" indent="1371600" algn="ctr" defTabSz="584200" latinLnBrk="0">
        <a:lnSpc>
          <a:spcPct val="100000"/>
        </a:lnSpc>
        <a:spcBef>
          <a:spcPts val="0"/>
        </a:spcBef>
        <a:spcAft>
          <a:spcPts val="0"/>
        </a:spcAft>
        <a:buClrTx/>
        <a:buSzTx/>
        <a:buFontTx/>
        <a:buNone/>
        <a:tabLst/>
        <a:defRPr sz="4600" b="0" i="0" u="none" strike="noStrike" cap="none" spc="0" baseline="0">
          <a:solidFill>
            <a:srgbClr val="1E407C"/>
          </a:solidFill>
          <a:uFillTx/>
          <a:latin typeface="+mn-lt"/>
          <a:ea typeface="+mn-ea"/>
          <a:cs typeface="+mn-cs"/>
          <a:sym typeface="Rockwell"/>
        </a:defRPr>
      </a:lvl7pPr>
      <a:lvl8pPr marL="0" marR="0" indent="1600200" algn="ctr" defTabSz="584200" latinLnBrk="0">
        <a:lnSpc>
          <a:spcPct val="100000"/>
        </a:lnSpc>
        <a:spcBef>
          <a:spcPts val="0"/>
        </a:spcBef>
        <a:spcAft>
          <a:spcPts val="0"/>
        </a:spcAft>
        <a:buClrTx/>
        <a:buSzTx/>
        <a:buFontTx/>
        <a:buNone/>
        <a:tabLst/>
        <a:defRPr sz="4600" b="0" i="0" u="none" strike="noStrike" cap="none" spc="0" baseline="0">
          <a:solidFill>
            <a:srgbClr val="1E407C"/>
          </a:solidFill>
          <a:uFillTx/>
          <a:latin typeface="+mn-lt"/>
          <a:ea typeface="+mn-ea"/>
          <a:cs typeface="+mn-cs"/>
          <a:sym typeface="Rockwell"/>
        </a:defRPr>
      </a:lvl8pPr>
      <a:lvl9pPr marL="0" marR="0" indent="1828800" algn="ctr" defTabSz="584200" latinLnBrk="0">
        <a:lnSpc>
          <a:spcPct val="100000"/>
        </a:lnSpc>
        <a:spcBef>
          <a:spcPts val="0"/>
        </a:spcBef>
        <a:spcAft>
          <a:spcPts val="0"/>
        </a:spcAft>
        <a:buClrTx/>
        <a:buSzTx/>
        <a:buFontTx/>
        <a:buNone/>
        <a:tabLst/>
        <a:defRPr sz="4600" b="0" i="0" u="none" strike="noStrike" cap="none" spc="0" baseline="0">
          <a:solidFill>
            <a:srgbClr val="1E407C"/>
          </a:solidFill>
          <a:uFillTx/>
          <a:latin typeface="+mn-lt"/>
          <a:ea typeface="+mn-ea"/>
          <a:cs typeface="+mn-cs"/>
          <a:sym typeface="Rockwell"/>
        </a:defRPr>
      </a:lvl9pPr>
    </p:titleStyle>
    <p:bodyStyle>
      <a:lvl1pPr marL="0" marR="0" indent="0" algn="ctr" defTabSz="584200" rtl="0" latinLnBrk="0">
        <a:lnSpc>
          <a:spcPct val="10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Rockwell"/>
        </a:defRPr>
      </a:lvl1pPr>
      <a:lvl2pPr marL="0" marR="0" indent="0" algn="ctr" defTabSz="584200" rtl="0" latinLnBrk="0">
        <a:lnSpc>
          <a:spcPct val="10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Rockwell"/>
        </a:defRPr>
      </a:lvl2pPr>
      <a:lvl3pPr marL="0" marR="0" indent="0" algn="ctr" defTabSz="584200" rtl="0" latinLnBrk="0">
        <a:lnSpc>
          <a:spcPct val="10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Rockwell"/>
        </a:defRPr>
      </a:lvl3pPr>
      <a:lvl4pPr marL="0" marR="0" indent="0" algn="ctr" defTabSz="584200" rtl="0" latinLnBrk="0">
        <a:lnSpc>
          <a:spcPct val="10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Rockwell"/>
        </a:defRPr>
      </a:lvl4pPr>
      <a:lvl5pPr marL="0" marR="0" indent="0" algn="ctr" defTabSz="584200" rtl="0" latinLnBrk="0">
        <a:lnSpc>
          <a:spcPct val="10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Rockwell"/>
        </a:defRPr>
      </a:lvl5pPr>
      <a:lvl6pPr marL="0" marR="0" indent="355600" algn="ctr" defTabSz="584200" rtl="0" latinLnBrk="0">
        <a:lnSpc>
          <a:spcPct val="10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Rockwell"/>
        </a:defRPr>
      </a:lvl6pPr>
      <a:lvl7pPr marL="0" marR="0" indent="711200" algn="ctr" defTabSz="584200" rtl="0" latinLnBrk="0">
        <a:lnSpc>
          <a:spcPct val="10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Rockwell"/>
        </a:defRPr>
      </a:lvl7pPr>
      <a:lvl8pPr marL="0" marR="0" indent="1066800" algn="ctr" defTabSz="584200" rtl="0" latinLnBrk="0">
        <a:lnSpc>
          <a:spcPct val="10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Rockwell"/>
        </a:defRPr>
      </a:lvl8pPr>
      <a:lvl9pPr marL="0" marR="0" indent="1422400" algn="ctr" defTabSz="584200" rtl="0" latinLnBrk="0">
        <a:lnSpc>
          <a:spcPct val="100000"/>
        </a:lnSpc>
        <a:spcBef>
          <a:spcPts val="0"/>
        </a:spcBef>
        <a:spcAft>
          <a:spcPts val="0"/>
        </a:spcAft>
        <a:buClrTx/>
        <a:buSzTx/>
        <a:buFontTx/>
        <a:buNone/>
        <a:tabLst/>
        <a:defRPr sz="3200" b="0" i="0" u="none" strike="noStrike" cap="none" spc="0" baseline="0">
          <a:solidFill>
            <a:srgbClr val="000000"/>
          </a:solidFill>
          <a:uFillTx/>
          <a:latin typeface="+mn-lt"/>
          <a:ea typeface="+mn-ea"/>
          <a:cs typeface="+mn-cs"/>
          <a:sym typeface="Rockwell"/>
        </a:defRPr>
      </a:lvl9pPr>
    </p:bodyStyle>
    <p:otherStyle>
      <a:lvl1pPr marL="0" marR="0" indent="0" algn="ctr" defTabSz="5842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Rockwell Bold"/>
        </a:defRPr>
      </a:lvl1pPr>
      <a:lvl2pPr marL="0" marR="0" indent="228600" algn="ctr" defTabSz="5842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Rockwell Bold"/>
        </a:defRPr>
      </a:lvl2pPr>
      <a:lvl3pPr marL="0" marR="0" indent="457200" algn="ctr" defTabSz="5842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Rockwell Bold"/>
        </a:defRPr>
      </a:lvl3pPr>
      <a:lvl4pPr marL="0" marR="0" indent="685800" algn="ctr" defTabSz="5842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Rockwell Bold"/>
        </a:defRPr>
      </a:lvl4pPr>
      <a:lvl5pPr marL="0" marR="0" indent="914400" algn="ctr" defTabSz="5842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Rockwell Bold"/>
        </a:defRPr>
      </a:lvl5pPr>
      <a:lvl6pPr marL="0" marR="0" indent="1143000" algn="ctr" defTabSz="5842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Rockwell Bold"/>
        </a:defRPr>
      </a:lvl6pPr>
      <a:lvl7pPr marL="0" marR="0" indent="1371600" algn="ctr" defTabSz="5842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Rockwell Bold"/>
        </a:defRPr>
      </a:lvl7pPr>
      <a:lvl8pPr marL="0" marR="0" indent="1600200" algn="ctr" defTabSz="5842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Rockwell Bold"/>
        </a:defRPr>
      </a:lvl8pPr>
      <a:lvl9pPr marL="0" marR="0" indent="1828800" algn="ctr" defTabSz="5842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Rockwell Bold"/>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hyperlink" Target="https://credit.niso.org/" TargetMode="Externa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Plan for the Day"/>
          <p:cNvSpPr txBox="1">
            <a:spLocks noGrp="1"/>
          </p:cNvSpPr>
          <p:nvPr>
            <p:ph type="title"/>
          </p:nvPr>
        </p:nvSpPr>
        <p:spPr>
          <a:prstGeom prst="rect">
            <a:avLst/>
          </a:prstGeom>
        </p:spPr>
        <p:txBody>
          <a:bodyPr/>
          <a:lstStyle/>
          <a:p>
            <a:r>
              <a:t>Plan for the Day</a:t>
            </a:r>
          </a:p>
        </p:txBody>
      </p:sp>
      <p:sp>
        <p:nvSpPr>
          <p:cNvPr id="58" name="Slide Number"/>
          <p:cNvSpPr txBox="1">
            <a:spLocks noGrp="1"/>
          </p:cNvSpPr>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59" name="Goals"/>
          <p:cNvSpPr txBox="1"/>
          <p:nvPr/>
        </p:nvSpPr>
        <p:spPr>
          <a:xfrm>
            <a:off x="101599" y="698500"/>
            <a:ext cx="1068389"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r>
              <a:t>Goals</a:t>
            </a:r>
          </a:p>
        </p:txBody>
      </p:sp>
      <p:sp>
        <p:nvSpPr>
          <p:cNvPr id="60" name="Students will develop ways of thinking that make use of R's computing power to solve problems. (CT.1)…"/>
          <p:cNvSpPr txBox="1"/>
          <p:nvPr/>
        </p:nvSpPr>
        <p:spPr>
          <a:xfrm>
            <a:off x="220265" y="1225034"/>
            <a:ext cx="12564270" cy="2667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ways of thinking that make use of R's computing power to solve problems. (CT.1)</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skills in programming with statistical software. (Prog.4, Prog.5, Prog.6)</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skills in creating reproducible code and data analyses. (Repro.1, Repro.2, Repro.4)</a:t>
            </a:r>
          </a:p>
        </p:txBody>
      </p:sp>
      <p:sp>
        <p:nvSpPr>
          <p:cNvPr id="61" name="Needs: signal cups, notes, GitHub Desktop, your practice repo"/>
          <p:cNvSpPr txBox="1"/>
          <p:nvPr/>
        </p:nvSpPr>
        <p:spPr>
          <a:xfrm>
            <a:off x="106891" y="4610100"/>
            <a:ext cx="10734875"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p>
            <a:pPr algn="l">
              <a:defRPr sz="3200">
                <a:solidFill>
                  <a:srgbClr val="008900"/>
                </a:solidFill>
                <a:latin typeface="Franklin Gothic Medium"/>
                <a:ea typeface="Franklin Gothic Medium"/>
                <a:cs typeface="Franklin Gothic Medium"/>
                <a:sym typeface="Franklin Gothic Medium"/>
              </a:defRPr>
            </a:pPr>
            <a:r>
              <a:t>Needs: </a:t>
            </a:r>
            <a:r>
              <a:rPr>
                <a:solidFill>
                  <a:srgbClr val="000004"/>
                </a:solidFill>
              </a:rPr>
              <a:t>signal cups, notes, GitHub Desktop, your practice repo</a:t>
            </a:r>
          </a:p>
        </p:txBody>
      </p:sp>
      <p:sp>
        <p:nvSpPr>
          <p:cNvPr id="62" name="Steps"/>
          <p:cNvSpPr txBox="1"/>
          <p:nvPr/>
        </p:nvSpPr>
        <p:spPr>
          <a:xfrm>
            <a:off x="105171" y="5861566"/>
            <a:ext cx="1061245"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r>
              <a:t>Steps</a:t>
            </a:r>
          </a:p>
        </p:txBody>
      </p:sp>
      <p:sp>
        <p:nvSpPr>
          <p:cNvPr id="63" name="Git Branches…"/>
          <p:cNvSpPr txBox="1"/>
          <p:nvPr/>
        </p:nvSpPr>
        <p:spPr>
          <a:xfrm>
            <a:off x="205637" y="6304227"/>
            <a:ext cx="8883274" cy="1905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08000" indent="-508000" algn="l">
              <a:buSzPct val="100000"/>
              <a:buAutoNum type="arabicPeriod"/>
              <a:defRPr sz="3200">
                <a:solidFill>
                  <a:srgbClr val="000004"/>
                </a:solidFill>
                <a:latin typeface="Franklin Gothic Medium"/>
                <a:ea typeface="Franklin Gothic Medium"/>
                <a:cs typeface="Franklin Gothic Medium"/>
                <a:sym typeface="Franklin Gothic Medium"/>
              </a:defRPr>
            </a:pPr>
            <a:r>
              <a:t>Git Branches</a:t>
            </a:r>
          </a:p>
          <a:p>
            <a:pPr marL="508000" indent="-508000" algn="l">
              <a:buSzPct val="100000"/>
              <a:buAutoNum type="arabicPeriod"/>
              <a:defRPr sz="3200">
                <a:solidFill>
                  <a:srgbClr val="000004"/>
                </a:solidFill>
                <a:latin typeface="Franklin Gothic Medium"/>
                <a:ea typeface="Franklin Gothic Medium"/>
                <a:cs typeface="Franklin Gothic Medium"/>
                <a:sym typeface="Franklin Gothic Medium"/>
              </a:defRPr>
            </a:pPr>
            <a:r>
              <a:t>Meaningful Commit Messages</a:t>
            </a:r>
          </a:p>
          <a:p>
            <a:pPr marL="508000" indent="-508000" algn="l">
              <a:buSzPct val="100000"/>
              <a:buAutoNum type="arabicPeriod"/>
              <a:defRPr sz="3200">
                <a:solidFill>
                  <a:srgbClr val="000004"/>
                </a:solidFill>
                <a:latin typeface="Franklin Gothic Medium"/>
                <a:ea typeface="Franklin Gothic Medium"/>
                <a:cs typeface="Franklin Gothic Medium"/>
                <a:sym typeface="Franklin Gothic Medium"/>
              </a:defRPr>
            </a:pPr>
            <a:r>
              <a:t>Pull Requests</a:t>
            </a:r>
          </a:p>
          <a:p>
            <a:pPr marL="508000" indent="-508000" algn="l">
              <a:buSzPct val="100000"/>
              <a:buAutoNum type="arabicPeriod"/>
              <a:defRPr sz="3200">
                <a:solidFill>
                  <a:srgbClr val="000004"/>
                </a:solidFill>
                <a:latin typeface="Franklin Gothic Medium"/>
                <a:ea typeface="Franklin Gothic Medium"/>
                <a:cs typeface="Franklin Gothic Medium"/>
                <a:sym typeface="Franklin Gothic Medium"/>
              </a:defRPr>
            </a:pPr>
            <a:r>
              <a:t>Suggested GitHub Work Flows</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a:t>
            </a:fld>
            <a:endParaRPr/>
          </a:p>
        </p:txBody>
      </p:sp>
      <p:sp>
        <p:nvSpPr>
          <p:cNvPr id="66" name="More with GitHub"/>
          <p:cNvSpPr txBox="1">
            <a:spLocks noGrp="1"/>
          </p:cNvSpPr>
          <p:nvPr>
            <p:ph type="title"/>
          </p:nvPr>
        </p:nvSpPr>
        <p:spPr>
          <a:prstGeom prst="rect">
            <a:avLst/>
          </a:prstGeom>
        </p:spPr>
        <p:txBody>
          <a:bodyPr/>
          <a:lstStyle/>
          <a:p>
            <a:r>
              <a:t>More with GitHub</a:t>
            </a:r>
          </a:p>
        </p:txBody>
      </p:sp>
      <p:sp>
        <p:nvSpPr>
          <p:cNvPr id="67" name="In our last class, we started working with Git by creating a repo (from a template) and cloning it to our local machines."/>
          <p:cNvSpPr txBox="1"/>
          <p:nvPr/>
        </p:nvSpPr>
        <p:spPr>
          <a:xfrm>
            <a:off x="229029" y="977900"/>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In our last class, we started working with Git by creating a repo (from a template) and cloning it to our local machines.</a:t>
            </a:r>
          </a:p>
        </p:txBody>
      </p:sp>
      <p:sp>
        <p:nvSpPr>
          <p:cNvPr id="68" name="We could then make changes, commit them, and push them back to the repo on the GitHub server."/>
          <p:cNvSpPr txBox="1"/>
          <p:nvPr/>
        </p:nvSpPr>
        <p:spPr>
          <a:xfrm>
            <a:off x="229029" y="2222500"/>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We could then make changes, commit them, and push them back to the repo on the GitHub server.</a:t>
            </a:r>
          </a:p>
        </p:txBody>
      </p:sp>
      <p:sp>
        <p:nvSpPr>
          <p:cNvPr id="69" name="We're going to cover a couple more key elements of working with GitHub that are important for helping us fully capitalize on this technology."/>
          <p:cNvSpPr txBox="1"/>
          <p:nvPr/>
        </p:nvSpPr>
        <p:spPr>
          <a:xfrm>
            <a:off x="229029" y="3763433"/>
            <a:ext cx="12546742"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We're going to cover a couple more key elements of working with GitHub that are important for helping us fully capitalize on this technology.</a:t>
            </a:r>
          </a:p>
        </p:txBody>
      </p:sp>
      <p:sp>
        <p:nvSpPr>
          <p:cNvPr id="70" name="Writing Commit Messages"/>
          <p:cNvSpPr txBox="1"/>
          <p:nvPr/>
        </p:nvSpPr>
        <p:spPr>
          <a:xfrm>
            <a:off x="229029" y="5844713"/>
            <a:ext cx="12546742"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r>
              <a:t>Writing Commit Messages</a:t>
            </a:r>
          </a:p>
        </p:txBody>
      </p:sp>
      <p:sp>
        <p:nvSpPr>
          <p:cNvPr id="71" name="Branches and Work Flows"/>
          <p:cNvSpPr txBox="1"/>
          <p:nvPr/>
        </p:nvSpPr>
        <p:spPr>
          <a:xfrm>
            <a:off x="229029" y="6744893"/>
            <a:ext cx="12546742"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1D2FEB"/>
                </a:solidFill>
                <a:latin typeface="Franklin Gothic Medium"/>
                <a:ea typeface="Franklin Gothic Medium"/>
                <a:cs typeface="Franklin Gothic Medium"/>
                <a:sym typeface="Franklin Gothic Medium"/>
              </a:defRPr>
            </a:lvl1pPr>
          </a:lstStyle>
          <a:p>
            <a:r>
              <a:t>Branches and Work Flows</a:t>
            </a:r>
          </a:p>
        </p:txBody>
      </p:sp>
      <p:sp>
        <p:nvSpPr>
          <p:cNvPr id="72" name="Bringing Branches Together (Pull Requests)"/>
          <p:cNvSpPr txBox="1"/>
          <p:nvPr/>
        </p:nvSpPr>
        <p:spPr>
          <a:xfrm>
            <a:off x="229029" y="7645074"/>
            <a:ext cx="12546742"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r>
              <a:t>Bringing Branches Together (Pull Requests)</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68"/>
                                        </p:tgtEl>
                                        <p:attrNameLst>
                                          <p:attrName>style.visibility</p:attrName>
                                        </p:attrNameLst>
                                      </p:cBhvr>
                                      <p:to>
                                        <p:strVal val="visible"/>
                                      </p:to>
                                    </p:set>
                                    <p:animEffect transition="in" filter="fade">
                                      <p:cBhvr>
                                        <p:cTn id="7" dur="1000"/>
                                        <p:tgtEl>
                                          <p:spTgt spid="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69"/>
                                        </p:tgtEl>
                                        <p:attrNameLst>
                                          <p:attrName>style.visibility</p:attrName>
                                        </p:attrNameLst>
                                      </p:cBhvr>
                                      <p:to>
                                        <p:strVal val="visible"/>
                                      </p:to>
                                    </p:set>
                                    <p:animEffect transition="in" filter="fade">
                                      <p:cBhvr>
                                        <p:cTn id="12" dur="1000"/>
                                        <p:tgtEl>
                                          <p:spTgt spid="6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70"/>
                                        </p:tgtEl>
                                        <p:attrNameLst>
                                          <p:attrName>style.visibility</p:attrName>
                                        </p:attrNameLst>
                                      </p:cBhvr>
                                      <p:to>
                                        <p:strVal val="visible"/>
                                      </p:to>
                                    </p:set>
                                    <p:animEffect transition="in" filter="fade">
                                      <p:cBhvr>
                                        <p:cTn id="17" dur="1500"/>
                                        <p:tgtEl>
                                          <p:spTgt spid="70"/>
                                        </p:tgtEl>
                                      </p:cBhvr>
                                    </p:animEffect>
                                  </p:childTnLst>
                                </p:cTn>
                              </p:par>
                            </p:childTnLst>
                          </p:cTn>
                        </p:par>
                        <p:par>
                          <p:cTn id="18" fill="hold">
                            <p:stCondLst>
                              <p:cond delay="1500"/>
                            </p:stCondLst>
                            <p:childTnLst>
                              <p:par>
                                <p:cTn id="19" presetID="10" presetClass="entr" fill="hold" grpId="4" nodeType="afterEffect">
                                  <p:stCondLst>
                                    <p:cond delay="0"/>
                                  </p:stCondLst>
                                  <p:iterate>
                                    <p:tmAbs val="0"/>
                                  </p:iterate>
                                  <p:childTnLst>
                                    <p:set>
                                      <p:cBhvr>
                                        <p:cTn id="20" fill="hold"/>
                                        <p:tgtEl>
                                          <p:spTgt spid="71"/>
                                        </p:tgtEl>
                                        <p:attrNameLst>
                                          <p:attrName>style.visibility</p:attrName>
                                        </p:attrNameLst>
                                      </p:cBhvr>
                                      <p:to>
                                        <p:strVal val="visible"/>
                                      </p:to>
                                    </p:set>
                                    <p:animEffect transition="in" filter="fade">
                                      <p:cBhvr>
                                        <p:cTn id="21" dur="1500"/>
                                        <p:tgtEl>
                                          <p:spTgt spid="71"/>
                                        </p:tgtEl>
                                      </p:cBhvr>
                                    </p:animEffect>
                                  </p:childTnLst>
                                </p:cTn>
                              </p:par>
                            </p:childTnLst>
                          </p:cTn>
                        </p:par>
                        <p:par>
                          <p:cTn id="22" fill="hold">
                            <p:stCondLst>
                              <p:cond delay="3000"/>
                            </p:stCondLst>
                            <p:childTnLst>
                              <p:par>
                                <p:cTn id="23" presetID="10" presetClass="entr" fill="hold" grpId="5" nodeType="afterEffect">
                                  <p:stCondLst>
                                    <p:cond delay="0"/>
                                  </p:stCondLst>
                                  <p:iterate>
                                    <p:tmAbs val="0"/>
                                  </p:iterate>
                                  <p:childTnLst>
                                    <p:set>
                                      <p:cBhvr>
                                        <p:cTn id="24" fill="hold"/>
                                        <p:tgtEl>
                                          <p:spTgt spid="72"/>
                                        </p:tgtEl>
                                        <p:attrNameLst>
                                          <p:attrName>style.visibility</p:attrName>
                                        </p:attrNameLst>
                                      </p:cBhvr>
                                      <p:to>
                                        <p:strVal val="visible"/>
                                      </p:to>
                                    </p:set>
                                    <p:animEffect transition="in" filter="fade">
                                      <p:cBhvr>
                                        <p:cTn id="25" dur="1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1" animBg="1" advAuto="0"/>
      <p:bldP spid="69" grpId="2" animBg="1" advAuto="0"/>
      <p:bldP spid="70" grpId="3" animBg="1" advAuto="0"/>
      <p:bldP spid="71" grpId="4" animBg="1" advAuto="0"/>
      <p:bldP spid="72" grpId="5"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Git Branches"/>
          <p:cNvSpPr txBox="1">
            <a:spLocks noGrp="1"/>
          </p:cNvSpPr>
          <p:nvPr>
            <p:ph type="ctrTitle"/>
          </p:nvPr>
        </p:nvSpPr>
        <p:spPr>
          <a:prstGeom prst="rect">
            <a:avLst/>
          </a:prstGeom>
        </p:spPr>
        <p:txBody>
          <a:bodyPr/>
          <a:lstStyle/>
          <a:p>
            <a:r>
              <a:t>Git Branches</a:t>
            </a:r>
          </a:p>
        </p:txBody>
      </p:sp>
      <p:sp>
        <p:nvSpPr>
          <p:cNvPr id="75" name="Slide Number"/>
          <p:cNvSpPr txBox="1">
            <a:spLocks noGrp="1"/>
          </p:cNvSpPr>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a:t>
            </a:fld>
            <a:endParaRPr/>
          </a:p>
        </p:txBody>
      </p:sp>
      <p:sp>
        <p:nvSpPr>
          <p:cNvPr id="76" name="Unit 4"/>
          <p:cNvSpPr txBox="1">
            <a:spLocks noGrp="1"/>
          </p:cNvSpPr>
          <p:nvPr>
            <p:ph type="subTitle" sz="quarter" idx="1"/>
          </p:nvPr>
        </p:nvSpPr>
        <p:spPr>
          <a:prstGeom prst="rect">
            <a:avLst/>
          </a:prstGeom>
        </p:spPr>
        <p:txBody>
          <a:bodyPr/>
          <a:lstStyle/>
          <a:p>
            <a:r>
              <a:t>Unit 4</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Slide Number"/>
          <p:cNvSpPr txBox="1">
            <a:spLocks noGrp="1"/>
          </p:cNvSpPr>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a:t>
            </a:fld>
            <a:endParaRPr/>
          </a:p>
        </p:txBody>
      </p:sp>
      <p:sp>
        <p:nvSpPr>
          <p:cNvPr id="79" name="Branches"/>
          <p:cNvSpPr txBox="1">
            <a:spLocks noGrp="1"/>
          </p:cNvSpPr>
          <p:nvPr>
            <p:ph type="title"/>
          </p:nvPr>
        </p:nvSpPr>
        <p:spPr>
          <a:xfrm>
            <a:off x="1642467" y="-80434"/>
            <a:ext cx="9719866" cy="885826"/>
          </a:xfrm>
          <a:prstGeom prst="rect">
            <a:avLst/>
          </a:prstGeom>
        </p:spPr>
        <p:txBody>
          <a:bodyPr/>
          <a:lstStyle/>
          <a:p>
            <a:r>
              <a:t>Branches</a:t>
            </a:r>
          </a:p>
        </p:txBody>
      </p:sp>
      <p:sp>
        <p:nvSpPr>
          <p:cNvPr id="80" name="Repos support creating multiple production lines for the same project."/>
          <p:cNvSpPr txBox="1"/>
          <p:nvPr/>
        </p:nvSpPr>
        <p:spPr>
          <a:xfrm>
            <a:off x="229029" y="942588"/>
            <a:ext cx="12546742"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Repos support creating multiple production lines for the same project.</a:t>
            </a:r>
          </a:p>
        </p:txBody>
      </p:sp>
      <p:sp>
        <p:nvSpPr>
          <p:cNvPr id="81" name="A branch is a version of the repo that allows a person to work without fear of accidentally messing up the project's main body of work. Branches are part of the repo, not a separate repo."/>
          <p:cNvSpPr txBox="1"/>
          <p:nvPr/>
        </p:nvSpPr>
        <p:spPr>
          <a:xfrm>
            <a:off x="229029" y="1528517"/>
            <a:ext cx="12546742"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1D2FEB"/>
                </a:solidFill>
                <a:latin typeface="Franklin Gothic Medium"/>
                <a:ea typeface="Franklin Gothic Medium"/>
                <a:cs typeface="Franklin Gothic Medium"/>
                <a:sym typeface="Franklin Gothic Medium"/>
              </a:defRPr>
            </a:lvl1pPr>
          </a:lstStyle>
          <a:p>
            <a:r>
              <a:t>A branch is a version of the repo that allows a person to work without fear of accidentally messing up the project's main body of work. Branches are part of the repo, not a separate repo.</a:t>
            </a:r>
          </a:p>
        </p:txBody>
      </p:sp>
      <p:sp>
        <p:nvSpPr>
          <p:cNvPr id="82" name="The central branch (i.e., the default branch) of any project is main."/>
          <p:cNvSpPr txBox="1"/>
          <p:nvPr/>
        </p:nvSpPr>
        <p:spPr>
          <a:xfrm>
            <a:off x="229029" y="3028847"/>
            <a:ext cx="12546742"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The central branch (i.e., the default branch) of any project is </a:t>
            </a:r>
            <a:r>
              <a:rPr sz="2700">
                <a:solidFill>
                  <a:srgbClr val="BA3EB3"/>
                </a:solidFill>
                <a:latin typeface="Monaco"/>
                <a:ea typeface="Monaco"/>
                <a:cs typeface="Monaco"/>
                <a:sym typeface="Monaco"/>
              </a:rPr>
              <a:t>main</a:t>
            </a:r>
            <a:r>
              <a:t>.</a:t>
            </a:r>
          </a:p>
        </p:txBody>
      </p:sp>
      <p:sp>
        <p:nvSpPr>
          <p:cNvPr id="83" name="While there are many approaches to working with branches, here's one we suggest for data analysis projects and small team work."/>
          <p:cNvSpPr txBox="1"/>
          <p:nvPr/>
        </p:nvSpPr>
        <p:spPr>
          <a:xfrm>
            <a:off x="229029" y="3654156"/>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While there are many approaches to working with branches, here's one we suggest for data analysis projects and small team work.</a:t>
            </a:r>
          </a:p>
        </p:txBody>
      </p:sp>
      <p:sp>
        <p:nvSpPr>
          <p:cNvPr id="84" name="The team works together to establish the main branch and get the essential elements set up.…"/>
          <p:cNvSpPr txBox="1"/>
          <p:nvPr/>
        </p:nvSpPr>
        <p:spPr>
          <a:xfrm>
            <a:off x="229029" y="4736664"/>
            <a:ext cx="12546742" cy="4305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64444" indent="-564444" algn="l">
              <a:buSzPct val="100000"/>
              <a:buAutoNum type="arabicPeriod"/>
              <a:defRPr sz="3200">
                <a:solidFill>
                  <a:srgbClr val="000004"/>
                </a:solidFill>
                <a:latin typeface="Franklin Gothic Medium"/>
                <a:ea typeface="Franklin Gothic Medium"/>
                <a:cs typeface="Franklin Gothic Medium"/>
                <a:sym typeface="Franklin Gothic Medium"/>
              </a:defRPr>
            </a:pPr>
            <a:r>
              <a:t>The team works together to establish the </a:t>
            </a:r>
            <a:r>
              <a:rPr sz="2700">
                <a:latin typeface="Monaco"/>
                <a:ea typeface="Monaco"/>
                <a:cs typeface="Monaco"/>
                <a:sym typeface="Monaco"/>
              </a:rPr>
              <a:t>main</a:t>
            </a:r>
            <a:r>
              <a:t> branch and get the essential elements set up.</a:t>
            </a:r>
          </a:p>
          <a:p>
            <a:pPr marL="564444" indent="-564444" algn="l">
              <a:buSzPct val="100000"/>
              <a:buAutoNum type="arabicPeriod"/>
              <a:defRPr sz="3200">
                <a:solidFill>
                  <a:srgbClr val="000004"/>
                </a:solidFill>
                <a:latin typeface="Franklin Gothic Medium"/>
                <a:ea typeface="Franklin Gothic Medium"/>
                <a:cs typeface="Franklin Gothic Medium"/>
                <a:sym typeface="Franklin Gothic Medium"/>
              </a:defRPr>
            </a:pPr>
            <a:r>
              <a:t>Once the main branch and essential elements are in place, everyone </a:t>
            </a:r>
            <a:r>
              <a:rPr i="1"/>
              <a:t>stops working on </a:t>
            </a:r>
            <a:r>
              <a:rPr sz="2700">
                <a:latin typeface="Monaco"/>
                <a:ea typeface="Monaco"/>
                <a:cs typeface="Monaco"/>
                <a:sym typeface="Monaco"/>
              </a:rPr>
              <a:t>main</a:t>
            </a:r>
            <a:r>
              <a:t>. Each person creates their own development branch (such as </a:t>
            </a:r>
            <a:r>
              <a:rPr sz="2700">
                <a:solidFill>
                  <a:srgbClr val="BA3EB3"/>
                </a:solidFill>
                <a:latin typeface="Monaco"/>
                <a:ea typeface="Monaco"/>
                <a:cs typeface="Monaco"/>
                <a:sym typeface="Monaco"/>
              </a:rPr>
              <a:t>dev-neil</a:t>
            </a:r>
            <a:r>
              <a:t> or </a:t>
            </a:r>
            <a:r>
              <a:rPr sz="2700">
                <a:solidFill>
                  <a:srgbClr val="BA3EB3"/>
                </a:solidFill>
                <a:latin typeface="Monaco"/>
                <a:ea typeface="Monaco"/>
                <a:cs typeface="Monaco"/>
                <a:sym typeface="Monaco"/>
              </a:rPr>
              <a:t>dev-veronica</a:t>
            </a:r>
            <a:r>
              <a:t>).</a:t>
            </a:r>
          </a:p>
          <a:p>
            <a:pPr marL="564444" indent="-564444" algn="l">
              <a:buSzPct val="100000"/>
              <a:buAutoNum type="arabicPeriod"/>
              <a:defRPr sz="3200">
                <a:solidFill>
                  <a:srgbClr val="000004"/>
                </a:solidFill>
                <a:latin typeface="Franklin Gothic Medium"/>
                <a:ea typeface="Franklin Gothic Medium"/>
                <a:cs typeface="Franklin Gothic Medium"/>
                <a:sym typeface="Franklin Gothic Medium"/>
              </a:defRPr>
            </a:pPr>
            <a:r>
              <a:t>Each person works and pushes commits to their </a:t>
            </a:r>
            <a:r>
              <a:rPr sz="2700">
                <a:latin typeface="Monaco"/>
                <a:ea typeface="Monaco"/>
                <a:cs typeface="Monaco"/>
                <a:sym typeface="Monaco"/>
              </a:rPr>
              <a:t>dev</a:t>
            </a:r>
            <a:r>
              <a:t> branch.</a:t>
            </a:r>
          </a:p>
          <a:p>
            <a:pPr marL="564444" indent="-564444" algn="l">
              <a:buSzPct val="100000"/>
              <a:buAutoNum type="arabicPeriod"/>
              <a:defRPr sz="3200">
                <a:solidFill>
                  <a:srgbClr val="000004"/>
                </a:solidFill>
                <a:latin typeface="Franklin Gothic Medium"/>
                <a:ea typeface="Franklin Gothic Medium"/>
                <a:cs typeface="Franklin Gothic Medium"/>
                <a:sym typeface="Franklin Gothic Medium"/>
              </a:defRPr>
            </a:pPr>
            <a:r>
              <a:t>Periodically, the team checks in on each other and merges copies of their branches into each others (to pass critical elements) or bring changes to the </a:t>
            </a:r>
            <a:r>
              <a:rPr sz="2700">
                <a:latin typeface="Monaco"/>
                <a:ea typeface="Monaco"/>
                <a:cs typeface="Monaco"/>
                <a:sym typeface="Monaco"/>
              </a:rPr>
              <a:t>main</a:t>
            </a:r>
            <a:r>
              <a:t> branch.</a:t>
            </a:r>
          </a:p>
        </p:txBody>
      </p:sp>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81"/>
                                        </p:tgtEl>
                                        <p:attrNameLst>
                                          <p:attrName>style.visibility</p:attrName>
                                        </p:attrNameLst>
                                      </p:cBhvr>
                                      <p:to>
                                        <p:strVal val="visible"/>
                                      </p:to>
                                    </p:set>
                                    <p:animEffect transition="in" filter="fade">
                                      <p:cBhvr>
                                        <p:cTn id="7" dur="1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82"/>
                                        </p:tgtEl>
                                        <p:attrNameLst>
                                          <p:attrName>style.visibility</p:attrName>
                                        </p:attrNameLst>
                                      </p:cBhvr>
                                      <p:to>
                                        <p:strVal val="visible"/>
                                      </p:to>
                                    </p:set>
                                    <p:animEffect transition="in" filter="fade">
                                      <p:cBhvr>
                                        <p:cTn id="12" dur="1000"/>
                                        <p:tgtEl>
                                          <p:spTgt spid="8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83"/>
                                        </p:tgtEl>
                                        <p:attrNameLst>
                                          <p:attrName>style.visibility</p:attrName>
                                        </p:attrNameLst>
                                      </p:cBhvr>
                                      <p:to>
                                        <p:strVal val="visible"/>
                                      </p:to>
                                    </p:set>
                                    <p:animEffect transition="in" filter="fade">
                                      <p:cBhvr>
                                        <p:cTn id="17" dur="1000"/>
                                        <p:tgtEl>
                                          <p:spTgt spid="8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84">
                                            <p:bg/>
                                          </p:spTgt>
                                        </p:tgtEl>
                                        <p:attrNameLst>
                                          <p:attrName>style.visibility</p:attrName>
                                        </p:attrNameLst>
                                      </p:cBhvr>
                                      <p:to>
                                        <p:strVal val="visible"/>
                                      </p:to>
                                    </p:set>
                                    <p:animEffect transition="in" filter="fade">
                                      <p:cBhvr>
                                        <p:cTn id="22" dur="1000"/>
                                        <p:tgtEl>
                                          <p:spTgt spid="84">
                                            <p:bg/>
                                          </p:spTgt>
                                        </p:tgtEl>
                                      </p:cBhvr>
                                    </p:animEffect>
                                  </p:childTnLst>
                                </p:cTn>
                              </p:par>
                              <p:par>
                                <p:cTn id="23" presetID="10" presetClass="entr" presetSubtype="0" fill="hold" grpId="4" nodeType="withEffect">
                                  <p:stCondLst>
                                    <p:cond delay="0"/>
                                  </p:stCondLst>
                                  <p:iterate>
                                    <p:tmAbs val="0"/>
                                  </p:iterate>
                                  <p:childTnLst>
                                    <p:set>
                                      <p:cBhvr>
                                        <p:cTn id="24" fill="hold"/>
                                        <p:tgtEl>
                                          <p:spTgt spid="84">
                                            <p:txEl>
                                              <p:pRg st="0" end="0"/>
                                            </p:txEl>
                                          </p:spTgt>
                                        </p:tgtEl>
                                        <p:attrNameLst>
                                          <p:attrName>style.visibility</p:attrName>
                                        </p:attrNameLst>
                                      </p:cBhvr>
                                      <p:to>
                                        <p:strVal val="visible"/>
                                      </p:to>
                                    </p:set>
                                    <p:animEffect transition="in" filter="fade">
                                      <p:cBhvr>
                                        <p:cTn id="25" dur="1000"/>
                                        <p:tgtEl>
                                          <p:spTgt spid="84">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fill="hold" grpId="4" nodeType="clickEffect">
                                  <p:stCondLst>
                                    <p:cond delay="0"/>
                                  </p:stCondLst>
                                  <p:iterate>
                                    <p:tmAbs val="0"/>
                                  </p:iterate>
                                  <p:childTnLst>
                                    <p:set>
                                      <p:cBhvr>
                                        <p:cTn id="29" fill="hold"/>
                                        <p:tgtEl>
                                          <p:spTgt spid="84">
                                            <p:txEl>
                                              <p:pRg st="1" end="1"/>
                                            </p:txEl>
                                          </p:spTgt>
                                        </p:tgtEl>
                                        <p:attrNameLst>
                                          <p:attrName>style.visibility</p:attrName>
                                        </p:attrNameLst>
                                      </p:cBhvr>
                                      <p:to>
                                        <p:strVal val="visible"/>
                                      </p:to>
                                    </p:set>
                                    <p:animEffect transition="in" filter="fade">
                                      <p:cBhvr>
                                        <p:cTn id="30" dur="1000"/>
                                        <p:tgtEl>
                                          <p:spTgt spid="84">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fill="hold" grpId="4" nodeType="clickEffect">
                                  <p:stCondLst>
                                    <p:cond delay="0"/>
                                  </p:stCondLst>
                                  <p:iterate>
                                    <p:tmAbs val="0"/>
                                  </p:iterate>
                                  <p:childTnLst>
                                    <p:set>
                                      <p:cBhvr>
                                        <p:cTn id="34" fill="hold"/>
                                        <p:tgtEl>
                                          <p:spTgt spid="84">
                                            <p:txEl>
                                              <p:pRg st="2" end="2"/>
                                            </p:txEl>
                                          </p:spTgt>
                                        </p:tgtEl>
                                        <p:attrNameLst>
                                          <p:attrName>style.visibility</p:attrName>
                                        </p:attrNameLst>
                                      </p:cBhvr>
                                      <p:to>
                                        <p:strVal val="visible"/>
                                      </p:to>
                                    </p:set>
                                    <p:animEffect transition="in" filter="fade">
                                      <p:cBhvr>
                                        <p:cTn id="35" dur="1000"/>
                                        <p:tgtEl>
                                          <p:spTgt spid="84">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fill="hold" grpId="4" nodeType="clickEffect">
                                  <p:stCondLst>
                                    <p:cond delay="0"/>
                                  </p:stCondLst>
                                  <p:iterate>
                                    <p:tmAbs val="0"/>
                                  </p:iterate>
                                  <p:childTnLst>
                                    <p:set>
                                      <p:cBhvr>
                                        <p:cTn id="39" fill="hold"/>
                                        <p:tgtEl>
                                          <p:spTgt spid="84">
                                            <p:txEl>
                                              <p:pRg st="3" end="3"/>
                                            </p:txEl>
                                          </p:spTgt>
                                        </p:tgtEl>
                                        <p:attrNameLst>
                                          <p:attrName>style.visibility</p:attrName>
                                        </p:attrNameLst>
                                      </p:cBhvr>
                                      <p:to>
                                        <p:strVal val="visible"/>
                                      </p:to>
                                    </p:set>
                                    <p:animEffect transition="in" filter="fade">
                                      <p:cBhvr>
                                        <p:cTn id="40" dur="1000"/>
                                        <p:tgtEl>
                                          <p:spTgt spid="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1" animBg="1" advAuto="0"/>
      <p:bldP spid="82" grpId="2" animBg="1" advAuto="0"/>
      <p:bldP spid="83" grpId="3" animBg="1" advAuto="0"/>
      <p:bldP spid="84" grpId="4" build="p" bldLvl="5"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Slide Number"/>
          <p:cNvSpPr txBox="1">
            <a:spLocks noGrp="1"/>
          </p:cNvSpPr>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a:t>
            </a:fld>
            <a:endParaRPr/>
          </a:p>
        </p:txBody>
      </p:sp>
      <p:sp>
        <p:nvSpPr>
          <p:cNvPr id="87" name="Let's Practice"/>
          <p:cNvSpPr txBox="1">
            <a:spLocks noGrp="1"/>
          </p:cNvSpPr>
          <p:nvPr>
            <p:ph type="title"/>
          </p:nvPr>
        </p:nvSpPr>
        <p:spPr>
          <a:xfrm>
            <a:off x="1642467" y="-80434"/>
            <a:ext cx="9719866" cy="885826"/>
          </a:xfrm>
          <a:prstGeom prst="rect">
            <a:avLst/>
          </a:prstGeom>
        </p:spPr>
        <p:txBody>
          <a:bodyPr/>
          <a:lstStyle/>
          <a:p>
            <a:r>
              <a:t>Let's Practice</a:t>
            </a:r>
          </a:p>
        </p:txBody>
      </p:sp>
      <p:sp>
        <p:nvSpPr>
          <p:cNvPr id="88" name="Bring up your practice repo from our last class in GitHub Desktop."/>
          <p:cNvSpPr txBox="1"/>
          <p:nvPr/>
        </p:nvSpPr>
        <p:spPr>
          <a:xfrm>
            <a:off x="110495" y="847292"/>
            <a:ext cx="12546743"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Bring up your practice repo from our last class in GitHub Desktop.</a:t>
            </a:r>
          </a:p>
        </p:txBody>
      </p:sp>
      <p:sp>
        <p:nvSpPr>
          <p:cNvPr id="89" name="In GitHub Desktop, make sure that you're in your practice repo."/>
          <p:cNvSpPr txBox="1"/>
          <p:nvPr/>
        </p:nvSpPr>
        <p:spPr>
          <a:xfrm>
            <a:off x="110495" y="1720548"/>
            <a:ext cx="12546743"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In GitHub Desktop, make sure that you're in your practice repo.</a:t>
            </a:r>
          </a:p>
        </p:txBody>
      </p:sp>
      <p:sp>
        <p:nvSpPr>
          <p:cNvPr id="90" name="Using either the Branch menu or the Current Branch button, we are going to make a new branch."/>
          <p:cNvSpPr txBox="1"/>
          <p:nvPr/>
        </p:nvSpPr>
        <p:spPr>
          <a:xfrm>
            <a:off x="110495" y="2500096"/>
            <a:ext cx="12546743"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Using either the Branch menu or the Current Branch button, we are going to make a new branch.</a:t>
            </a:r>
          </a:p>
        </p:txBody>
      </p:sp>
      <p:sp>
        <p:nvSpPr>
          <p:cNvPr id="91" name="Give your branch a name and then click Create Branch."/>
          <p:cNvSpPr txBox="1"/>
          <p:nvPr/>
        </p:nvSpPr>
        <p:spPr>
          <a:xfrm>
            <a:off x="110495" y="3944851"/>
            <a:ext cx="12546743"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Give your branch a name and then click Create Branch.</a:t>
            </a:r>
          </a:p>
        </p:txBody>
      </p:sp>
      <p:sp>
        <p:nvSpPr>
          <p:cNvPr id="92" name="If prompted, you'll need to decide whether your current changes should stay on the old branch or come to the new branch."/>
          <p:cNvSpPr txBox="1"/>
          <p:nvPr/>
        </p:nvSpPr>
        <p:spPr>
          <a:xfrm>
            <a:off x="110495" y="4815666"/>
            <a:ext cx="12546743"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If prompted, you'll need to decide whether your current changes should stay on the old branch or come to the new branch.</a:t>
            </a:r>
          </a:p>
        </p:txBody>
      </p:sp>
      <p:sp>
        <p:nvSpPr>
          <p:cNvPr id="93" name="Generally, you'll want to bring your changes to the new branch."/>
          <p:cNvSpPr txBox="1"/>
          <p:nvPr/>
        </p:nvSpPr>
        <p:spPr>
          <a:xfrm>
            <a:off x="110495" y="6192131"/>
            <a:ext cx="12546743"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BA3EB3"/>
                </a:solidFill>
                <a:latin typeface="Franklin Gothic Medium"/>
                <a:ea typeface="Franklin Gothic Medium"/>
                <a:cs typeface="Franklin Gothic Medium"/>
                <a:sym typeface="Franklin Gothic Medium"/>
              </a:defRPr>
            </a:lvl1pPr>
          </a:lstStyle>
          <a:p>
            <a:r>
              <a:t>Generally, you'll want to bring your changes to the new branch.</a:t>
            </a:r>
          </a:p>
        </p:txBody>
      </p:sp>
      <p:sp>
        <p:nvSpPr>
          <p:cNvPr id="94" name="We will then need to Publish our Branch; this is a type of Push that will create the branch on the server."/>
          <p:cNvSpPr txBox="1"/>
          <p:nvPr/>
        </p:nvSpPr>
        <p:spPr>
          <a:xfrm>
            <a:off x="229029" y="7273442"/>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We will then need to Publish our Branch; this is a type of Push that will create the branch on the server.</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89"/>
                                        </p:tgtEl>
                                        <p:attrNameLst>
                                          <p:attrName>style.visibility</p:attrName>
                                        </p:attrNameLst>
                                      </p:cBhvr>
                                      <p:to>
                                        <p:strVal val="visible"/>
                                      </p:to>
                                    </p:set>
                                    <p:animEffect transition="in" filter="fade">
                                      <p:cBhvr>
                                        <p:cTn id="7" dur="1000"/>
                                        <p:tgtEl>
                                          <p:spTgt spid="8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90"/>
                                        </p:tgtEl>
                                        <p:attrNameLst>
                                          <p:attrName>style.visibility</p:attrName>
                                        </p:attrNameLst>
                                      </p:cBhvr>
                                      <p:to>
                                        <p:strVal val="visible"/>
                                      </p:to>
                                    </p:set>
                                    <p:animEffect transition="in" filter="fade">
                                      <p:cBhvr>
                                        <p:cTn id="12" dur="1000"/>
                                        <p:tgtEl>
                                          <p:spTgt spid="9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91"/>
                                        </p:tgtEl>
                                        <p:attrNameLst>
                                          <p:attrName>style.visibility</p:attrName>
                                        </p:attrNameLst>
                                      </p:cBhvr>
                                      <p:to>
                                        <p:strVal val="visible"/>
                                      </p:to>
                                    </p:set>
                                    <p:animEffect transition="in" filter="fade">
                                      <p:cBhvr>
                                        <p:cTn id="17" dur="1000"/>
                                        <p:tgtEl>
                                          <p:spTgt spid="9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92"/>
                                        </p:tgtEl>
                                        <p:attrNameLst>
                                          <p:attrName>style.visibility</p:attrName>
                                        </p:attrNameLst>
                                      </p:cBhvr>
                                      <p:to>
                                        <p:strVal val="visible"/>
                                      </p:to>
                                    </p:set>
                                    <p:animEffect transition="in" filter="fade">
                                      <p:cBhvr>
                                        <p:cTn id="22" dur="1000"/>
                                        <p:tgtEl>
                                          <p:spTgt spid="9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fill="hold" grpId="5" nodeType="clickEffect">
                                  <p:stCondLst>
                                    <p:cond delay="0"/>
                                  </p:stCondLst>
                                  <p:iterate>
                                    <p:tmAbs val="0"/>
                                  </p:iterate>
                                  <p:childTnLst>
                                    <p:set>
                                      <p:cBhvr>
                                        <p:cTn id="26" fill="hold"/>
                                        <p:tgtEl>
                                          <p:spTgt spid="93"/>
                                        </p:tgtEl>
                                        <p:attrNameLst>
                                          <p:attrName>style.visibility</p:attrName>
                                        </p:attrNameLst>
                                      </p:cBhvr>
                                      <p:to>
                                        <p:strVal val="visible"/>
                                      </p:to>
                                    </p:set>
                                    <p:animEffect transition="in" filter="fade">
                                      <p:cBhvr>
                                        <p:cTn id="27" dur="1000"/>
                                        <p:tgtEl>
                                          <p:spTgt spid="9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fill="hold" grpId="6" nodeType="clickEffect">
                                  <p:stCondLst>
                                    <p:cond delay="0"/>
                                  </p:stCondLst>
                                  <p:iterate>
                                    <p:tmAbs val="0"/>
                                  </p:iterate>
                                  <p:childTnLst>
                                    <p:set>
                                      <p:cBhvr>
                                        <p:cTn id="31" fill="hold"/>
                                        <p:tgtEl>
                                          <p:spTgt spid="94"/>
                                        </p:tgtEl>
                                        <p:attrNameLst>
                                          <p:attrName>style.visibility</p:attrName>
                                        </p:attrNameLst>
                                      </p:cBhvr>
                                      <p:to>
                                        <p:strVal val="visible"/>
                                      </p:to>
                                    </p:set>
                                    <p:animEffect transition="in" filter="fade">
                                      <p:cBhvr>
                                        <p:cTn id="32" dur="1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1" animBg="1" advAuto="0"/>
      <p:bldP spid="90" grpId="2" animBg="1" advAuto="0"/>
      <p:bldP spid="91" grpId="3" animBg="1" advAuto="0"/>
      <p:bldP spid="92" grpId="4" animBg="1" advAuto="0"/>
      <p:bldP spid="93" grpId="5" animBg="1" advAuto="0"/>
      <p:bldP spid="94" grpId="6"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Writing Meaningful Commit Messages"/>
          <p:cNvSpPr txBox="1">
            <a:spLocks noGrp="1"/>
          </p:cNvSpPr>
          <p:nvPr>
            <p:ph type="ctrTitle"/>
          </p:nvPr>
        </p:nvSpPr>
        <p:spPr>
          <a:prstGeom prst="rect">
            <a:avLst/>
          </a:prstGeom>
        </p:spPr>
        <p:txBody>
          <a:bodyPr/>
          <a:lstStyle/>
          <a:p>
            <a:r>
              <a:t>Writing Meaningful Commit Messages</a:t>
            </a:r>
          </a:p>
        </p:txBody>
      </p:sp>
      <p:sp>
        <p:nvSpPr>
          <p:cNvPr id="97" name="Slide Number"/>
          <p:cNvSpPr txBox="1">
            <a:spLocks noGrp="1"/>
          </p:cNvSpPr>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6</a:t>
            </a:fld>
            <a:endParaRPr/>
          </a:p>
        </p:txBody>
      </p:sp>
      <p:sp>
        <p:nvSpPr>
          <p:cNvPr id="98" name="Stat 184"/>
          <p:cNvSpPr txBox="1">
            <a:spLocks noGrp="1"/>
          </p:cNvSpPr>
          <p:nvPr>
            <p:ph type="subTitle" sz="quarter" idx="1"/>
          </p:nvPr>
        </p:nvSpPr>
        <p:spPr>
          <a:prstGeom prst="rect">
            <a:avLst/>
          </a:prstGeom>
        </p:spPr>
        <p:txBody>
          <a:bodyPr/>
          <a:lstStyle/>
          <a:p>
            <a:r>
              <a:t>Stat 184</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lide Number"/>
          <p:cNvSpPr txBox="1">
            <a:spLocks noGrp="1"/>
          </p:cNvSpPr>
          <p:nvPr>
            <p:ph type="sldNum" sz="quarter" idx="2"/>
          </p:nvPr>
        </p:nvSpPr>
        <p:spPr>
          <a:xfrm>
            <a:off x="6401866" y="9369954"/>
            <a:ext cx="201068" cy="2565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7</a:t>
            </a:fld>
            <a:endParaRPr/>
          </a:p>
        </p:txBody>
      </p:sp>
      <p:sp>
        <p:nvSpPr>
          <p:cNvPr id="101" name="Writing Commit Messages"/>
          <p:cNvSpPr txBox="1">
            <a:spLocks noGrp="1"/>
          </p:cNvSpPr>
          <p:nvPr>
            <p:ph type="title"/>
          </p:nvPr>
        </p:nvSpPr>
        <p:spPr>
          <a:xfrm>
            <a:off x="2176329" y="4233"/>
            <a:ext cx="8652142" cy="885826"/>
          </a:xfrm>
          <a:prstGeom prst="rect">
            <a:avLst/>
          </a:prstGeom>
        </p:spPr>
        <p:txBody>
          <a:bodyPr/>
          <a:lstStyle/>
          <a:p>
            <a:r>
              <a:t>Writing Commit Messages</a:t>
            </a:r>
          </a:p>
        </p:txBody>
      </p:sp>
      <p:sp>
        <p:nvSpPr>
          <p:cNvPr id="102" name="If the commit involves multiple changes and/or complicated ones, you'll want to include and additional message."/>
          <p:cNvSpPr txBox="1"/>
          <p:nvPr/>
        </p:nvSpPr>
        <p:spPr>
          <a:xfrm>
            <a:off x="127000" y="857251"/>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If the commit involves multiple changes and/or complicated ones, you'll want to include and additional message.</a:t>
            </a:r>
          </a:p>
        </p:txBody>
      </p:sp>
      <p:sp>
        <p:nvSpPr>
          <p:cNvPr id="103" name="A commit message is a larger description of the change(s) that make up this particular snapshot. The message should cover the What and Why of the changes, not the How of your changes."/>
          <p:cNvSpPr txBox="1"/>
          <p:nvPr/>
        </p:nvSpPr>
        <p:spPr>
          <a:xfrm>
            <a:off x="127000" y="1964403"/>
            <a:ext cx="12546742"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1D2FEB"/>
                </a:solidFill>
                <a:latin typeface="Franklin Gothic Medium"/>
                <a:ea typeface="Franklin Gothic Medium"/>
                <a:cs typeface="Franklin Gothic Medium"/>
                <a:sym typeface="Franklin Gothic Medium"/>
              </a:defRPr>
            </a:pPr>
            <a:r>
              <a:t>A commit message is a larger description of the change(s) that make up this particular snapshot. The message should cover the </a:t>
            </a:r>
            <a:r>
              <a:rPr i="1"/>
              <a:t>What</a:t>
            </a:r>
            <a:r>
              <a:t> and </a:t>
            </a:r>
            <a:r>
              <a:rPr i="1"/>
              <a:t>Why</a:t>
            </a:r>
            <a:r>
              <a:t> of the changes, not the </a:t>
            </a:r>
            <a:r>
              <a:rPr i="1"/>
              <a:t>How</a:t>
            </a:r>
            <a:r>
              <a:t> of your changes.</a:t>
            </a:r>
          </a:p>
        </p:txBody>
      </p:sp>
      <p:sp>
        <p:nvSpPr>
          <p:cNvPr id="104" name="You can even reference issues (bugs, new features) that have been logged in the repo in your commit messages to help flag important changes."/>
          <p:cNvSpPr txBox="1"/>
          <p:nvPr/>
        </p:nvSpPr>
        <p:spPr>
          <a:xfrm>
            <a:off x="127000" y="3561692"/>
            <a:ext cx="12211144"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You can even reference issues (bugs, new features) that have been logged in the repo in your commit messages to help flag important changes.</a:t>
            </a:r>
          </a:p>
        </p:txBody>
      </p:sp>
      <p:sp>
        <p:nvSpPr>
          <p:cNvPr id="105" name="Suppose the issue #21 highlighted that cross-references were breaking and you managed to fix this issue. Your commit subject and message might look like:"/>
          <p:cNvSpPr txBox="1"/>
          <p:nvPr/>
        </p:nvSpPr>
        <p:spPr>
          <a:xfrm>
            <a:off x="110066" y="5367595"/>
            <a:ext cx="12784668"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Suppose the issue #21 highlighted that cross-references were breaking and you managed to fix this issue. Your commit </a:t>
            </a:r>
            <a:r>
              <a:rPr>
                <a:solidFill>
                  <a:srgbClr val="008900"/>
                </a:solidFill>
              </a:rPr>
              <a:t>subject</a:t>
            </a:r>
            <a:r>
              <a:t> and </a:t>
            </a:r>
            <a:r>
              <a:rPr>
                <a:solidFill>
                  <a:srgbClr val="1D2FEB"/>
                </a:solidFill>
              </a:rPr>
              <a:t>message</a:t>
            </a:r>
            <a:r>
              <a:t> might look like:</a:t>
            </a:r>
          </a:p>
        </p:txBody>
      </p:sp>
      <p:sp>
        <p:nvSpPr>
          <p:cNvPr id="106" name="Correct broken cross-references…"/>
          <p:cNvSpPr txBox="1"/>
          <p:nvPr/>
        </p:nvSpPr>
        <p:spPr>
          <a:xfrm>
            <a:off x="177800" y="6875490"/>
            <a:ext cx="12784667" cy="1876370"/>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2700">
                <a:solidFill>
                  <a:srgbClr val="008900"/>
                </a:solidFill>
                <a:latin typeface="Monaco"/>
                <a:ea typeface="Monaco"/>
                <a:cs typeface="Monaco"/>
                <a:sym typeface="Monaco"/>
              </a:defRPr>
            </a:pPr>
            <a:r>
              <a:t>Correct broken cross-references</a:t>
            </a:r>
          </a:p>
          <a:p>
            <a:pPr algn="l">
              <a:defRPr sz="2700">
                <a:solidFill>
                  <a:srgbClr val="1D2FEB"/>
                </a:solidFill>
                <a:latin typeface="Monaco"/>
                <a:ea typeface="Monaco"/>
                <a:cs typeface="Monaco"/>
                <a:sym typeface="Monaco"/>
              </a:defRPr>
            </a:pPr>
            <a:r>
              <a:t>All instances of cross-references were not rendering due spaces appearing in multiple label names.</a:t>
            </a:r>
          </a:p>
          <a:p>
            <a:pPr algn="l">
              <a:defRPr sz="2700">
                <a:solidFill>
                  <a:srgbClr val="1D2FEB"/>
                </a:solidFill>
                <a:latin typeface="Monaco"/>
                <a:ea typeface="Monaco"/>
                <a:cs typeface="Monaco"/>
                <a:sym typeface="Monaco"/>
              </a:defRPr>
            </a:pPr>
            <a:r>
              <a:t>Fixes #21</a:t>
            </a:r>
          </a:p>
        </p:txBody>
      </p:sp>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103"/>
                                        </p:tgtEl>
                                        <p:attrNameLst>
                                          <p:attrName>style.visibility</p:attrName>
                                        </p:attrNameLst>
                                      </p:cBhvr>
                                      <p:to>
                                        <p:strVal val="visible"/>
                                      </p:to>
                                    </p:set>
                                    <p:animEffect transition="in" filter="fade">
                                      <p:cBhvr>
                                        <p:cTn id="7" dur="1500"/>
                                        <p:tgtEl>
                                          <p:spTgt spid="1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104"/>
                                        </p:tgtEl>
                                        <p:attrNameLst>
                                          <p:attrName>style.visibility</p:attrName>
                                        </p:attrNameLst>
                                      </p:cBhvr>
                                      <p:to>
                                        <p:strVal val="visible"/>
                                      </p:to>
                                    </p:set>
                                    <p:animEffect transition="in" filter="fade">
                                      <p:cBhvr>
                                        <p:cTn id="12" dur="1000"/>
                                        <p:tgtEl>
                                          <p:spTgt spid="1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105"/>
                                        </p:tgtEl>
                                        <p:attrNameLst>
                                          <p:attrName>style.visibility</p:attrName>
                                        </p:attrNameLst>
                                      </p:cBhvr>
                                      <p:to>
                                        <p:strVal val="visible"/>
                                      </p:to>
                                    </p:set>
                                    <p:animEffect transition="in" filter="fade">
                                      <p:cBhvr>
                                        <p:cTn id="17" dur="1000"/>
                                        <p:tgtEl>
                                          <p:spTgt spid="10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106"/>
                                        </p:tgtEl>
                                        <p:attrNameLst>
                                          <p:attrName>style.visibility</p:attrName>
                                        </p:attrNameLst>
                                      </p:cBhvr>
                                      <p:to>
                                        <p:strVal val="visible"/>
                                      </p:to>
                                    </p:set>
                                    <p:animEffect transition="in" filter="fade">
                                      <p:cBhvr>
                                        <p:cTn id="22" dur="1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1" animBg="1" advAuto="0"/>
      <p:bldP spid="104" grpId="2" animBg="1" advAuto="0"/>
      <p:bldP spid="105" grpId="3" animBg="1" advAuto="0"/>
      <p:bldP spid="106" grpId="4"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lide Number"/>
          <p:cNvSpPr txBox="1">
            <a:spLocks noGrp="1"/>
          </p:cNvSpPr>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8</a:t>
            </a:fld>
            <a:endParaRPr/>
          </a:p>
        </p:txBody>
      </p:sp>
      <p:sp>
        <p:nvSpPr>
          <p:cNvPr id="109" name="Let's Practice"/>
          <p:cNvSpPr txBox="1">
            <a:spLocks noGrp="1"/>
          </p:cNvSpPr>
          <p:nvPr>
            <p:ph type="title"/>
          </p:nvPr>
        </p:nvSpPr>
        <p:spPr>
          <a:prstGeom prst="rect">
            <a:avLst/>
          </a:prstGeom>
        </p:spPr>
        <p:txBody>
          <a:bodyPr/>
          <a:lstStyle/>
          <a:p>
            <a:r>
              <a:t>Let's Practice</a:t>
            </a:r>
          </a:p>
        </p:txBody>
      </p:sp>
      <p:sp>
        <p:nvSpPr>
          <p:cNvPr id="110" name="Create a commit message based on the following GitHub Desktop info."/>
          <p:cNvSpPr txBox="1"/>
          <p:nvPr/>
        </p:nvSpPr>
        <p:spPr>
          <a:xfrm>
            <a:off x="194733" y="774700"/>
            <a:ext cx="12388057"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Create a commit message based on the following GitHub Desktop info.</a:t>
            </a:r>
          </a:p>
        </p:txBody>
      </p:sp>
      <p:pic>
        <p:nvPicPr>
          <p:cNvPr id="111" name="GitHub Desktop showing the adding of a Rproj file to the repo" descr="GitHub Desktop showing the adding of a Rproj file to the repo"/>
          <p:cNvPicPr>
            <a:picLocks noChangeAspect="1"/>
          </p:cNvPicPr>
          <p:nvPr/>
        </p:nvPicPr>
        <p:blipFill>
          <a:blip r:embed="rId3"/>
          <a:stretch>
            <a:fillRect/>
          </a:stretch>
        </p:blipFill>
        <p:spPr>
          <a:xfrm>
            <a:off x="412750" y="1332177"/>
            <a:ext cx="12179300" cy="8013701"/>
          </a:xfrm>
          <a:prstGeom prst="rect">
            <a:avLst/>
          </a:prstGeom>
          <a:ln w="3175">
            <a:miter lim="400000"/>
          </a:ln>
        </p:spPr>
      </p:pic>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6401953" y="9369954"/>
            <a:ext cx="200894" cy="2565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9</a:t>
            </a:fld>
            <a:endParaRPr/>
          </a:p>
        </p:txBody>
      </p:sp>
      <p:sp>
        <p:nvSpPr>
          <p:cNvPr id="116" name="Let's Practice"/>
          <p:cNvSpPr txBox="1">
            <a:spLocks noGrp="1"/>
          </p:cNvSpPr>
          <p:nvPr>
            <p:ph type="title"/>
          </p:nvPr>
        </p:nvSpPr>
        <p:spPr>
          <a:prstGeom prst="rect">
            <a:avLst/>
          </a:prstGeom>
        </p:spPr>
        <p:txBody>
          <a:bodyPr/>
          <a:lstStyle/>
          <a:p>
            <a:r>
              <a:t>Let's Practice</a:t>
            </a:r>
          </a:p>
        </p:txBody>
      </p:sp>
      <p:sp>
        <p:nvSpPr>
          <p:cNvPr id="117" name="Create a commit message based on the following GitHub Desktop info."/>
          <p:cNvSpPr txBox="1"/>
          <p:nvPr/>
        </p:nvSpPr>
        <p:spPr>
          <a:xfrm>
            <a:off x="194733" y="774700"/>
            <a:ext cx="12388057"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Create a commit message based on the following GitHub Desktop info.</a:t>
            </a:r>
          </a:p>
        </p:txBody>
      </p:sp>
      <p:pic>
        <p:nvPicPr>
          <p:cNvPr id="118" name="GitHub Desktop showing five file changes but only three are staged and show changes to a file about brownies, sugar cookies, and factorial designs" descr="GitHub Desktop showing five file changes but only three are staged and show changes to a file about brownies, sugar cookies, and factorial designs"/>
          <p:cNvPicPr>
            <a:picLocks noChangeAspect="1"/>
          </p:cNvPicPr>
          <p:nvPr/>
        </p:nvPicPr>
        <p:blipFill>
          <a:blip r:embed="rId3"/>
          <a:stretch>
            <a:fillRect/>
          </a:stretch>
        </p:blipFill>
        <p:spPr>
          <a:xfrm>
            <a:off x="0" y="1245670"/>
            <a:ext cx="13004800" cy="7262260"/>
          </a:xfrm>
          <a:prstGeom prst="rect">
            <a:avLst/>
          </a:prstGeom>
          <a:ln w="3175">
            <a:miter lim="400000"/>
          </a:ln>
        </p:spPr>
      </p:pic>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10</a:t>
            </a:fld>
            <a:endParaRPr/>
          </a:p>
        </p:txBody>
      </p:sp>
      <p:sp>
        <p:nvSpPr>
          <p:cNvPr id="123" name="Let's Practice"/>
          <p:cNvSpPr txBox="1">
            <a:spLocks noGrp="1"/>
          </p:cNvSpPr>
          <p:nvPr>
            <p:ph type="title"/>
          </p:nvPr>
        </p:nvSpPr>
        <p:spPr>
          <a:prstGeom prst="rect">
            <a:avLst/>
          </a:prstGeom>
        </p:spPr>
        <p:txBody>
          <a:bodyPr/>
          <a:lstStyle/>
          <a:p>
            <a:r>
              <a:t>Let's Practice</a:t>
            </a:r>
          </a:p>
        </p:txBody>
      </p:sp>
      <p:sp>
        <p:nvSpPr>
          <p:cNvPr id="124" name="Create a commit message based on the following GitHub Desktop info."/>
          <p:cNvSpPr txBox="1"/>
          <p:nvPr/>
        </p:nvSpPr>
        <p:spPr>
          <a:xfrm>
            <a:off x="194733" y="774700"/>
            <a:ext cx="12388057"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Create a commit message based on the following GitHub Desktop info.</a:t>
            </a:r>
          </a:p>
        </p:txBody>
      </p:sp>
      <p:pic>
        <p:nvPicPr>
          <p:cNvPr id="125" name="GitHub Desktop showing the addition of two files for an example solution to Activity 14 for Stat 184 to a private repo" descr="GitHub Desktop showing the addition of two files for an example solution to Activity 14 for Stat 184 to a private repo"/>
          <p:cNvPicPr>
            <a:picLocks noChangeAspect="1"/>
          </p:cNvPicPr>
          <p:nvPr/>
        </p:nvPicPr>
        <p:blipFill>
          <a:blip r:embed="rId3"/>
          <a:stretch>
            <a:fillRect/>
          </a:stretch>
        </p:blipFill>
        <p:spPr>
          <a:xfrm>
            <a:off x="0" y="1704499"/>
            <a:ext cx="13004800" cy="6344602"/>
          </a:xfrm>
          <a:prstGeom prst="rect">
            <a:avLst/>
          </a:prstGeom>
          <a:ln w="3175">
            <a:miter lim="400000"/>
          </a:ln>
        </p:spPr>
      </p:pic>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11</a:t>
            </a:fld>
            <a:endParaRPr/>
          </a:p>
        </p:txBody>
      </p:sp>
      <p:sp>
        <p:nvSpPr>
          <p:cNvPr id="130" name="Self-Check"/>
          <p:cNvSpPr txBox="1">
            <a:spLocks noGrp="1"/>
          </p:cNvSpPr>
          <p:nvPr>
            <p:ph type="title"/>
          </p:nvPr>
        </p:nvSpPr>
        <p:spPr>
          <a:xfrm>
            <a:off x="1642467" y="-80434"/>
            <a:ext cx="9719866" cy="885826"/>
          </a:xfrm>
          <a:prstGeom prst="rect">
            <a:avLst/>
          </a:prstGeom>
        </p:spPr>
        <p:txBody>
          <a:bodyPr/>
          <a:lstStyle/>
          <a:p>
            <a:r>
              <a:t>Self-Check</a:t>
            </a:r>
          </a:p>
        </p:txBody>
      </p:sp>
      <p:sp>
        <p:nvSpPr>
          <p:cNvPr id="131" name="Locate at least two files you've made for Stat 184 and place copies of them into your current practice repo."/>
          <p:cNvSpPr txBox="1"/>
          <p:nvPr/>
        </p:nvSpPr>
        <p:spPr>
          <a:xfrm>
            <a:off x="147239" y="965199"/>
            <a:ext cx="12710323" cy="1016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Locate at least two files you've made for Stat 184 and place copies of them into your current practice repo.</a:t>
            </a:r>
          </a:p>
        </p:txBody>
      </p:sp>
      <p:sp>
        <p:nvSpPr>
          <p:cNvPr id="132" name="Make a commit to your current branch of your repo with a meaningful commit subject and message."/>
          <p:cNvSpPr txBox="1"/>
          <p:nvPr/>
        </p:nvSpPr>
        <p:spPr>
          <a:xfrm>
            <a:off x="214124" y="2323743"/>
            <a:ext cx="12710323" cy="1016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Make a commit to your current branch of your repo with a meaningful commit subject and message.</a:t>
            </a:r>
          </a:p>
        </p:txBody>
      </p:sp>
      <p:pic>
        <p:nvPicPr>
          <p:cNvPr id="133" name="Green cup" descr="Green cup"/>
          <p:cNvPicPr>
            <a:picLocks noChangeAspect="1"/>
          </p:cNvPicPr>
          <p:nvPr/>
        </p:nvPicPr>
        <p:blipFill>
          <a:blip r:embed="rId2"/>
          <a:stretch>
            <a:fillRect/>
          </a:stretch>
        </p:blipFill>
        <p:spPr>
          <a:xfrm>
            <a:off x="203992" y="3682287"/>
            <a:ext cx="872426" cy="1270001"/>
          </a:xfrm>
          <a:prstGeom prst="rect">
            <a:avLst/>
          </a:prstGeom>
          <a:ln w="3175">
            <a:miter lim="400000"/>
          </a:ln>
        </p:spPr>
      </p:pic>
      <p:pic>
        <p:nvPicPr>
          <p:cNvPr id="134" name="cupRed.png" descr="cupRed.png"/>
          <p:cNvPicPr>
            <a:picLocks noChangeAspect="1"/>
          </p:cNvPicPr>
          <p:nvPr/>
        </p:nvPicPr>
        <p:blipFill>
          <a:blip r:embed="rId3"/>
          <a:stretch>
            <a:fillRect/>
          </a:stretch>
        </p:blipFill>
        <p:spPr>
          <a:xfrm>
            <a:off x="203992" y="7184150"/>
            <a:ext cx="872426" cy="1270001"/>
          </a:xfrm>
          <a:prstGeom prst="rect">
            <a:avLst/>
          </a:prstGeom>
          <a:ln w="3175">
            <a:miter lim="400000"/>
          </a:ln>
        </p:spPr>
      </p:pic>
      <p:pic>
        <p:nvPicPr>
          <p:cNvPr id="135" name="cupYellow.png" descr="cupYellow.png"/>
          <p:cNvPicPr>
            <a:picLocks noChangeAspect="1"/>
          </p:cNvPicPr>
          <p:nvPr/>
        </p:nvPicPr>
        <p:blipFill>
          <a:blip r:embed="rId4"/>
          <a:stretch>
            <a:fillRect/>
          </a:stretch>
        </p:blipFill>
        <p:spPr>
          <a:xfrm>
            <a:off x="203992" y="5433218"/>
            <a:ext cx="872426" cy="1270001"/>
          </a:xfrm>
          <a:prstGeom prst="rect">
            <a:avLst/>
          </a:prstGeom>
          <a:ln w="3175">
            <a:miter lim="400000"/>
          </a:ln>
        </p:spPr>
      </p:pic>
      <p:sp>
        <p:nvSpPr>
          <p:cNvPr id="136" name="I'm working on my commit."/>
          <p:cNvSpPr txBox="1"/>
          <p:nvPr/>
        </p:nvSpPr>
        <p:spPr>
          <a:xfrm>
            <a:off x="1371600" y="5801518"/>
            <a:ext cx="10361504"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I'm working on my commit.</a:t>
            </a:r>
          </a:p>
        </p:txBody>
      </p:sp>
      <p:sp>
        <p:nvSpPr>
          <p:cNvPr id="137" name="I've made my commit."/>
          <p:cNvSpPr txBox="1"/>
          <p:nvPr/>
        </p:nvSpPr>
        <p:spPr>
          <a:xfrm>
            <a:off x="1371600" y="4050587"/>
            <a:ext cx="11079367"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I've made my commit.</a:t>
            </a:r>
          </a:p>
        </p:txBody>
      </p:sp>
      <p:sp>
        <p:nvSpPr>
          <p:cNvPr id="138" name="Something has gone wrong; help!"/>
          <p:cNvSpPr txBox="1"/>
          <p:nvPr/>
        </p:nvSpPr>
        <p:spPr>
          <a:xfrm>
            <a:off x="1371600" y="7552450"/>
            <a:ext cx="10361504"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Something has gone wrong; help!</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ull Requests"/>
          <p:cNvSpPr txBox="1">
            <a:spLocks noGrp="1"/>
          </p:cNvSpPr>
          <p:nvPr>
            <p:ph type="ctrTitle"/>
          </p:nvPr>
        </p:nvSpPr>
        <p:spPr>
          <a:xfrm>
            <a:off x="2100592" y="2414058"/>
            <a:ext cx="8803616" cy="2476501"/>
          </a:xfrm>
          <a:prstGeom prst="rect">
            <a:avLst/>
          </a:prstGeom>
        </p:spPr>
        <p:txBody>
          <a:bodyPr/>
          <a:lstStyle/>
          <a:p>
            <a:r>
              <a:t>Pull Requests</a:t>
            </a:r>
          </a:p>
        </p:txBody>
      </p:sp>
      <p:sp>
        <p:nvSpPr>
          <p:cNvPr id="14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12</a:t>
            </a:fld>
            <a:endParaRPr/>
          </a:p>
        </p:txBody>
      </p:sp>
      <p:sp>
        <p:nvSpPr>
          <p:cNvPr id="142" name="Unit 4"/>
          <p:cNvSpPr txBox="1">
            <a:spLocks noGrp="1"/>
          </p:cNvSpPr>
          <p:nvPr>
            <p:ph type="subTitle" sz="quarter" idx="1"/>
          </p:nvPr>
        </p:nvSpPr>
        <p:spPr>
          <a:prstGeom prst="rect">
            <a:avLst/>
          </a:prstGeom>
        </p:spPr>
        <p:txBody>
          <a:bodyPr/>
          <a:lstStyle/>
          <a:p>
            <a:r>
              <a:t>Unit 4</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13</a:t>
            </a:fld>
            <a:endParaRPr/>
          </a:p>
        </p:txBody>
      </p:sp>
      <p:sp>
        <p:nvSpPr>
          <p:cNvPr id="145" name="Pull Requests"/>
          <p:cNvSpPr txBox="1">
            <a:spLocks noGrp="1"/>
          </p:cNvSpPr>
          <p:nvPr>
            <p:ph type="title"/>
          </p:nvPr>
        </p:nvSpPr>
        <p:spPr>
          <a:prstGeom prst="rect">
            <a:avLst/>
          </a:prstGeom>
        </p:spPr>
        <p:txBody>
          <a:bodyPr/>
          <a:lstStyle/>
          <a:p>
            <a:r>
              <a:t>Pull Requests</a:t>
            </a:r>
          </a:p>
        </p:txBody>
      </p:sp>
      <p:sp>
        <p:nvSpPr>
          <p:cNvPr id="146" name="When you are working with multiple branches, you will need to periodically bring your developments either into other branches or to the main branch."/>
          <p:cNvSpPr txBox="1"/>
          <p:nvPr/>
        </p:nvSpPr>
        <p:spPr>
          <a:xfrm>
            <a:off x="73638" y="961871"/>
            <a:ext cx="12857524" cy="965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100">
                <a:solidFill>
                  <a:srgbClr val="000004"/>
                </a:solidFill>
                <a:latin typeface="Franklin Gothic Medium"/>
                <a:ea typeface="Franklin Gothic Medium"/>
                <a:cs typeface="Franklin Gothic Medium"/>
                <a:sym typeface="Franklin Gothic Medium"/>
              </a:defRPr>
            </a:lvl1pPr>
          </a:lstStyle>
          <a:p>
            <a:r>
              <a:t>When you are working with multiple branches, you will need to periodically bring your developments either into other branches or to the main branch.</a:t>
            </a:r>
          </a:p>
        </p:txBody>
      </p:sp>
      <p:sp>
        <p:nvSpPr>
          <p:cNvPr id="147" name="Bringing elements to the main branch is important as that is the branch that people coming to your repo are going to reference and use."/>
          <p:cNvSpPr txBox="1"/>
          <p:nvPr/>
        </p:nvSpPr>
        <p:spPr>
          <a:xfrm>
            <a:off x="127000" y="2151062"/>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Bringing elements to the main branch is important as that is the branch that people coming to your repo are going to reference and use.</a:t>
            </a:r>
          </a:p>
        </p:txBody>
      </p:sp>
      <p:sp>
        <p:nvSpPr>
          <p:cNvPr id="148" name="To merge two branches together, you have to first create a Pull Request."/>
          <p:cNvSpPr txBox="1"/>
          <p:nvPr/>
        </p:nvSpPr>
        <p:spPr>
          <a:xfrm>
            <a:off x="127000" y="3365653"/>
            <a:ext cx="12546742"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To merge two branches together, you have to first create a </a:t>
            </a:r>
            <a:r>
              <a:rPr>
                <a:solidFill>
                  <a:srgbClr val="008900"/>
                </a:solidFill>
              </a:rPr>
              <a:t>Pull Request</a:t>
            </a:r>
            <a:r>
              <a:t>.</a:t>
            </a:r>
          </a:p>
        </p:txBody>
      </p:sp>
      <p:sp>
        <p:nvSpPr>
          <p:cNvPr id="149" name="A Pull Request sets up a space in the repo for people to compare the cumulative set of commits on a (dev) branch to the current state of a target branch while providing them with a space to discuss whether merging should move forward."/>
          <p:cNvSpPr txBox="1"/>
          <p:nvPr/>
        </p:nvSpPr>
        <p:spPr>
          <a:xfrm>
            <a:off x="127000" y="4320445"/>
            <a:ext cx="12546742" cy="1905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A Pull Request sets up a space in the repo for people to compare the cumulative set of commits on a (dev) branch to the current state of a target branch while providing them with a space to discuss whether merging should move forward.</a:t>
            </a:r>
          </a:p>
        </p:txBody>
      </p:sp>
      <p:sp>
        <p:nvSpPr>
          <p:cNvPr id="150" name="Once reviewed and approved, the team can merge the (dev) branch into the target branch. The (dev) branch's commit history gets added to the target branch and they are then identical."/>
          <p:cNvSpPr txBox="1"/>
          <p:nvPr/>
        </p:nvSpPr>
        <p:spPr>
          <a:xfrm>
            <a:off x="127000" y="6671468"/>
            <a:ext cx="12546742"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Once reviewed and approved, the team can merge the (dev) branch into the target branch. The (dev) branch's commit history gets added to the target branch and they are then identical.</a:t>
            </a:r>
          </a:p>
        </p:txBody>
      </p:sp>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147"/>
                                        </p:tgtEl>
                                        <p:attrNameLst>
                                          <p:attrName>style.visibility</p:attrName>
                                        </p:attrNameLst>
                                      </p:cBhvr>
                                      <p:to>
                                        <p:strVal val="visible"/>
                                      </p:to>
                                    </p:set>
                                    <p:animEffect transition="in" filter="fade">
                                      <p:cBhvr>
                                        <p:cTn id="7" dur="1000"/>
                                        <p:tgtEl>
                                          <p:spTgt spid="1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148"/>
                                        </p:tgtEl>
                                        <p:attrNameLst>
                                          <p:attrName>style.visibility</p:attrName>
                                        </p:attrNameLst>
                                      </p:cBhvr>
                                      <p:to>
                                        <p:strVal val="visible"/>
                                      </p:to>
                                    </p:set>
                                    <p:animEffect transition="in" filter="fade">
                                      <p:cBhvr>
                                        <p:cTn id="12" dur="1000"/>
                                        <p:tgtEl>
                                          <p:spTgt spid="1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149"/>
                                        </p:tgtEl>
                                        <p:attrNameLst>
                                          <p:attrName>style.visibility</p:attrName>
                                        </p:attrNameLst>
                                      </p:cBhvr>
                                      <p:to>
                                        <p:strVal val="visible"/>
                                      </p:to>
                                    </p:set>
                                    <p:animEffect transition="in" filter="fade">
                                      <p:cBhvr>
                                        <p:cTn id="17" dur="1000"/>
                                        <p:tgtEl>
                                          <p:spTgt spid="14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150"/>
                                        </p:tgtEl>
                                        <p:attrNameLst>
                                          <p:attrName>style.visibility</p:attrName>
                                        </p:attrNameLst>
                                      </p:cBhvr>
                                      <p:to>
                                        <p:strVal val="visible"/>
                                      </p:to>
                                    </p:set>
                                    <p:animEffect transition="in" filter="fade">
                                      <p:cBhvr>
                                        <p:cTn id="22" dur="10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 grpId="1" animBg="1" advAuto="0"/>
      <p:bldP spid="148" grpId="2" animBg="1" advAuto="0"/>
      <p:bldP spid="149" grpId="3" animBg="1" advAuto="0"/>
      <p:bldP spid="150" grpId="4"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14</a:t>
            </a:fld>
            <a:endParaRPr/>
          </a:p>
        </p:txBody>
      </p:sp>
      <p:sp>
        <p:nvSpPr>
          <p:cNvPr id="153" name="Pull Requests"/>
          <p:cNvSpPr txBox="1">
            <a:spLocks noGrp="1"/>
          </p:cNvSpPr>
          <p:nvPr>
            <p:ph type="title"/>
          </p:nvPr>
        </p:nvSpPr>
        <p:spPr>
          <a:prstGeom prst="rect">
            <a:avLst/>
          </a:prstGeom>
        </p:spPr>
        <p:txBody>
          <a:bodyPr/>
          <a:lstStyle/>
          <a:p>
            <a:r>
              <a:t>Pull Requests</a:t>
            </a:r>
          </a:p>
        </p:txBody>
      </p:sp>
      <p:sp>
        <p:nvSpPr>
          <p:cNvPr id="154" name="When working in a team, you should approach Pull Requests as a team."/>
          <p:cNvSpPr txBox="1"/>
          <p:nvPr/>
        </p:nvSpPr>
        <p:spPr>
          <a:xfrm>
            <a:off x="73638" y="952500"/>
            <a:ext cx="12857524" cy="5207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100">
                <a:solidFill>
                  <a:srgbClr val="000004"/>
                </a:solidFill>
                <a:latin typeface="Franklin Gothic Medium"/>
                <a:ea typeface="Franklin Gothic Medium"/>
                <a:cs typeface="Franklin Gothic Medium"/>
                <a:sym typeface="Franklin Gothic Medium"/>
              </a:defRPr>
            </a:lvl1pPr>
          </a:lstStyle>
          <a:p>
            <a:r>
              <a:t>When working in a team, you should approach Pull Requests as a team.</a:t>
            </a:r>
          </a:p>
        </p:txBody>
      </p:sp>
      <p:sp>
        <p:nvSpPr>
          <p:cNvPr id="155" name="That is to say, that you shouldn't make a Pull Request, approve your own pull request, and then finalize the pull request by merging the branches."/>
          <p:cNvSpPr txBox="1"/>
          <p:nvPr/>
        </p:nvSpPr>
        <p:spPr>
          <a:xfrm>
            <a:off x="127000" y="2152453"/>
            <a:ext cx="12750801"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That is to say, that you shouldn't make a Pull Request, approve your own pull request, and then finalize the pull request by merging the branches.</a:t>
            </a:r>
          </a:p>
        </p:txBody>
      </p:sp>
      <p:sp>
        <p:nvSpPr>
          <p:cNvPr id="156" name="Ideally, one person should propose the Pull Request; other people should review and approve the request, and then a designated individual will then complete the merge."/>
          <p:cNvSpPr txBox="1"/>
          <p:nvPr/>
        </p:nvSpPr>
        <p:spPr>
          <a:xfrm>
            <a:off x="127000" y="3994356"/>
            <a:ext cx="12750800"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Ideally, one person should propose the Pull Request; other people should review and approve the request, and then a designated individual will then complete the merge.</a:t>
            </a:r>
          </a:p>
        </p:txBody>
      </p:sp>
      <p:sp>
        <p:nvSpPr>
          <p:cNvPr id="157" name="In the Shiny App Program, we require a student to get two approving reviews by other students before the code director (Neil) completes the merge and deploys the new version of the app for the world to use."/>
          <p:cNvSpPr txBox="1"/>
          <p:nvPr/>
        </p:nvSpPr>
        <p:spPr>
          <a:xfrm>
            <a:off x="229029" y="6403155"/>
            <a:ext cx="12546742"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In the Shiny App Program, we require a student to get two approving reviews by other students before the code director (Neil) completes the merge and deploys the new version of the app for the world to use.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155"/>
                                        </p:tgtEl>
                                        <p:attrNameLst>
                                          <p:attrName>style.visibility</p:attrName>
                                        </p:attrNameLst>
                                      </p:cBhvr>
                                      <p:to>
                                        <p:strVal val="visible"/>
                                      </p:to>
                                    </p:set>
                                    <p:animEffect transition="in" filter="fade">
                                      <p:cBhvr>
                                        <p:cTn id="7" dur="1000"/>
                                        <p:tgtEl>
                                          <p:spTgt spid="1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156"/>
                                        </p:tgtEl>
                                        <p:attrNameLst>
                                          <p:attrName>style.visibility</p:attrName>
                                        </p:attrNameLst>
                                      </p:cBhvr>
                                      <p:to>
                                        <p:strVal val="visible"/>
                                      </p:to>
                                    </p:set>
                                    <p:animEffect transition="in" filter="fade">
                                      <p:cBhvr>
                                        <p:cTn id="12" dur="1000"/>
                                        <p:tgtEl>
                                          <p:spTgt spid="15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157"/>
                                        </p:tgtEl>
                                        <p:attrNameLst>
                                          <p:attrName>style.visibility</p:attrName>
                                        </p:attrNameLst>
                                      </p:cBhvr>
                                      <p:to>
                                        <p:strVal val="visible"/>
                                      </p:to>
                                    </p:set>
                                    <p:animEffect transition="in" filter="fade">
                                      <p:cBhvr>
                                        <p:cTn id="17" dur="10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1" animBg="1" advAuto="0"/>
      <p:bldP spid="156" grpId="2" animBg="1" advAuto="0"/>
      <p:bldP spid="157" grpId="3"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15</a:t>
            </a:fld>
            <a:endParaRPr/>
          </a:p>
        </p:txBody>
      </p:sp>
      <p:sp>
        <p:nvSpPr>
          <p:cNvPr id="160" name="Updating Branches from Main"/>
          <p:cNvSpPr txBox="1">
            <a:spLocks noGrp="1"/>
          </p:cNvSpPr>
          <p:nvPr>
            <p:ph type="title"/>
          </p:nvPr>
        </p:nvSpPr>
        <p:spPr>
          <a:xfrm>
            <a:off x="1771863" y="4233"/>
            <a:ext cx="9461073" cy="885826"/>
          </a:xfrm>
          <a:prstGeom prst="rect">
            <a:avLst/>
          </a:prstGeom>
        </p:spPr>
        <p:txBody>
          <a:bodyPr/>
          <a:lstStyle/>
          <a:p>
            <a:r>
              <a:t>Updating Branches from Main</a:t>
            </a:r>
          </a:p>
        </p:txBody>
      </p:sp>
      <p:sp>
        <p:nvSpPr>
          <p:cNvPr id="161" name="As people work on their separate dev branches, the main branch may periodically get updates."/>
          <p:cNvSpPr txBox="1"/>
          <p:nvPr/>
        </p:nvSpPr>
        <p:spPr>
          <a:xfrm>
            <a:off x="73638" y="990600"/>
            <a:ext cx="12857524" cy="965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100">
                <a:solidFill>
                  <a:srgbClr val="000004"/>
                </a:solidFill>
                <a:latin typeface="Franklin Gothic Medium"/>
                <a:ea typeface="Franklin Gothic Medium"/>
                <a:cs typeface="Franklin Gothic Medium"/>
                <a:sym typeface="Franklin Gothic Medium"/>
              </a:defRPr>
            </a:lvl1pPr>
          </a:lstStyle>
          <a:p>
            <a:r>
              <a:t>As people work on their separate dev branches, the main branch may periodically get updates.</a:t>
            </a:r>
          </a:p>
        </p:txBody>
      </p:sp>
      <p:sp>
        <p:nvSpPr>
          <p:cNvPr id="162" name="A good practice to adopt is that when a Pull Request to the main branch is finalized and merged, to let the team know."/>
          <p:cNvSpPr txBox="1"/>
          <p:nvPr/>
        </p:nvSpPr>
        <p:spPr>
          <a:xfrm>
            <a:off x="127000" y="2288691"/>
            <a:ext cx="12750801"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A good practice to adopt is that when a Pull Request to the main branch is finalized and merged, to let the team know.</a:t>
            </a:r>
          </a:p>
        </p:txBody>
      </p:sp>
      <p:sp>
        <p:nvSpPr>
          <p:cNvPr id="163" name="They can then use the Update command from the Branch menu in GitHub Desktop to update the code base of their dev branch."/>
          <p:cNvSpPr txBox="1"/>
          <p:nvPr/>
        </p:nvSpPr>
        <p:spPr>
          <a:xfrm>
            <a:off x="127000" y="3840782"/>
            <a:ext cx="12750800"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They can then use the Update command from the Branch menu in GitHub Desktop to update the code base of their dev branch.</a:t>
            </a:r>
          </a:p>
        </p:txBody>
      </p:sp>
      <p:sp>
        <p:nvSpPr>
          <p:cNvPr id="164" name="When dealing with Pull Requests and Updates, you can encounter Merge Conflicts. These happen when Git sees two different sets of changes for the same line and wants you to manually resolve them."/>
          <p:cNvSpPr txBox="1"/>
          <p:nvPr/>
        </p:nvSpPr>
        <p:spPr>
          <a:xfrm>
            <a:off x="229029" y="5392873"/>
            <a:ext cx="12546742"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When dealing with Pull Requests and Updates, you can encounter Merge Conflicts. These happen when Git sees two different sets of changes for the same line and wants you to manually resolve them.</a:t>
            </a:r>
          </a:p>
        </p:txBody>
      </p:sp>
      <p:sp>
        <p:nvSpPr>
          <p:cNvPr id="165" name="If and when these happen for you in this course, we will work with your team to explore how to address these issues."/>
          <p:cNvSpPr txBox="1"/>
          <p:nvPr/>
        </p:nvSpPr>
        <p:spPr>
          <a:xfrm>
            <a:off x="229029" y="7610014"/>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If and when these happen for you in this course, we will work with your team to explore how to address these issues.</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162"/>
                                        </p:tgtEl>
                                        <p:attrNameLst>
                                          <p:attrName>style.visibility</p:attrName>
                                        </p:attrNameLst>
                                      </p:cBhvr>
                                      <p:to>
                                        <p:strVal val="visible"/>
                                      </p:to>
                                    </p:set>
                                    <p:animEffect transition="in" filter="fade">
                                      <p:cBhvr>
                                        <p:cTn id="7" dur="1000"/>
                                        <p:tgtEl>
                                          <p:spTgt spid="1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163"/>
                                        </p:tgtEl>
                                        <p:attrNameLst>
                                          <p:attrName>style.visibility</p:attrName>
                                        </p:attrNameLst>
                                      </p:cBhvr>
                                      <p:to>
                                        <p:strVal val="visible"/>
                                      </p:to>
                                    </p:set>
                                    <p:animEffect transition="in" filter="fade">
                                      <p:cBhvr>
                                        <p:cTn id="12" dur="1000"/>
                                        <p:tgtEl>
                                          <p:spTgt spid="1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164"/>
                                        </p:tgtEl>
                                        <p:attrNameLst>
                                          <p:attrName>style.visibility</p:attrName>
                                        </p:attrNameLst>
                                      </p:cBhvr>
                                      <p:to>
                                        <p:strVal val="visible"/>
                                      </p:to>
                                    </p:set>
                                    <p:animEffect transition="in" filter="fade">
                                      <p:cBhvr>
                                        <p:cTn id="17" dur="1000"/>
                                        <p:tgtEl>
                                          <p:spTgt spid="16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165"/>
                                        </p:tgtEl>
                                        <p:attrNameLst>
                                          <p:attrName>style.visibility</p:attrName>
                                        </p:attrNameLst>
                                      </p:cBhvr>
                                      <p:to>
                                        <p:strVal val="visible"/>
                                      </p:to>
                                    </p:set>
                                    <p:animEffect transition="in" filter="fade">
                                      <p:cBhvr>
                                        <p:cTn id="22" dur="10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 grpId="1" animBg="1" advAuto="0"/>
      <p:bldP spid="163" grpId="2" animBg="1" advAuto="0"/>
      <p:bldP spid="164" grpId="3" animBg="1" advAuto="0"/>
      <p:bldP spid="165" grpId="4"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sp>
        <p:nvSpPr>
          <p:cNvPr id="168" name="Homework"/>
          <p:cNvSpPr txBox="1">
            <a:spLocks noGrp="1"/>
          </p:cNvSpPr>
          <p:nvPr>
            <p:ph type="title"/>
          </p:nvPr>
        </p:nvSpPr>
        <p:spPr>
          <a:prstGeom prst="rect">
            <a:avLst/>
          </a:prstGeom>
        </p:spPr>
        <p:txBody>
          <a:bodyPr/>
          <a:lstStyle/>
          <a:p>
            <a:r>
              <a:t>Homework</a:t>
            </a:r>
          </a:p>
        </p:txBody>
      </p:sp>
      <p:sp>
        <p:nvSpPr>
          <p:cNvPr id="169" name="Assignments…"/>
          <p:cNvSpPr txBox="1"/>
          <p:nvPr/>
        </p:nvSpPr>
        <p:spPr>
          <a:xfrm>
            <a:off x="280731" y="2114347"/>
            <a:ext cx="11969204" cy="2844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a:defRPr sz="3200">
                <a:solidFill>
                  <a:srgbClr val="000004"/>
                </a:solidFill>
                <a:latin typeface="Franklin Gothic Medium"/>
                <a:ea typeface="Franklin Gothic Medium"/>
                <a:cs typeface="Franklin Gothic Medium"/>
                <a:sym typeface="Franklin Gothic Medium"/>
              </a:defRPr>
            </a:pPr>
            <a:r>
              <a:t>Assignments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HW #4.3: Reproducible Data Analysis</a:t>
            </a:r>
          </a:p>
          <a:p>
            <a:pPr marL="1465384" lvl="1" indent="-703384" algn="l">
              <a:buSzPct val="171000"/>
              <a:buChar char="•"/>
              <a:defRPr sz="3200">
                <a:solidFill>
                  <a:srgbClr val="000004"/>
                </a:solidFill>
                <a:latin typeface="Franklin Gothic Medium"/>
                <a:ea typeface="Franklin Gothic Medium"/>
                <a:cs typeface="Franklin Gothic Medium"/>
                <a:sym typeface="Franklin Gothic Medium"/>
              </a:defRPr>
            </a:pPr>
            <a:r>
              <a:t>Due by 11:59pm, Monday, April 13, 2026</a:t>
            </a:r>
          </a:p>
          <a:p>
            <a:pPr marL="1465384" lvl="1" indent="-703384" algn="l">
              <a:buSzPct val="171000"/>
              <a:buChar char="•"/>
              <a:defRPr sz="3200">
                <a:solidFill>
                  <a:srgbClr val="000004"/>
                </a:solidFill>
                <a:latin typeface="Franklin Gothic Medium"/>
                <a:ea typeface="Franklin Gothic Medium"/>
                <a:cs typeface="Franklin Gothic Medium"/>
                <a:sym typeface="Franklin Gothic Medium"/>
              </a:defRPr>
            </a:pPr>
            <a:r>
              <a:t>Be sure to review the rubrics and the info questions</a:t>
            </a:r>
          </a:p>
          <a:p>
            <a:pPr marL="1465384" lvl="1" indent="-703384" algn="l">
              <a:buSzPct val="171000"/>
              <a:buChar char="•"/>
              <a:defRPr sz="3200">
                <a:solidFill>
                  <a:srgbClr val="000004"/>
                </a:solidFill>
                <a:latin typeface="Franklin Gothic Medium"/>
                <a:ea typeface="Franklin Gothic Medium"/>
                <a:cs typeface="Franklin Gothic Medium"/>
                <a:sym typeface="Franklin Gothic Medium"/>
              </a:defRPr>
            </a:pPr>
            <a:r>
              <a:t>There is a separate submission portal for uploading your rendered PDF.</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Plan for the Day"/>
          <p:cNvSpPr txBox="1">
            <a:spLocks noGrp="1"/>
          </p:cNvSpPr>
          <p:nvPr>
            <p:ph type="title"/>
          </p:nvPr>
        </p:nvSpPr>
        <p:spPr>
          <a:prstGeom prst="rect">
            <a:avLst/>
          </a:prstGeom>
        </p:spPr>
        <p:txBody>
          <a:bodyPr/>
          <a:lstStyle/>
          <a:p>
            <a:r>
              <a:t>Plan for the Day</a:t>
            </a:r>
          </a:p>
        </p:txBody>
      </p:sp>
      <p:sp>
        <p:nvSpPr>
          <p:cNvPr id="172" name="Slide Number"/>
          <p:cNvSpPr txBox="1">
            <a:spLocks noGrp="1"/>
          </p:cNvSpPr>
          <p:nvPr>
            <p:ph type="sldNum" sz="quarter" idx="2"/>
          </p:nvPr>
        </p:nvSpPr>
        <p:spPr>
          <a:xfrm>
            <a:off x="6345870" y="9369954"/>
            <a:ext cx="313060" cy="2565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a:p>
        </p:txBody>
      </p:sp>
      <p:sp>
        <p:nvSpPr>
          <p:cNvPr id="173" name="Goals"/>
          <p:cNvSpPr txBox="1"/>
          <p:nvPr/>
        </p:nvSpPr>
        <p:spPr>
          <a:xfrm>
            <a:off x="101599" y="698500"/>
            <a:ext cx="1068389"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r>
              <a:t>Goals</a:t>
            </a:r>
          </a:p>
        </p:txBody>
      </p:sp>
      <p:sp>
        <p:nvSpPr>
          <p:cNvPr id="174" name="Students will develop ways of thinking that make use of R's computing power to solve problems. (CT.1)…"/>
          <p:cNvSpPr txBox="1"/>
          <p:nvPr/>
        </p:nvSpPr>
        <p:spPr>
          <a:xfrm>
            <a:off x="220265" y="1096433"/>
            <a:ext cx="12564270" cy="353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ways of thinking that make use of R's computing power to solve problems. (CT.1)</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skills in programming with statistical software. (Prog.4, Prog.5, Prog.6)</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skills in creating reproducible code and data analyses. (Repro.1, Repro.2, Repro.4)</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professional identity through self-reflection and working with others. (Prof.2, Prof.4)</a:t>
            </a:r>
          </a:p>
        </p:txBody>
      </p:sp>
      <p:sp>
        <p:nvSpPr>
          <p:cNvPr id="175" name="Needs: signal cups, notes"/>
          <p:cNvSpPr txBox="1"/>
          <p:nvPr/>
        </p:nvSpPr>
        <p:spPr>
          <a:xfrm>
            <a:off x="140758" y="5034227"/>
            <a:ext cx="4484688"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p>
            <a:pPr algn="l">
              <a:defRPr sz="3200">
                <a:solidFill>
                  <a:srgbClr val="008900"/>
                </a:solidFill>
                <a:latin typeface="Franklin Gothic Medium"/>
                <a:ea typeface="Franklin Gothic Medium"/>
                <a:cs typeface="Franklin Gothic Medium"/>
                <a:sym typeface="Franklin Gothic Medium"/>
              </a:defRPr>
            </a:pPr>
            <a:r>
              <a:t>Needs: </a:t>
            </a:r>
            <a:r>
              <a:rPr>
                <a:solidFill>
                  <a:srgbClr val="000004"/>
                </a:solidFill>
              </a:rPr>
              <a:t>signal cups, notes</a:t>
            </a:r>
          </a:p>
        </p:txBody>
      </p:sp>
      <p:sp>
        <p:nvSpPr>
          <p:cNvPr id="176" name="Steps"/>
          <p:cNvSpPr txBox="1"/>
          <p:nvPr/>
        </p:nvSpPr>
        <p:spPr>
          <a:xfrm>
            <a:off x="105171" y="5974820"/>
            <a:ext cx="1061245"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r>
              <a:t>Steps</a:t>
            </a:r>
          </a:p>
        </p:txBody>
      </p:sp>
      <p:sp>
        <p:nvSpPr>
          <p:cNvPr id="177" name="The README for your Repos…"/>
          <p:cNvSpPr txBox="1"/>
          <p:nvPr/>
        </p:nvSpPr>
        <p:spPr>
          <a:xfrm>
            <a:off x="187433" y="6516290"/>
            <a:ext cx="7616780" cy="1905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08000" indent="-508000" algn="l">
              <a:buSzPct val="100000"/>
              <a:buAutoNum type="arabicPeriod"/>
              <a:defRPr sz="3200">
                <a:solidFill>
                  <a:srgbClr val="000004"/>
                </a:solidFill>
                <a:latin typeface="Franklin Gothic Medium"/>
                <a:ea typeface="Franklin Gothic Medium"/>
                <a:cs typeface="Franklin Gothic Medium"/>
                <a:sym typeface="Franklin Gothic Medium"/>
              </a:defRPr>
            </a:pPr>
            <a:r>
              <a:t>The README for your Repos</a:t>
            </a:r>
          </a:p>
          <a:p>
            <a:pPr marL="508000" indent="-508000" algn="l">
              <a:buSzPct val="100000"/>
              <a:buAutoNum type="arabicPeriod"/>
              <a:defRPr sz="3200">
                <a:solidFill>
                  <a:srgbClr val="000004"/>
                </a:solidFill>
                <a:latin typeface="Franklin Gothic Medium"/>
                <a:ea typeface="Franklin Gothic Medium"/>
                <a:cs typeface="Franklin Gothic Medium"/>
                <a:sym typeface="Franklin Gothic Medium"/>
              </a:defRPr>
            </a:pPr>
            <a:r>
              <a:t>Issues in GitHub</a:t>
            </a:r>
          </a:p>
          <a:p>
            <a:pPr marL="508000" indent="-508000" algn="l">
              <a:buSzPct val="100000"/>
              <a:buAutoNum type="arabicPeriod"/>
              <a:defRPr sz="3200">
                <a:solidFill>
                  <a:srgbClr val="000004"/>
                </a:solidFill>
                <a:latin typeface="Franklin Gothic Medium"/>
                <a:ea typeface="Franklin Gothic Medium"/>
                <a:cs typeface="Franklin Gothic Medium"/>
                <a:sym typeface="Franklin Gothic Medium"/>
              </a:defRPr>
            </a:pPr>
            <a:r>
              <a:t>Coming Full Circle</a:t>
            </a:r>
          </a:p>
          <a:p>
            <a:pPr marL="508000" indent="-508000" algn="l">
              <a:buSzPct val="100000"/>
              <a:buAutoNum type="arabicPeriod"/>
              <a:defRPr sz="3200">
                <a:solidFill>
                  <a:srgbClr val="000004"/>
                </a:solidFill>
                <a:latin typeface="Franklin Gothic Medium"/>
                <a:ea typeface="Franklin Gothic Medium"/>
                <a:cs typeface="Franklin Gothic Medium"/>
                <a:sym typeface="Franklin Gothic Medium"/>
              </a:defRPr>
            </a:pPr>
            <a:r>
              <a:t>GitHub Practice</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The README"/>
          <p:cNvSpPr txBox="1">
            <a:spLocks noGrp="1"/>
          </p:cNvSpPr>
          <p:nvPr>
            <p:ph type="ctrTitle"/>
          </p:nvPr>
        </p:nvSpPr>
        <p:spPr>
          <a:xfrm>
            <a:off x="2100592" y="2414058"/>
            <a:ext cx="8803616" cy="2476501"/>
          </a:xfrm>
          <a:prstGeom prst="rect">
            <a:avLst/>
          </a:prstGeom>
        </p:spPr>
        <p:txBody>
          <a:bodyPr/>
          <a:lstStyle/>
          <a:p>
            <a:r>
              <a:t>The README</a:t>
            </a:r>
          </a:p>
        </p:txBody>
      </p:sp>
      <p:sp>
        <p:nvSpPr>
          <p:cNvPr id="18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18</a:t>
            </a:fld>
            <a:endParaRPr/>
          </a:p>
        </p:txBody>
      </p:sp>
      <p:sp>
        <p:nvSpPr>
          <p:cNvPr id="181" name="Unit 4"/>
          <p:cNvSpPr txBox="1">
            <a:spLocks noGrp="1"/>
          </p:cNvSpPr>
          <p:nvPr>
            <p:ph type="subTitle" sz="quarter" idx="1"/>
          </p:nvPr>
        </p:nvSpPr>
        <p:spPr>
          <a:prstGeom prst="rect">
            <a:avLst/>
          </a:prstGeom>
        </p:spPr>
        <p:txBody>
          <a:bodyPr/>
          <a:lstStyle/>
          <a:p>
            <a:r>
              <a:t>Unit 4</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19</a:t>
            </a:fld>
            <a:endParaRPr/>
          </a:p>
        </p:txBody>
      </p:sp>
      <p:sp>
        <p:nvSpPr>
          <p:cNvPr id="184" name="README"/>
          <p:cNvSpPr txBox="1">
            <a:spLocks noGrp="1"/>
          </p:cNvSpPr>
          <p:nvPr>
            <p:ph type="title"/>
          </p:nvPr>
        </p:nvSpPr>
        <p:spPr>
          <a:prstGeom prst="rect">
            <a:avLst/>
          </a:prstGeom>
        </p:spPr>
        <p:txBody>
          <a:bodyPr/>
          <a:lstStyle/>
          <a:p>
            <a:r>
              <a:t>README</a:t>
            </a:r>
          </a:p>
        </p:txBody>
      </p:sp>
      <p:sp>
        <p:nvSpPr>
          <p:cNvPr id="185" name="The README file is a special file in every repo."/>
          <p:cNvSpPr txBox="1"/>
          <p:nvPr/>
        </p:nvSpPr>
        <p:spPr>
          <a:xfrm>
            <a:off x="73638" y="906838"/>
            <a:ext cx="12857524"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The README file is a special file in every repo.</a:t>
            </a:r>
          </a:p>
        </p:txBody>
      </p:sp>
      <p:sp>
        <p:nvSpPr>
          <p:cNvPr id="186" name="When you (or someone else) visits your repo on Web, GitHub will display the contents of the README file. Thus, you can think of the README as your front/cover page of your repo/project."/>
          <p:cNvSpPr txBox="1"/>
          <p:nvPr/>
        </p:nvSpPr>
        <p:spPr>
          <a:xfrm>
            <a:off x="127000" y="1606527"/>
            <a:ext cx="12546742"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When you (or someone else) visits your repo on Web, GitHub will display the contents of the README file. Thus, you can think of the README as </a:t>
            </a:r>
            <a:r>
              <a:rPr>
                <a:solidFill>
                  <a:srgbClr val="008900"/>
                </a:solidFill>
              </a:rPr>
              <a:t>your front/cover page of your repo/project</a:t>
            </a:r>
            <a:r>
              <a:t>.</a:t>
            </a:r>
          </a:p>
        </p:txBody>
      </p:sp>
      <p:sp>
        <p:nvSpPr>
          <p:cNvPr id="187" name="Ideally, your README should be lightweight (i.e., not full reports) and easy to digest. They should allow a visitor to quickly learn..."/>
          <p:cNvSpPr txBox="1"/>
          <p:nvPr/>
        </p:nvSpPr>
        <p:spPr>
          <a:xfrm>
            <a:off x="127000" y="3321529"/>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Ideally, your README should be lightweight (i.e., not full reports) and easy to digest. They should allow a visitor to quickly learn...</a:t>
            </a:r>
          </a:p>
        </p:txBody>
      </p:sp>
      <p:sp>
        <p:nvSpPr>
          <p:cNvPr id="188" name="What the repo/project is about…"/>
          <p:cNvSpPr txBox="1"/>
          <p:nvPr/>
        </p:nvSpPr>
        <p:spPr>
          <a:xfrm>
            <a:off x="127000" y="4444999"/>
            <a:ext cx="12546742" cy="2362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What the repo/project is about</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Where the data come from</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What's the current plan</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How is the repo organized</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Contact information</a:t>
            </a:r>
          </a:p>
        </p:txBody>
      </p:sp>
      <p:sp>
        <p:nvSpPr>
          <p:cNvPr id="189" name="The README.md file should live at the top level of your repo and can be open/edited with any plain text editor (including RStudio). They are Markdown files so you can use that syntax for formatting the text."/>
          <p:cNvSpPr txBox="1"/>
          <p:nvPr/>
        </p:nvSpPr>
        <p:spPr>
          <a:xfrm>
            <a:off x="127000" y="7364677"/>
            <a:ext cx="12546742"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The README.md file should live at the top level of your repo and can be open/edited with any plain text editor (including RStudio). They are Markdown files so you can use that syntax for formatting the text.</a:t>
            </a:r>
          </a:p>
        </p:txBody>
      </p:sp>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186"/>
                                        </p:tgtEl>
                                        <p:attrNameLst>
                                          <p:attrName>style.visibility</p:attrName>
                                        </p:attrNameLst>
                                      </p:cBhvr>
                                      <p:to>
                                        <p:strVal val="visible"/>
                                      </p:to>
                                    </p:set>
                                    <p:animEffect transition="in" filter="fade">
                                      <p:cBhvr>
                                        <p:cTn id="7" dur="1000"/>
                                        <p:tgtEl>
                                          <p:spTgt spid="1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187"/>
                                        </p:tgtEl>
                                        <p:attrNameLst>
                                          <p:attrName>style.visibility</p:attrName>
                                        </p:attrNameLst>
                                      </p:cBhvr>
                                      <p:to>
                                        <p:strVal val="visible"/>
                                      </p:to>
                                    </p:set>
                                    <p:animEffect transition="in" filter="fade">
                                      <p:cBhvr>
                                        <p:cTn id="12" dur="1000"/>
                                        <p:tgtEl>
                                          <p:spTgt spid="18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188"/>
                                        </p:tgtEl>
                                        <p:attrNameLst>
                                          <p:attrName>style.visibility</p:attrName>
                                        </p:attrNameLst>
                                      </p:cBhvr>
                                      <p:to>
                                        <p:strVal val="visible"/>
                                      </p:to>
                                    </p:set>
                                    <p:animEffect transition="in" filter="fade">
                                      <p:cBhvr>
                                        <p:cTn id="17" dur="1000"/>
                                        <p:tgtEl>
                                          <p:spTgt spid="18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189"/>
                                        </p:tgtEl>
                                        <p:attrNameLst>
                                          <p:attrName>style.visibility</p:attrName>
                                        </p:attrNameLst>
                                      </p:cBhvr>
                                      <p:to>
                                        <p:strVal val="visible"/>
                                      </p:to>
                                    </p:set>
                                    <p:animEffect transition="in" filter="fade">
                                      <p:cBhvr>
                                        <p:cTn id="22" dur="1000"/>
                                        <p:tgtEl>
                                          <p:spTgt spid="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1" animBg="1" advAuto="0"/>
      <p:bldP spid="187" grpId="2" animBg="1" advAuto="0"/>
      <p:bldP spid="188" grpId="3" animBg="1" advAuto="0"/>
      <p:bldP spid="189" grpId="4"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20</a:t>
            </a:fld>
            <a:endParaRPr/>
          </a:p>
        </p:txBody>
      </p:sp>
      <p:sp>
        <p:nvSpPr>
          <p:cNvPr id="192" name="Create a README"/>
          <p:cNvSpPr txBox="1">
            <a:spLocks noGrp="1"/>
          </p:cNvSpPr>
          <p:nvPr>
            <p:ph type="title"/>
          </p:nvPr>
        </p:nvSpPr>
        <p:spPr>
          <a:prstGeom prst="rect">
            <a:avLst/>
          </a:prstGeom>
        </p:spPr>
        <p:txBody>
          <a:bodyPr/>
          <a:lstStyle/>
          <a:p>
            <a:r>
              <a:t>Create a README</a:t>
            </a:r>
          </a:p>
        </p:txBody>
      </p:sp>
      <p:sp>
        <p:nvSpPr>
          <p:cNvPr id="193" name="Let's return to our practice repo and create a README."/>
          <p:cNvSpPr txBox="1"/>
          <p:nvPr/>
        </p:nvSpPr>
        <p:spPr>
          <a:xfrm>
            <a:off x="73638" y="906838"/>
            <a:ext cx="12857524"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Let's return to our practice repo and create a README.</a:t>
            </a:r>
          </a:p>
        </p:txBody>
      </p:sp>
      <p:sp>
        <p:nvSpPr>
          <p:cNvPr id="194" name="Here's the bullet list."/>
          <p:cNvSpPr txBox="1"/>
          <p:nvPr/>
        </p:nvSpPr>
        <p:spPr>
          <a:xfrm>
            <a:off x="127000" y="1946908"/>
            <a:ext cx="12546742"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Here's the bullet list. </a:t>
            </a:r>
          </a:p>
        </p:txBody>
      </p:sp>
      <p:sp>
        <p:nvSpPr>
          <p:cNvPr id="195" name="What the repo/project is about…"/>
          <p:cNvSpPr txBox="1"/>
          <p:nvPr/>
        </p:nvSpPr>
        <p:spPr>
          <a:xfrm>
            <a:off x="127000" y="2479597"/>
            <a:ext cx="12546742" cy="2362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What the repo/project is about</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Where the data come from</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What's the current plan</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How is the repo organized</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Contact information</a:t>
            </a:r>
          </a:p>
        </p:txBody>
      </p:sp>
      <p:sp>
        <p:nvSpPr>
          <p:cNvPr id="196" name="When you're done editing, make a commit and push your updated README to the server."/>
          <p:cNvSpPr txBox="1"/>
          <p:nvPr/>
        </p:nvSpPr>
        <p:spPr>
          <a:xfrm>
            <a:off x="127000" y="5881157"/>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When you're done editing, make a commit and push your updated README to the server.</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194"/>
                                        </p:tgtEl>
                                        <p:attrNameLst>
                                          <p:attrName>style.visibility</p:attrName>
                                        </p:attrNameLst>
                                      </p:cBhvr>
                                      <p:to>
                                        <p:strVal val="visible"/>
                                      </p:to>
                                    </p:set>
                                    <p:animEffect transition="in" filter="fade">
                                      <p:cBhvr>
                                        <p:cTn id="7" dur="1000"/>
                                        <p:tgtEl>
                                          <p:spTgt spid="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195"/>
                                        </p:tgtEl>
                                        <p:attrNameLst>
                                          <p:attrName>style.visibility</p:attrName>
                                        </p:attrNameLst>
                                      </p:cBhvr>
                                      <p:to>
                                        <p:strVal val="visible"/>
                                      </p:to>
                                    </p:set>
                                    <p:animEffect transition="in" filter="fade">
                                      <p:cBhvr>
                                        <p:cTn id="12" dur="1000"/>
                                        <p:tgtEl>
                                          <p:spTgt spid="19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196"/>
                                        </p:tgtEl>
                                        <p:attrNameLst>
                                          <p:attrName>style.visibility</p:attrName>
                                        </p:attrNameLst>
                                      </p:cBhvr>
                                      <p:to>
                                        <p:strVal val="visible"/>
                                      </p:to>
                                    </p:set>
                                    <p:animEffect transition="in" filter="fade">
                                      <p:cBhvr>
                                        <p:cTn id="17" dur="1000"/>
                                        <p:tgtEl>
                                          <p:spTgt spid="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1" animBg="1" advAuto="0"/>
      <p:bldP spid="195" grpId="2" animBg="1" advAuto="0"/>
      <p:bldP spid="196" grpId="3"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Issues in GitHub"/>
          <p:cNvSpPr txBox="1">
            <a:spLocks noGrp="1"/>
          </p:cNvSpPr>
          <p:nvPr>
            <p:ph type="ctrTitle"/>
          </p:nvPr>
        </p:nvSpPr>
        <p:spPr>
          <a:xfrm>
            <a:off x="3363569" y="2414058"/>
            <a:ext cx="6277661" cy="2476501"/>
          </a:xfrm>
          <a:prstGeom prst="rect">
            <a:avLst/>
          </a:prstGeom>
        </p:spPr>
        <p:txBody>
          <a:bodyPr/>
          <a:lstStyle/>
          <a:p>
            <a:r>
              <a:t>Issues in GitHub</a:t>
            </a:r>
          </a:p>
        </p:txBody>
      </p:sp>
      <p:sp>
        <p:nvSpPr>
          <p:cNvPr id="19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21</a:t>
            </a:fld>
            <a:endParaRPr/>
          </a:p>
        </p:txBody>
      </p:sp>
      <p:sp>
        <p:nvSpPr>
          <p:cNvPr id="200" name="Unit 4"/>
          <p:cNvSpPr txBox="1">
            <a:spLocks noGrp="1"/>
          </p:cNvSpPr>
          <p:nvPr>
            <p:ph type="subTitle" sz="quarter" idx="1"/>
          </p:nvPr>
        </p:nvSpPr>
        <p:spPr>
          <a:prstGeom prst="rect">
            <a:avLst/>
          </a:prstGeom>
        </p:spPr>
        <p:txBody>
          <a:bodyPr/>
          <a:lstStyle/>
          <a:p>
            <a:r>
              <a:t>Unit 4</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22</a:t>
            </a:fld>
            <a:endParaRPr/>
          </a:p>
        </p:txBody>
      </p:sp>
      <p:sp>
        <p:nvSpPr>
          <p:cNvPr id="203" name="GitHub Issues"/>
          <p:cNvSpPr txBox="1">
            <a:spLocks noGrp="1"/>
          </p:cNvSpPr>
          <p:nvPr>
            <p:ph type="title"/>
          </p:nvPr>
        </p:nvSpPr>
        <p:spPr>
          <a:prstGeom prst="rect">
            <a:avLst/>
          </a:prstGeom>
        </p:spPr>
        <p:txBody>
          <a:bodyPr/>
          <a:lstStyle/>
          <a:p>
            <a:r>
              <a:t>GitHub Issues</a:t>
            </a:r>
          </a:p>
        </p:txBody>
      </p:sp>
      <p:sp>
        <p:nvSpPr>
          <p:cNvPr id="204" name="One of the most powerful elements of GitHub is the Issues page that exists for every repo."/>
          <p:cNvSpPr txBox="1"/>
          <p:nvPr/>
        </p:nvSpPr>
        <p:spPr>
          <a:xfrm>
            <a:off x="127000" y="1221045"/>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One of the most powerful elements of GitHub is the </a:t>
            </a:r>
            <a:r>
              <a:rPr>
                <a:solidFill>
                  <a:srgbClr val="1D2FEB"/>
                </a:solidFill>
              </a:rPr>
              <a:t>Issues</a:t>
            </a:r>
            <a:r>
              <a:t> page that exists for every repo.</a:t>
            </a:r>
          </a:p>
        </p:txBody>
      </p:sp>
      <p:sp>
        <p:nvSpPr>
          <p:cNvPr id="205" name="Issues allow you to plan, discuss, and track work across the project and all contributors."/>
          <p:cNvSpPr txBox="1"/>
          <p:nvPr/>
        </p:nvSpPr>
        <p:spPr>
          <a:xfrm>
            <a:off x="127000" y="2477422"/>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1D2FEB"/>
                </a:solidFill>
                <a:latin typeface="Franklin Gothic Medium"/>
                <a:ea typeface="Franklin Gothic Medium"/>
                <a:cs typeface="Franklin Gothic Medium"/>
                <a:sym typeface="Franklin Gothic Medium"/>
              </a:defRPr>
            </a:lvl1pPr>
          </a:lstStyle>
          <a:p>
            <a:r>
              <a:t>Issues allow you to plan, discuss, and track work across the project and all contributors.</a:t>
            </a:r>
          </a:p>
        </p:txBody>
      </p:sp>
      <p:sp>
        <p:nvSpPr>
          <p:cNvPr id="206" name="When you create an Issue on the repo, you must give the issue a title and a description."/>
          <p:cNvSpPr txBox="1"/>
          <p:nvPr/>
        </p:nvSpPr>
        <p:spPr>
          <a:xfrm>
            <a:off x="127000" y="3915439"/>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When you create an Issue on the repo, you must give the issue a title and a description.</a:t>
            </a:r>
          </a:p>
        </p:txBody>
      </p:sp>
      <p:sp>
        <p:nvSpPr>
          <p:cNvPr id="207" name="However, you can also add the following:…"/>
          <p:cNvSpPr txBox="1"/>
          <p:nvPr/>
        </p:nvSpPr>
        <p:spPr>
          <a:xfrm>
            <a:off x="229029" y="5187488"/>
            <a:ext cx="12546742" cy="1905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However, you can also add the following:</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Assignees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Labels (e.g., bug, documentation, help wanted, question, etc.)</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Type (e.g., Bug, Feature, Task)</a:t>
            </a:r>
          </a:p>
        </p:txBody>
      </p:sp>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05"/>
                                        </p:tgtEl>
                                        <p:attrNameLst>
                                          <p:attrName>style.visibility</p:attrName>
                                        </p:attrNameLst>
                                      </p:cBhvr>
                                      <p:to>
                                        <p:strVal val="visible"/>
                                      </p:to>
                                    </p:set>
                                    <p:animEffect transition="in" filter="fade">
                                      <p:cBhvr>
                                        <p:cTn id="7" dur="1000"/>
                                        <p:tgtEl>
                                          <p:spTgt spid="20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206"/>
                                        </p:tgtEl>
                                        <p:attrNameLst>
                                          <p:attrName>style.visibility</p:attrName>
                                        </p:attrNameLst>
                                      </p:cBhvr>
                                      <p:to>
                                        <p:strVal val="visible"/>
                                      </p:to>
                                    </p:set>
                                    <p:animEffect transition="in" filter="fade">
                                      <p:cBhvr>
                                        <p:cTn id="12" dur="1000"/>
                                        <p:tgtEl>
                                          <p:spTgt spid="20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207"/>
                                        </p:tgtEl>
                                        <p:attrNameLst>
                                          <p:attrName>style.visibility</p:attrName>
                                        </p:attrNameLst>
                                      </p:cBhvr>
                                      <p:to>
                                        <p:strVal val="visible"/>
                                      </p:to>
                                    </p:set>
                                    <p:animEffect transition="in" filter="fade">
                                      <p:cBhvr>
                                        <p:cTn id="17" dur="10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 grpId="1" animBg="1" advAuto="0"/>
      <p:bldP spid="206" grpId="2" animBg="1" advAuto="0"/>
      <p:bldP spid="207" grpId="3" animBg="1" advAuto="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23</a:t>
            </a:fld>
            <a:endParaRPr/>
          </a:p>
        </p:txBody>
      </p:sp>
      <p:sp>
        <p:nvSpPr>
          <p:cNvPr id="210" name="Create an Issue"/>
          <p:cNvSpPr txBox="1">
            <a:spLocks noGrp="1"/>
          </p:cNvSpPr>
          <p:nvPr>
            <p:ph type="title"/>
          </p:nvPr>
        </p:nvSpPr>
        <p:spPr>
          <a:prstGeom prst="rect">
            <a:avLst/>
          </a:prstGeom>
        </p:spPr>
        <p:txBody>
          <a:bodyPr/>
          <a:lstStyle/>
          <a:p>
            <a:r>
              <a:t>Create an Issue</a:t>
            </a:r>
          </a:p>
        </p:txBody>
      </p:sp>
      <p:sp>
        <p:nvSpPr>
          <p:cNvPr id="211" name="Let's return to our practice repo and create an Issue."/>
          <p:cNvSpPr txBox="1"/>
          <p:nvPr/>
        </p:nvSpPr>
        <p:spPr>
          <a:xfrm>
            <a:off x="73638" y="906838"/>
            <a:ext cx="12857524"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Let's return to our practice repo and create an Issue.</a:t>
            </a:r>
          </a:p>
        </p:txBody>
      </p:sp>
      <p:sp>
        <p:nvSpPr>
          <p:cNvPr id="212" name="Our issue is that we are going to need to add our code for doing the Monte Carlo Simulation for Numerical Integration."/>
          <p:cNvSpPr txBox="1"/>
          <p:nvPr/>
        </p:nvSpPr>
        <p:spPr>
          <a:xfrm>
            <a:off x="127000" y="2241882"/>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Our issue is that we are going to need to add our code for doing the Monte Carlo Simulation for Numerical Integration.</a:t>
            </a:r>
          </a:p>
        </p:txBody>
      </p:sp>
      <p:sp>
        <p:nvSpPr>
          <p:cNvPr id="213" name="Be sure to assign this issue to yourself."/>
          <p:cNvSpPr txBox="1"/>
          <p:nvPr/>
        </p:nvSpPr>
        <p:spPr>
          <a:xfrm>
            <a:off x="127000" y="4584306"/>
            <a:ext cx="12546742"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Be sure to assign this issue to yourself.</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12"/>
                                        </p:tgtEl>
                                        <p:attrNameLst>
                                          <p:attrName>style.visibility</p:attrName>
                                        </p:attrNameLst>
                                      </p:cBhvr>
                                      <p:to>
                                        <p:strVal val="visible"/>
                                      </p:to>
                                    </p:set>
                                    <p:animEffect transition="in" filter="fade">
                                      <p:cBhvr>
                                        <p:cTn id="7" dur="1000"/>
                                        <p:tgtEl>
                                          <p:spTgt spid="2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213"/>
                                        </p:tgtEl>
                                        <p:attrNameLst>
                                          <p:attrName>style.visibility</p:attrName>
                                        </p:attrNameLst>
                                      </p:cBhvr>
                                      <p:to>
                                        <p:strVal val="visible"/>
                                      </p:to>
                                    </p:set>
                                    <p:animEffect transition="in" filter="fade">
                                      <p:cBhvr>
                                        <p:cTn id="12" dur="1000"/>
                                        <p:tgtEl>
                                          <p:spTgt spid="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 grpId="1" animBg="1" advAuto="0"/>
      <p:bldP spid="213" grpId="2"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24</a:t>
            </a:fld>
            <a:endParaRPr/>
          </a:p>
        </p:txBody>
      </p:sp>
      <p:sp>
        <p:nvSpPr>
          <p:cNvPr id="216" name="Resolving Issues"/>
          <p:cNvSpPr txBox="1">
            <a:spLocks noGrp="1"/>
          </p:cNvSpPr>
          <p:nvPr>
            <p:ph type="title"/>
          </p:nvPr>
        </p:nvSpPr>
        <p:spPr>
          <a:prstGeom prst="rect">
            <a:avLst/>
          </a:prstGeom>
        </p:spPr>
        <p:txBody>
          <a:bodyPr/>
          <a:lstStyle/>
          <a:p>
            <a:r>
              <a:t>Resolving Issues</a:t>
            </a:r>
          </a:p>
        </p:txBody>
      </p:sp>
      <p:sp>
        <p:nvSpPr>
          <p:cNvPr id="217" name="After creating an issue, we can go about resolving it."/>
          <p:cNvSpPr txBox="1"/>
          <p:nvPr/>
        </p:nvSpPr>
        <p:spPr>
          <a:xfrm>
            <a:off x="73638" y="1008438"/>
            <a:ext cx="12857524"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After creating an issue, we can go about resolving it.</a:t>
            </a:r>
          </a:p>
        </p:txBody>
      </p:sp>
      <p:sp>
        <p:nvSpPr>
          <p:cNvPr id="218" name="For our practice issue, the fix is relatively simple: we need to add the appropriate R script file to our repo."/>
          <p:cNvSpPr txBox="1"/>
          <p:nvPr/>
        </p:nvSpPr>
        <p:spPr>
          <a:xfrm>
            <a:off x="93562" y="1740371"/>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For our practice issue, the fix is relatively simple: we need to add the appropriate R script file to our repo.</a:t>
            </a:r>
          </a:p>
        </p:txBody>
      </p:sp>
      <p:sp>
        <p:nvSpPr>
          <p:cNvPr id="219" name="Let's make this change BUT don't yet commit this change."/>
          <p:cNvSpPr txBox="1"/>
          <p:nvPr/>
        </p:nvSpPr>
        <p:spPr>
          <a:xfrm>
            <a:off x="93562" y="3255394"/>
            <a:ext cx="12546742"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1D2FEB"/>
                </a:solidFill>
                <a:latin typeface="Franklin Gothic Medium"/>
                <a:ea typeface="Franklin Gothic Medium"/>
                <a:cs typeface="Franklin Gothic Medium"/>
                <a:sym typeface="Franklin Gothic Medium"/>
              </a:defRPr>
            </a:lvl1pPr>
          </a:lstStyle>
          <a:p>
            <a:r>
              <a:t>Let's make this change BUT don't yet commit this change.</a:t>
            </a:r>
          </a:p>
        </p:txBody>
      </p:sp>
      <p:sp>
        <p:nvSpPr>
          <p:cNvPr id="220" name="We can link a commit to an issue by adding a reference to the issue in our commit message by including the issue's number."/>
          <p:cNvSpPr txBox="1"/>
          <p:nvPr/>
        </p:nvSpPr>
        <p:spPr>
          <a:xfrm>
            <a:off x="93562" y="4147796"/>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We can link a commit to an issue by adding a reference to the issue in our commit message by including the issue's number.</a:t>
            </a:r>
          </a:p>
        </p:txBody>
      </p:sp>
      <p:sp>
        <p:nvSpPr>
          <p:cNvPr id="221" name="If we use particular keywords, we can actually close the issue when a Pull Request to the main branch involving that commit runs."/>
          <p:cNvSpPr txBox="1"/>
          <p:nvPr/>
        </p:nvSpPr>
        <p:spPr>
          <a:xfrm>
            <a:off x="93562" y="5351508"/>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If we use particular keywords, we can actually close the issue when a Pull Request to the main branch involving that commit runs.</a:t>
            </a:r>
          </a:p>
        </p:txBody>
      </p:sp>
      <p:sp>
        <p:nvSpPr>
          <p:cNvPr id="222" name="close…"/>
          <p:cNvSpPr txBox="1"/>
          <p:nvPr/>
        </p:nvSpPr>
        <p:spPr>
          <a:xfrm>
            <a:off x="236054" y="6318154"/>
            <a:ext cx="12532692" cy="159109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numCol="3" spcCol="626634" anchor="ctr"/>
          <a:lstStyle/>
          <a:p>
            <a:pPr marL="507999" indent="-507999" algn="l">
              <a:buSzPct val="171000"/>
              <a:buChar char="•"/>
              <a:defRPr sz="2500">
                <a:solidFill>
                  <a:srgbClr val="000004"/>
                </a:solidFill>
                <a:latin typeface="Monaco"/>
                <a:ea typeface="Monaco"/>
                <a:cs typeface="Monaco"/>
                <a:sym typeface="Monaco"/>
              </a:defRPr>
            </a:pPr>
            <a:r>
              <a:t>close</a:t>
            </a:r>
          </a:p>
          <a:p>
            <a:pPr marL="507999" indent="-507999" algn="l">
              <a:buSzPct val="171000"/>
              <a:buChar char="•"/>
              <a:defRPr sz="2500">
                <a:solidFill>
                  <a:srgbClr val="000004"/>
                </a:solidFill>
                <a:latin typeface="Monaco"/>
                <a:ea typeface="Monaco"/>
                <a:cs typeface="Monaco"/>
                <a:sym typeface="Monaco"/>
              </a:defRPr>
            </a:pPr>
            <a:r>
              <a:t>closes</a:t>
            </a:r>
          </a:p>
          <a:p>
            <a:pPr marL="507999" indent="-507999" algn="l">
              <a:buSzPct val="171000"/>
              <a:buChar char="•"/>
              <a:defRPr sz="2500">
                <a:solidFill>
                  <a:srgbClr val="000004"/>
                </a:solidFill>
                <a:latin typeface="Monaco"/>
                <a:ea typeface="Monaco"/>
                <a:cs typeface="Monaco"/>
                <a:sym typeface="Monaco"/>
              </a:defRPr>
            </a:pPr>
            <a:r>
              <a:t>closed</a:t>
            </a:r>
          </a:p>
          <a:p>
            <a:pPr marL="507999" indent="-507999" algn="l">
              <a:buSzPct val="171000"/>
              <a:buChar char="•"/>
              <a:defRPr sz="2500">
                <a:solidFill>
                  <a:srgbClr val="000004"/>
                </a:solidFill>
                <a:latin typeface="Monaco"/>
                <a:ea typeface="Monaco"/>
                <a:cs typeface="Monaco"/>
                <a:sym typeface="Monaco"/>
              </a:defRPr>
            </a:pPr>
            <a:r>
              <a:t>fix</a:t>
            </a:r>
          </a:p>
          <a:p>
            <a:pPr marL="507999" indent="-507999" algn="l">
              <a:buSzPct val="171000"/>
              <a:buChar char="•"/>
              <a:defRPr sz="2500">
                <a:solidFill>
                  <a:srgbClr val="000004"/>
                </a:solidFill>
                <a:latin typeface="Monaco"/>
                <a:ea typeface="Monaco"/>
                <a:cs typeface="Monaco"/>
                <a:sym typeface="Monaco"/>
              </a:defRPr>
            </a:pPr>
            <a:r>
              <a:t>fixes</a:t>
            </a:r>
          </a:p>
          <a:p>
            <a:pPr marL="507999" indent="-507999" algn="l">
              <a:buSzPct val="171000"/>
              <a:buChar char="•"/>
              <a:defRPr sz="2500">
                <a:solidFill>
                  <a:srgbClr val="000004"/>
                </a:solidFill>
                <a:latin typeface="Monaco"/>
                <a:ea typeface="Monaco"/>
                <a:cs typeface="Monaco"/>
                <a:sym typeface="Monaco"/>
              </a:defRPr>
            </a:pPr>
            <a:r>
              <a:t>fixed</a:t>
            </a:r>
          </a:p>
          <a:p>
            <a:pPr marL="507999" indent="-507999" algn="l">
              <a:buSzPct val="171000"/>
              <a:buChar char="•"/>
              <a:defRPr sz="2500">
                <a:solidFill>
                  <a:srgbClr val="000004"/>
                </a:solidFill>
                <a:latin typeface="Monaco"/>
                <a:ea typeface="Monaco"/>
                <a:cs typeface="Monaco"/>
                <a:sym typeface="Monaco"/>
              </a:defRPr>
            </a:pPr>
            <a:r>
              <a:t>resolve</a:t>
            </a:r>
          </a:p>
          <a:p>
            <a:pPr marL="507999" indent="-507999" algn="l">
              <a:buSzPct val="171000"/>
              <a:buChar char="•"/>
              <a:defRPr sz="2500">
                <a:solidFill>
                  <a:srgbClr val="000004"/>
                </a:solidFill>
                <a:latin typeface="Monaco"/>
                <a:ea typeface="Monaco"/>
                <a:cs typeface="Monaco"/>
                <a:sym typeface="Monaco"/>
              </a:defRPr>
            </a:pPr>
            <a:r>
              <a:t>resolves</a:t>
            </a:r>
          </a:p>
          <a:p>
            <a:pPr marL="507999" indent="-507999" algn="l">
              <a:buSzPct val="171000"/>
              <a:buChar char="•"/>
              <a:defRPr sz="2500">
                <a:solidFill>
                  <a:srgbClr val="000004"/>
                </a:solidFill>
                <a:latin typeface="Monaco"/>
                <a:ea typeface="Monaco"/>
                <a:cs typeface="Monaco"/>
                <a:sym typeface="Monaco"/>
              </a:defRPr>
            </a:pPr>
            <a:r>
              <a:t>resolved</a:t>
            </a:r>
          </a:p>
        </p:txBody>
      </p:sp>
      <p:sp>
        <p:nvSpPr>
          <p:cNvPr id="223" name="Let's write a commit message that addresses the issue that we made."/>
          <p:cNvSpPr txBox="1"/>
          <p:nvPr/>
        </p:nvSpPr>
        <p:spPr>
          <a:xfrm>
            <a:off x="93562" y="8093900"/>
            <a:ext cx="12546742"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Let's write a commit message that addresses the issue that we made.</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18"/>
                                        </p:tgtEl>
                                        <p:attrNameLst>
                                          <p:attrName>style.visibility</p:attrName>
                                        </p:attrNameLst>
                                      </p:cBhvr>
                                      <p:to>
                                        <p:strVal val="visible"/>
                                      </p:to>
                                    </p:set>
                                    <p:animEffect transition="in" filter="fade">
                                      <p:cBhvr>
                                        <p:cTn id="7" dur="1000"/>
                                        <p:tgtEl>
                                          <p:spTgt spid="2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219"/>
                                        </p:tgtEl>
                                        <p:attrNameLst>
                                          <p:attrName>style.visibility</p:attrName>
                                        </p:attrNameLst>
                                      </p:cBhvr>
                                      <p:to>
                                        <p:strVal val="visible"/>
                                      </p:to>
                                    </p:set>
                                    <p:animEffect transition="in" filter="fade">
                                      <p:cBhvr>
                                        <p:cTn id="12" dur="1000"/>
                                        <p:tgtEl>
                                          <p:spTgt spid="2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220"/>
                                        </p:tgtEl>
                                        <p:attrNameLst>
                                          <p:attrName>style.visibility</p:attrName>
                                        </p:attrNameLst>
                                      </p:cBhvr>
                                      <p:to>
                                        <p:strVal val="visible"/>
                                      </p:to>
                                    </p:set>
                                    <p:animEffect transition="in" filter="fade">
                                      <p:cBhvr>
                                        <p:cTn id="17" dur="1000"/>
                                        <p:tgtEl>
                                          <p:spTgt spid="2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221"/>
                                        </p:tgtEl>
                                        <p:attrNameLst>
                                          <p:attrName>style.visibility</p:attrName>
                                        </p:attrNameLst>
                                      </p:cBhvr>
                                      <p:to>
                                        <p:strVal val="visible"/>
                                      </p:to>
                                    </p:set>
                                    <p:animEffect transition="in" filter="fade">
                                      <p:cBhvr>
                                        <p:cTn id="22" dur="1000"/>
                                        <p:tgtEl>
                                          <p:spTgt spid="2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fill="hold" grpId="5" nodeType="clickEffect">
                                  <p:stCondLst>
                                    <p:cond delay="0"/>
                                  </p:stCondLst>
                                  <p:iterate>
                                    <p:tmAbs val="0"/>
                                  </p:iterate>
                                  <p:childTnLst>
                                    <p:set>
                                      <p:cBhvr>
                                        <p:cTn id="26" fill="hold"/>
                                        <p:tgtEl>
                                          <p:spTgt spid="222"/>
                                        </p:tgtEl>
                                        <p:attrNameLst>
                                          <p:attrName>style.visibility</p:attrName>
                                        </p:attrNameLst>
                                      </p:cBhvr>
                                      <p:to>
                                        <p:strVal val="visible"/>
                                      </p:to>
                                    </p:set>
                                    <p:animEffect transition="in" filter="fade">
                                      <p:cBhvr>
                                        <p:cTn id="27" dur="1000"/>
                                        <p:tgtEl>
                                          <p:spTgt spid="2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fill="hold" grpId="6" nodeType="clickEffect">
                                  <p:stCondLst>
                                    <p:cond delay="0"/>
                                  </p:stCondLst>
                                  <p:iterate>
                                    <p:tmAbs val="0"/>
                                  </p:iterate>
                                  <p:childTnLst>
                                    <p:set>
                                      <p:cBhvr>
                                        <p:cTn id="31" fill="hold"/>
                                        <p:tgtEl>
                                          <p:spTgt spid="223"/>
                                        </p:tgtEl>
                                        <p:attrNameLst>
                                          <p:attrName>style.visibility</p:attrName>
                                        </p:attrNameLst>
                                      </p:cBhvr>
                                      <p:to>
                                        <p:strVal val="visible"/>
                                      </p:to>
                                    </p:set>
                                    <p:animEffect transition="in" filter="fade">
                                      <p:cBhvr>
                                        <p:cTn id="32" dur="10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 grpId="1" animBg="1" advAuto="0"/>
      <p:bldP spid="219" grpId="2" animBg="1" advAuto="0"/>
      <p:bldP spid="220" grpId="3" animBg="1" advAuto="0"/>
      <p:bldP spid="221" grpId="4" animBg="1" advAuto="0"/>
      <p:bldP spid="222" grpId="5" animBg="1" advAuto="0"/>
      <p:bldP spid="223" grpId="6"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25</a:t>
            </a:fld>
            <a:endParaRPr/>
          </a:p>
        </p:txBody>
      </p:sp>
      <p:sp>
        <p:nvSpPr>
          <p:cNvPr id="226" name="Additional GitHub Options"/>
          <p:cNvSpPr txBox="1">
            <a:spLocks noGrp="1"/>
          </p:cNvSpPr>
          <p:nvPr>
            <p:ph type="title"/>
          </p:nvPr>
        </p:nvSpPr>
        <p:spPr>
          <a:prstGeom prst="rect">
            <a:avLst/>
          </a:prstGeom>
        </p:spPr>
        <p:txBody>
          <a:bodyPr/>
          <a:lstStyle/>
          <a:p>
            <a:r>
              <a:t>Additional GitHub Options</a:t>
            </a:r>
          </a:p>
        </p:txBody>
      </p:sp>
      <p:sp>
        <p:nvSpPr>
          <p:cNvPr id="227" name="There are many more features to GitHub that you should explore."/>
          <p:cNvSpPr txBox="1"/>
          <p:nvPr/>
        </p:nvSpPr>
        <p:spPr>
          <a:xfrm>
            <a:off x="73638" y="1008438"/>
            <a:ext cx="12857524"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There are many more features to GitHub that you should explore.</a:t>
            </a:r>
          </a:p>
        </p:txBody>
      </p:sp>
      <p:sp>
        <p:nvSpPr>
          <p:cNvPr id="228" name="You can create an entire Wiki page for each repo.…"/>
          <p:cNvSpPr txBox="1"/>
          <p:nvPr/>
        </p:nvSpPr>
        <p:spPr>
          <a:xfrm>
            <a:off x="229029" y="1660218"/>
            <a:ext cx="12546742" cy="1905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You can create an entire Wiki page for each repo.</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You can create Project tables to help manage project oversight.</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You can create automated workflows (Actions) that run when certain triggers are activated.</a:t>
            </a:r>
          </a:p>
        </p:txBody>
      </p:sp>
      <p:sp>
        <p:nvSpPr>
          <p:cNvPr id="229" name="With your GitHub account, you can even create a website with GitHubPages that can function as a professional portfolio."/>
          <p:cNvSpPr txBox="1"/>
          <p:nvPr/>
        </p:nvSpPr>
        <p:spPr>
          <a:xfrm>
            <a:off x="229029" y="4681596"/>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With your GitHub account, you can even create a website with GitHubPages that can function as a professional portfolio.</a:t>
            </a:r>
          </a:p>
        </p:txBody>
      </p:sp>
      <p:sp>
        <p:nvSpPr>
          <p:cNvPr id="230" name="You should continue to explore what is possible with GitHub."/>
          <p:cNvSpPr txBox="1"/>
          <p:nvPr/>
        </p:nvSpPr>
        <p:spPr>
          <a:xfrm>
            <a:off x="229029" y="6662796"/>
            <a:ext cx="12546742"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You should continue to explore what is possible with GitHub.</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28"/>
                                        </p:tgtEl>
                                        <p:attrNameLst>
                                          <p:attrName>style.visibility</p:attrName>
                                        </p:attrNameLst>
                                      </p:cBhvr>
                                      <p:to>
                                        <p:strVal val="visible"/>
                                      </p:to>
                                    </p:set>
                                    <p:animEffect transition="in" filter="fade">
                                      <p:cBhvr>
                                        <p:cTn id="7" dur="1000"/>
                                        <p:tgtEl>
                                          <p:spTgt spid="2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229"/>
                                        </p:tgtEl>
                                        <p:attrNameLst>
                                          <p:attrName>style.visibility</p:attrName>
                                        </p:attrNameLst>
                                      </p:cBhvr>
                                      <p:to>
                                        <p:strVal val="visible"/>
                                      </p:to>
                                    </p:set>
                                    <p:animEffect transition="in" filter="fade">
                                      <p:cBhvr>
                                        <p:cTn id="12" dur="1000"/>
                                        <p:tgtEl>
                                          <p:spTgt spid="2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230"/>
                                        </p:tgtEl>
                                        <p:attrNameLst>
                                          <p:attrName>style.visibility</p:attrName>
                                        </p:attrNameLst>
                                      </p:cBhvr>
                                      <p:to>
                                        <p:strVal val="visible"/>
                                      </p:to>
                                    </p:set>
                                    <p:animEffect transition="in" filter="fade">
                                      <p:cBhvr>
                                        <p:cTn id="17" dur="10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 grpId="1" animBg="1" advAuto="0"/>
      <p:bldP spid="229" grpId="2" animBg="1" advAuto="0"/>
      <p:bldP spid="230" grpId="3"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Coming Full Circle:…"/>
          <p:cNvSpPr txBox="1">
            <a:spLocks noGrp="1"/>
          </p:cNvSpPr>
          <p:nvPr>
            <p:ph type="ctrTitle"/>
          </p:nvPr>
        </p:nvSpPr>
        <p:spPr>
          <a:xfrm>
            <a:off x="2578099" y="2481791"/>
            <a:ext cx="7848602" cy="2476501"/>
          </a:xfrm>
          <a:prstGeom prst="rect">
            <a:avLst/>
          </a:prstGeom>
        </p:spPr>
        <p:txBody>
          <a:bodyPr/>
          <a:lstStyle/>
          <a:p>
            <a:r>
              <a:t>Coming Full Circle:</a:t>
            </a:r>
          </a:p>
          <a:p>
            <a:r>
              <a:t>PCIP and Version Control</a:t>
            </a:r>
          </a:p>
        </p:txBody>
      </p:sp>
      <p:sp>
        <p:nvSpPr>
          <p:cNvPr id="23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26</a:t>
            </a:fld>
            <a:endParaRPr/>
          </a:p>
        </p:txBody>
      </p:sp>
      <p:sp>
        <p:nvSpPr>
          <p:cNvPr id="234" name="Unit 4"/>
          <p:cNvSpPr txBox="1">
            <a:spLocks noGrp="1"/>
          </p:cNvSpPr>
          <p:nvPr>
            <p:ph type="subTitle" sz="quarter" idx="1"/>
          </p:nvPr>
        </p:nvSpPr>
        <p:spPr>
          <a:prstGeom prst="rect">
            <a:avLst/>
          </a:prstGeom>
        </p:spPr>
        <p:txBody>
          <a:bodyPr/>
          <a:lstStyle/>
          <a:p>
            <a:r>
              <a:t>Unit 4</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Slide Number"/>
          <p:cNvSpPr txBox="1">
            <a:spLocks noGrp="1"/>
          </p:cNvSpPr>
          <p:nvPr>
            <p:ph type="sldNum" sz="quarter" idx="2"/>
          </p:nvPr>
        </p:nvSpPr>
        <p:spPr>
          <a:xfrm>
            <a:off x="6345870" y="9369954"/>
            <a:ext cx="313060" cy="2565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27</a:t>
            </a:fld>
            <a:endParaRPr/>
          </a:p>
        </p:txBody>
      </p:sp>
      <p:sp>
        <p:nvSpPr>
          <p:cNvPr id="237" name="Plan-Code-Improve-Polish"/>
          <p:cNvSpPr txBox="1">
            <a:spLocks noGrp="1"/>
          </p:cNvSpPr>
          <p:nvPr>
            <p:ph type="title"/>
          </p:nvPr>
        </p:nvSpPr>
        <p:spPr>
          <a:prstGeom prst="rect">
            <a:avLst/>
          </a:prstGeom>
        </p:spPr>
        <p:txBody>
          <a:bodyPr/>
          <a:lstStyle>
            <a:lvl1pPr defTabSz="578358">
              <a:defRPr sz="4554"/>
            </a:lvl1pPr>
          </a:lstStyle>
          <a:p>
            <a:r>
              <a:t>Plan-Code-Improve-Polish</a:t>
            </a:r>
          </a:p>
        </p:txBody>
      </p:sp>
      <p:sp>
        <p:nvSpPr>
          <p:cNvPr id="238" name="Throughout the semester, we have encouraged you to apply the PCIP system to your data work."/>
          <p:cNvSpPr txBox="1"/>
          <p:nvPr/>
        </p:nvSpPr>
        <p:spPr>
          <a:xfrm>
            <a:off x="73638" y="977900"/>
            <a:ext cx="12857524"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Throughout the semester, we have encouraged you to apply the PCIP system to your data work.</a:t>
            </a:r>
          </a:p>
        </p:txBody>
      </p:sp>
      <p:sp>
        <p:nvSpPr>
          <p:cNvPr id="239" name="We have routinely asked you to engaging in Planning your functions, wrangling, and analysis by writing down your Goals, Needs and Steps.…"/>
          <p:cNvSpPr txBox="1"/>
          <p:nvPr/>
        </p:nvSpPr>
        <p:spPr>
          <a:xfrm>
            <a:off x="229029" y="2056341"/>
            <a:ext cx="12546742" cy="5105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We have routinely asked you to engaging in </a:t>
            </a:r>
            <a:r>
              <a:rPr>
                <a:solidFill>
                  <a:srgbClr val="008900"/>
                </a:solidFill>
              </a:rPr>
              <a:t>Planning</a:t>
            </a:r>
            <a:r>
              <a:t> your functions, wrangling, and analysis by writing down your Goals, Needs and Steps.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We ask you then to begin </a:t>
            </a:r>
            <a:r>
              <a:rPr>
                <a:solidFill>
                  <a:srgbClr val="008900"/>
                </a:solidFill>
              </a:rPr>
              <a:t>Coding</a:t>
            </a:r>
            <a:r>
              <a:t> by enacting your plan by writing code in R, thereby leveraging R as a tool.</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As you work on writing, we've also asked your to think about </a:t>
            </a:r>
            <a:r>
              <a:rPr>
                <a:solidFill>
                  <a:srgbClr val="008900"/>
                </a:solidFill>
              </a:rPr>
              <a:t>Improving</a:t>
            </a:r>
            <a:r>
              <a:t> your work by engaging in iterative debugging, testing, and updating of your plans.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Finally, we have you </a:t>
            </a:r>
            <a:r>
              <a:rPr>
                <a:solidFill>
                  <a:srgbClr val="1D2FEB"/>
                </a:solidFill>
              </a:rPr>
              <a:t>Polish</a:t>
            </a:r>
            <a:r>
              <a:t> your work by making sure that your code and product are attractive and informative to others (including your future self).</a:t>
            </a:r>
          </a:p>
        </p:txBody>
      </p:sp>
      <p:sp>
        <p:nvSpPr>
          <p:cNvPr id="240" name="Version Control, Reproducibility, and the ideals of Open Science all fit within PCIP."/>
          <p:cNvSpPr txBox="1"/>
          <p:nvPr/>
        </p:nvSpPr>
        <p:spPr>
          <a:xfrm>
            <a:off x="229029" y="7491548"/>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Version Control, Reproducibility, and the ideals of Open Science all fit within PCIP.</a:t>
            </a:r>
          </a:p>
        </p:txBody>
      </p:sp>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39">
                                            <p:bg/>
                                          </p:spTgt>
                                        </p:tgtEl>
                                        <p:attrNameLst>
                                          <p:attrName>style.visibility</p:attrName>
                                        </p:attrNameLst>
                                      </p:cBhvr>
                                      <p:to>
                                        <p:strVal val="visible"/>
                                      </p:to>
                                    </p:set>
                                    <p:animEffect transition="in" filter="fade">
                                      <p:cBhvr>
                                        <p:cTn id="7" dur="1000"/>
                                        <p:tgtEl>
                                          <p:spTgt spid="239">
                                            <p:bg/>
                                          </p:spTgt>
                                        </p:tgtEl>
                                      </p:cBhvr>
                                    </p:animEffect>
                                  </p:childTnLst>
                                </p:cTn>
                              </p:par>
                              <p:par>
                                <p:cTn id="8" presetID="10" presetClass="entr" presetSubtype="0" fill="hold" grpId="1" nodeType="withEffect">
                                  <p:stCondLst>
                                    <p:cond delay="0"/>
                                  </p:stCondLst>
                                  <p:iterate>
                                    <p:tmAbs val="0"/>
                                  </p:iterate>
                                  <p:childTnLst>
                                    <p:set>
                                      <p:cBhvr>
                                        <p:cTn id="9" fill="hold"/>
                                        <p:tgtEl>
                                          <p:spTgt spid="239">
                                            <p:txEl>
                                              <p:pRg st="0" end="0"/>
                                            </p:txEl>
                                          </p:spTgt>
                                        </p:tgtEl>
                                        <p:attrNameLst>
                                          <p:attrName>style.visibility</p:attrName>
                                        </p:attrNameLst>
                                      </p:cBhvr>
                                      <p:to>
                                        <p:strVal val="visible"/>
                                      </p:to>
                                    </p:set>
                                    <p:animEffect transition="in" filter="fade">
                                      <p:cBhvr>
                                        <p:cTn id="10" dur="1000"/>
                                        <p:tgtEl>
                                          <p:spTgt spid="23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grpId="1" nodeType="clickEffect">
                                  <p:stCondLst>
                                    <p:cond delay="0"/>
                                  </p:stCondLst>
                                  <p:iterate>
                                    <p:tmAbs val="0"/>
                                  </p:iterate>
                                  <p:childTnLst>
                                    <p:set>
                                      <p:cBhvr>
                                        <p:cTn id="14" fill="hold"/>
                                        <p:tgtEl>
                                          <p:spTgt spid="239">
                                            <p:txEl>
                                              <p:pRg st="1" end="1"/>
                                            </p:txEl>
                                          </p:spTgt>
                                        </p:tgtEl>
                                        <p:attrNameLst>
                                          <p:attrName>style.visibility</p:attrName>
                                        </p:attrNameLst>
                                      </p:cBhvr>
                                      <p:to>
                                        <p:strVal val="visible"/>
                                      </p:to>
                                    </p:set>
                                    <p:animEffect transition="in" filter="fade">
                                      <p:cBhvr>
                                        <p:cTn id="15" dur="1000"/>
                                        <p:tgtEl>
                                          <p:spTgt spid="23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fill="hold" grpId="1" nodeType="clickEffect">
                                  <p:stCondLst>
                                    <p:cond delay="0"/>
                                  </p:stCondLst>
                                  <p:iterate>
                                    <p:tmAbs val="0"/>
                                  </p:iterate>
                                  <p:childTnLst>
                                    <p:set>
                                      <p:cBhvr>
                                        <p:cTn id="19" fill="hold"/>
                                        <p:tgtEl>
                                          <p:spTgt spid="239">
                                            <p:txEl>
                                              <p:pRg st="2" end="2"/>
                                            </p:txEl>
                                          </p:spTgt>
                                        </p:tgtEl>
                                        <p:attrNameLst>
                                          <p:attrName>style.visibility</p:attrName>
                                        </p:attrNameLst>
                                      </p:cBhvr>
                                      <p:to>
                                        <p:strVal val="visible"/>
                                      </p:to>
                                    </p:set>
                                    <p:animEffect transition="in" filter="fade">
                                      <p:cBhvr>
                                        <p:cTn id="20" dur="1000"/>
                                        <p:tgtEl>
                                          <p:spTgt spid="23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fill="hold" grpId="1" nodeType="clickEffect">
                                  <p:stCondLst>
                                    <p:cond delay="0"/>
                                  </p:stCondLst>
                                  <p:iterate>
                                    <p:tmAbs val="0"/>
                                  </p:iterate>
                                  <p:childTnLst>
                                    <p:set>
                                      <p:cBhvr>
                                        <p:cTn id="24" fill="hold"/>
                                        <p:tgtEl>
                                          <p:spTgt spid="239">
                                            <p:txEl>
                                              <p:pRg st="3" end="3"/>
                                            </p:txEl>
                                          </p:spTgt>
                                        </p:tgtEl>
                                        <p:attrNameLst>
                                          <p:attrName>style.visibility</p:attrName>
                                        </p:attrNameLst>
                                      </p:cBhvr>
                                      <p:to>
                                        <p:strVal val="visible"/>
                                      </p:to>
                                    </p:set>
                                    <p:animEffect transition="in" filter="fade">
                                      <p:cBhvr>
                                        <p:cTn id="25" dur="1000"/>
                                        <p:tgtEl>
                                          <p:spTgt spid="239">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fill="hold" grpId="2" nodeType="clickEffect">
                                  <p:stCondLst>
                                    <p:cond delay="0"/>
                                  </p:stCondLst>
                                  <p:iterate>
                                    <p:tmAbs val="0"/>
                                  </p:iterate>
                                  <p:childTnLst>
                                    <p:set>
                                      <p:cBhvr>
                                        <p:cTn id="29" fill="hold"/>
                                        <p:tgtEl>
                                          <p:spTgt spid="240"/>
                                        </p:tgtEl>
                                        <p:attrNameLst>
                                          <p:attrName>style.visibility</p:attrName>
                                        </p:attrNameLst>
                                      </p:cBhvr>
                                      <p:to>
                                        <p:strVal val="visible"/>
                                      </p:to>
                                    </p:set>
                                    <p:animEffect transition="in" filter="fade">
                                      <p:cBhvr>
                                        <p:cTn id="30" dur="1000"/>
                                        <p:tgtEl>
                                          <p:spTgt spid="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 grpId="1" build="p" animBg="1" advAuto="0"/>
      <p:bldP spid="240" grpId="2"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28</a:t>
            </a:fld>
            <a:endParaRPr/>
          </a:p>
        </p:txBody>
      </p:sp>
      <p:sp>
        <p:nvSpPr>
          <p:cNvPr id="243" name="PCIP and Open Science"/>
          <p:cNvSpPr txBox="1">
            <a:spLocks noGrp="1"/>
          </p:cNvSpPr>
          <p:nvPr>
            <p:ph type="title"/>
          </p:nvPr>
        </p:nvSpPr>
        <p:spPr>
          <a:prstGeom prst="rect">
            <a:avLst/>
          </a:prstGeom>
        </p:spPr>
        <p:txBody>
          <a:bodyPr/>
          <a:lstStyle/>
          <a:p>
            <a:r>
              <a:t>PCIP and Open Science</a:t>
            </a:r>
          </a:p>
        </p:txBody>
      </p:sp>
      <p:sp>
        <p:nvSpPr>
          <p:cNvPr id="244" name="Open Science, including reproducibility, are at the heart of PCIP."/>
          <p:cNvSpPr txBox="1"/>
          <p:nvPr/>
        </p:nvSpPr>
        <p:spPr>
          <a:xfrm>
            <a:off x="73638" y="986366"/>
            <a:ext cx="12857524"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Open Science, including reproducibility, are at the heart of PCIP.</a:t>
            </a:r>
          </a:p>
        </p:txBody>
      </p:sp>
      <p:sp>
        <p:nvSpPr>
          <p:cNvPr id="245" name="The whole process of PCIP is about documenting your work from the very beginning so that someone else can follow what you've done."/>
          <p:cNvSpPr txBox="1"/>
          <p:nvPr/>
        </p:nvSpPr>
        <p:spPr>
          <a:xfrm>
            <a:off x="229029" y="1954348"/>
            <a:ext cx="12546742"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r>
              <a:t>The whole process of PCIP is about documenting your work from the very beginning so that someone else can follow what you've done.</a:t>
            </a:r>
          </a:p>
        </p:txBody>
      </p:sp>
      <p:sp>
        <p:nvSpPr>
          <p:cNvPr id="246" name="We've routinely stressed the PCIP applies to more than coding and data visualizations/analysis...it applies to all science."/>
          <p:cNvSpPr txBox="1"/>
          <p:nvPr/>
        </p:nvSpPr>
        <p:spPr>
          <a:xfrm>
            <a:off x="73638" y="3379529"/>
            <a:ext cx="12857524"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We've routinely stressed the PCIP applies to more than coding and data visualizations/analysis...it applies to all science.</a:t>
            </a:r>
          </a:p>
        </p:txBody>
      </p:sp>
      <p:sp>
        <p:nvSpPr>
          <p:cNvPr id="247" name="Version control, especially through the use of GitHub, provides you with an additional tool to implement three of the core principles of Open Science:…"/>
          <p:cNvSpPr txBox="1"/>
          <p:nvPr/>
        </p:nvSpPr>
        <p:spPr>
          <a:xfrm>
            <a:off x="73638" y="4747751"/>
            <a:ext cx="12857524" cy="2819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Version control, especially through the use of GitHub, provides you with an additional tool to implement three of the core principles of Open Science:</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Open Methodology</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Open Source</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Open Data</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45"/>
                                        </p:tgtEl>
                                        <p:attrNameLst>
                                          <p:attrName>style.visibility</p:attrName>
                                        </p:attrNameLst>
                                      </p:cBhvr>
                                      <p:to>
                                        <p:strVal val="visible"/>
                                      </p:to>
                                    </p:set>
                                    <p:animEffect transition="in" filter="fade">
                                      <p:cBhvr>
                                        <p:cTn id="7" dur="1500"/>
                                        <p:tgtEl>
                                          <p:spTgt spid="2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246"/>
                                        </p:tgtEl>
                                        <p:attrNameLst>
                                          <p:attrName>style.visibility</p:attrName>
                                        </p:attrNameLst>
                                      </p:cBhvr>
                                      <p:to>
                                        <p:strVal val="visible"/>
                                      </p:to>
                                    </p:set>
                                    <p:animEffect transition="in" filter="fade">
                                      <p:cBhvr>
                                        <p:cTn id="12" dur="1000"/>
                                        <p:tgtEl>
                                          <p:spTgt spid="2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247"/>
                                        </p:tgtEl>
                                        <p:attrNameLst>
                                          <p:attrName>style.visibility</p:attrName>
                                        </p:attrNameLst>
                                      </p:cBhvr>
                                      <p:to>
                                        <p:strVal val="visible"/>
                                      </p:to>
                                    </p:set>
                                    <p:animEffect transition="in" filter="fade">
                                      <p:cBhvr>
                                        <p:cTn id="17" dur="1000"/>
                                        <p:tgtEl>
                                          <p:spTgt spid="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 grpId="1" animBg="1" advAuto="0"/>
      <p:bldP spid="246" grpId="2" animBg="1" advAuto="0"/>
      <p:bldP spid="247" grpId="3"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29</a:t>
            </a:fld>
            <a:endParaRPr/>
          </a:p>
        </p:txBody>
      </p:sp>
      <p:sp>
        <p:nvSpPr>
          <p:cNvPr id="250" name="Adding Version Control to Your Plans"/>
          <p:cNvSpPr txBox="1">
            <a:spLocks noGrp="1"/>
          </p:cNvSpPr>
          <p:nvPr>
            <p:ph type="title"/>
          </p:nvPr>
        </p:nvSpPr>
        <p:spPr>
          <a:xfrm>
            <a:off x="1639260" y="-29634"/>
            <a:ext cx="9726281" cy="885826"/>
          </a:xfrm>
          <a:prstGeom prst="rect">
            <a:avLst/>
          </a:prstGeom>
        </p:spPr>
        <p:txBody>
          <a:bodyPr/>
          <a:lstStyle>
            <a:lvl1pPr defTabSz="514095">
              <a:defRPr sz="4048"/>
            </a:lvl1pPr>
          </a:lstStyle>
          <a:p>
            <a:r>
              <a:t>Adding Version Control to Your Plans</a:t>
            </a:r>
          </a:p>
        </p:txBody>
      </p:sp>
      <p:sp>
        <p:nvSpPr>
          <p:cNvPr id="251" name="Adding VC to your plans is actually easier than you might think."/>
          <p:cNvSpPr txBox="1"/>
          <p:nvPr/>
        </p:nvSpPr>
        <p:spPr>
          <a:xfrm>
            <a:off x="73638" y="847725"/>
            <a:ext cx="12857524" cy="508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000">
                <a:solidFill>
                  <a:srgbClr val="000004"/>
                </a:solidFill>
                <a:latin typeface="Franklin Gothic Medium"/>
                <a:ea typeface="Franklin Gothic Medium"/>
                <a:cs typeface="Franklin Gothic Medium"/>
                <a:sym typeface="Franklin Gothic Medium"/>
              </a:defRPr>
            </a:lvl1pPr>
          </a:lstStyle>
          <a:p>
            <a:r>
              <a:t>Adding VC to your plans is actually easier than you might think.</a:t>
            </a:r>
          </a:p>
        </p:txBody>
      </p:sp>
      <p:sp>
        <p:nvSpPr>
          <p:cNvPr id="252" name="Goal(s)"/>
          <p:cNvSpPr txBox="1"/>
          <p:nvPr/>
        </p:nvSpPr>
        <p:spPr>
          <a:xfrm>
            <a:off x="73638" y="1448859"/>
            <a:ext cx="1419037"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1D2FEB"/>
                </a:solidFill>
                <a:latin typeface="Franklin Gothic Medium"/>
                <a:ea typeface="Franklin Gothic Medium"/>
                <a:cs typeface="Franklin Gothic Medium"/>
                <a:sym typeface="Franklin Gothic Medium"/>
              </a:defRPr>
            </a:lvl1pPr>
          </a:lstStyle>
          <a:p>
            <a:r>
              <a:t>Goal(s)</a:t>
            </a:r>
          </a:p>
        </p:txBody>
      </p:sp>
      <p:sp>
        <p:nvSpPr>
          <p:cNvPr id="253" name="Add a goal statement to use VC to any plan you have. This could be through any system, including creating a GitHub repo."/>
          <p:cNvSpPr txBox="1"/>
          <p:nvPr/>
        </p:nvSpPr>
        <p:spPr>
          <a:xfrm>
            <a:off x="73638" y="1882247"/>
            <a:ext cx="12763989" cy="939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000">
                <a:solidFill>
                  <a:srgbClr val="000004"/>
                </a:solidFill>
                <a:latin typeface="Franklin Gothic Medium"/>
                <a:ea typeface="Franklin Gothic Medium"/>
                <a:cs typeface="Franklin Gothic Medium"/>
                <a:sym typeface="Franklin Gothic Medium"/>
              </a:defRPr>
            </a:lvl1pPr>
          </a:lstStyle>
          <a:p>
            <a:r>
              <a:t>Add a goal statement to use VC to any plan you have. This could be through any system, including creating a GitHub repo.</a:t>
            </a:r>
          </a:p>
        </p:txBody>
      </p:sp>
      <p:sp>
        <p:nvSpPr>
          <p:cNvPr id="254" name="Needs"/>
          <p:cNvSpPr txBox="1"/>
          <p:nvPr/>
        </p:nvSpPr>
        <p:spPr>
          <a:xfrm>
            <a:off x="73638" y="2953808"/>
            <a:ext cx="1419037"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1D2FEB"/>
                </a:solidFill>
                <a:latin typeface="Franklin Gothic Medium"/>
                <a:ea typeface="Franklin Gothic Medium"/>
                <a:cs typeface="Franklin Gothic Medium"/>
                <a:sym typeface="Franklin Gothic Medium"/>
              </a:defRPr>
            </a:lvl1pPr>
          </a:lstStyle>
          <a:p>
            <a:r>
              <a:t>Needs</a:t>
            </a:r>
          </a:p>
        </p:txBody>
      </p:sp>
      <p:sp>
        <p:nvSpPr>
          <p:cNvPr id="255" name="Be sure to think about what you might need to implement VC. If you are using GitHub, almost all of your needs are already met (account, technology); you just need to make a repo and clone it to your computer."/>
          <p:cNvSpPr txBox="1"/>
          <p:nvPr/>
        </p:nvSpPr>
        <p:spPr>
          <a:xfrm>
            <a:off x="73638" y="3436277"/>
            <a:ext cx="12857525" cy="1371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000">
                <a:solidFill>
                  <a:srgbClr val="000004"/>
                </a:solidFill>
                <a:latin typeface="Franklin Gothic Medium"/>
                <a:ea typeface="Franklin Gothic Medium"/>
                <a:cs typeface="Franklin Gothic Medium"/>
                <a:sym typeface="Franklin Gothic Medium"/>
              </a:defRPr>
            </a:lvl1pPr>
          </a:lstStyle>
          <a:p>
            <a:r>
              <a:t>Be sure to think about what you might need to implement VC. If you are using GitHub, almost all of your needs are already met (account, technology); you just need to make a repo and clone it to your computer.</a:t>
            </a:r>
          </a:p>
        </p:txBody>
      </p:sp>
      <p:sp>
        <p:nvSpPr>
          <p:cNvPr id="256" name="Steps"/>
          <p:cNvSpPr txBox="1"/>
          <p:nvPr/>
        </p:nvSpPr>
        <p:spPr>
          <a:xfrm>
            <a:off x="73638" y="5096140"/>
            <a:ext cx="1419037"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1D2FEB"/>
                </a:solidFill>
                <a:latin typeface="Franklin Gothic Medium"/>
                <a:ea typeface="Franklin Gothic Medium"/>
                <a:cs typeface="Franklin Gothic Medium"/>
                <a:sym typeface="Franklin Gothic Medium"/>
              </a:defRPr>
            </a:lvl1pPr>
          </a:lstStyle>
          <a:p>
            <a:r>
              <a:t>Steps</a:t>
            </a:r>
          </a:p>
        </p:txBody>
      </p:sp>
      <p:sp>
        <p:nvSpPr>
          <p:cNvPr id="257" name="Add an initial step your plans to A) create a repo, B) clone it to your computer, and C) set up an R project for that repo as a first step (even before loading packages).…"/>
          <p:cNvSpPr txBox="1"/>
          <p:nvPr/>
        </p:nvSpPr>
        <p:spPr>
          <a:xfrm>
            <a:off x="183705" y="5539515"/>
            <a:ext cx="12637390" cy="3098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64444" indent="-564444" algn="l">
              <a:buSzPct val="100000"/>
              <a:buAutoNum type="arabicPeriod"/>
              <a:defRPr sz="3000">
                <a:solidFill>
                  <a:srgbClr val="000004"/>
                </a:solidFill>
                <a:latin typeface="Franklin Gothic Medium"/>
                <a:ea typeface="Franklin Gothic Medium"/>
                <a:cs typeface="Franklin Gothic Medium"/>
                <a:sym typeface="Franklin Gothic Medium"/>
              </a:defRPr>
            </a:pPr>
            <a:r>
              <a:t>Add an initial step your plans to A) create a repo, B) clone it to your computer, and C) set up an R project for that repo as a first step (even before loading packages).</a:t>
            </a:r>
          </a:p>
          <a:p>
            <a:pPr marL="564444" indent="-564444" algn="l">
              <a:buSzPct val="100000"/>
              <a:buAutoNum type="arabicPeriod"/>
              <a:defRPr sz="3000">
                <a:solidFill>
                  <a:srgbClr val="000004"/>
                </a:solidFill>
                <a:latin typeface="Franklin Gothic Medium"/>
                <a:ea typeface="Franklin Gothic Medium"/>
                <a:cs typeface="Franklin Gothic Medium"/>
                <a:sym typeface="Franklin Gothic Medium"/>
              </a:defRPr>
            </a:pPr>
            <a:r>
              <a:t>Add steps at the end of each sub-section of your plan to make commits and push them to the server on the appropriate branch.</a:t>
            </a:r>
          </a:p>
          <a:p>
            <a:pPr marL="564444" indent="-564444" algn="l">
              <a:buSzPct val="100000"/>
              <a:buAutoNum type="arabicPeriod"/>
              <a:defRPr sz="3000">
                <a:solidFill>
                  <a:srgbClr val="000004"/>
                </a:solidFill>
                <a:latin typeface="Franklin Gothic Medium"/>
                <a:ea typeface="Franklin Gothic Medium"/>
                <a:cs typeface="Franklin Gothic Medium"/>
                <a:sym typeface="Franklin Gothic Medium"/>
              </a:defRPr>
            </a:pPr>
            <a:r>
              <a:t>Add steps to check in on the Issues tab to help you refine/update your plan and to track your progress.</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52"/>
                                        </p:tgtEl>
                                        <p:attrNameLst>
                                          <p:attrName>style.visibility</p:attrName>
                                        </p:attrNameLst>
                                      </p:cBhvr>
                                      <p:to>
                                        <p:strVal val="visible"/>
                                      </p:to>
                                    </p:set>
                                    <p:animEffect transition="in" filter="fade">
                                      <p:cBhvr>
                                        <p:cTn id="7" dur="1000"/>
                                        <p:tgtEl>
                                          <p:spTgt spid="2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253"/>
                                        </p:tgtEl>
                                        <p:attrNameLst>
                                          <p:attrName>style.visibility</p:attrName>
                                        </p:attrNameLst>
                                      </p:cBhvr>
                                      <p:to>
                                        <p:strVal val="visible"/>
                                      </p:to>
                                    </p:set>
                                    <p:animEffect transition="in" filter="fade">
                                      <p:cBhvr>
                                        <p:cTn id="12" dur="1000"/>
                                        <p:tgtEl>
                                          <p:spTgt spid="2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254"/>
                                        </p:tgtEl>
                                        <p:attrNameLst>
                                          <p:attrName>style.visibility</p:attrName>
                                        </p:attrNameLst>
                                      </p:cBhvr>
                                      <p:to>
                                        <p:strVal val="visible"/>
                                      </p:to>
                                    </p:set>
                                    <p:animEffect transition="in" filter="fade">
                                      <p:cBhvr>
                                        <p:cTn id="17" dur="1000"/>
                                        <p:tgtEl>
                                          <p:spTgt spid="25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255"/>
                                        </p:tgtEl>
                                        <p:attrNameLst>
                                          <p:attrName>style.visibility</p:attrName>
                                        </p:attrNameLst>
                                      </p:cBhvr>
                                      <p:to>
                                        <p:strVal val="visible"/>
                                      </p:to>
                                    </p:set>
                                    <p:animEffect transition="in" filter="fade">
                                      <p:cBhvr>
                                        <p:cTn id="22" dur="1000"/>
                                        <p:tgtEl>
                                          <p:spTgt spid="25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fill="hold" grpId="5" nodeType="clickEffect">
                                  <p:stCondLst>
                                    <p:cond delay="0"/>
                                  </p:stCondLst>
                                  <p:iterate>
                                    <p:tmAbs val="0"/>
                                  </p:iterate>
                                  <p:childTnLst>
                                    <p:set>
                                      <p:cBhvr>
                                        <p:cTn id="26" fill="hold"/>
                                        <p:tgtEl>
                                          <p:spTgt spid="256"/>
                                        </p:tgtEl>
                                        <p:attrNameLst>
                                          <p:attrName>style.visibility</p:attrName>
                                        </p:attrNameLst>
                                      </p:cBhvr>
                                      <p:to>
                                        <p:strVal val="visible"/>
                                      </p:to>
                                    </p:set>
                                    <p:animEffect transition="in" filter="fade">
                                      <p:cBhvr>
                                        <p:cTn id="27" dur="1000"/>
                                        <p:tgtEl>
                                          <p:spTgt spid="25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fill="hold" grpId="6" nodeType="clickEffect">
                                  <p:stCondLst>
                                    <p:cond delay="0"/>
                                  </p:stCondLst>
                                  <p:iterate>
                                    <p:tmAbs val="0"/>
                                  </p:iterate>
                                  <p:childTnLst>
                                    <p:set>
                                      <p:cBhvr>
                                        <p:cTn id="31" fill="hold"/>
                                        <p:tgtEl>
                                          <p:spTgt spid="257"/>
                                        </p:tgtEl>
                                        <p:attrNameLst>
                                          <p:attrName>style.visibility</p:attrName>
                                        </p:attrNameLst>
                                      </p:cBhvr>
                                      <p:to>
                                        <p:strVal val="visible"/>
                                      </p:to>
                                    </p:set>
                                    <p:animEffect transition="in" filter="fade">
                                      <p:cBhvr>
                                        <p:cTn id="32" dur="1000"/>
                                        <p:tgtEl>
                                          <p:spTgt spid="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 grpId="1" animBg="1" advAuto="0"/>
      <p:bldP spid="253" grpId="2" animBg="1" advAuto="0"/>
      <p:bldP spid="254" grpId="3" animBg="1" advAuto="0"/>
      <p:bldP spid="255" grpId="4" animBg="1" advAuto="0"/>
      <p:bldP spid="256" grpId="5" animBg="1" advAuto="0"/>
      <p:bldP spid="257" grpId="6" animBg="1" advAuto="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GitHub Practice"/>
          <p:cNvSpPr txBox="1">
            <a:spLocks noGrp="1"/>
          </p:cNvSpPr>
          <p:nvPr>
            <p:ph type="ctrTitle"/>
          </p:nvPr>
        </p:nvSpPr>
        <p:spPr>
          <a:xfrm>
            <a:off x="2578099" y="2481791"/>
            <a:ext cx="7848602" cy="2476501"/>
          </a:xfrm>
          <a:prstGeom prst="rect">
            <a:avLst/>
          </a:prstGeom>
        </p:spPr>
        <p:txBody>
          <a:bodyPr/>
          <a:lstStyle/>
          <a:p>
            <a:r>
              <a:t>GitHub Practice</a:t>
            </a:r>
          </a:p>
        </p:txBody>
      </p:sp>
      <p:sp>
        <p:nvSpPr>
          <p:cNvPr id="26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30</a:t>
            </a:fld>
            <a:endParaRPr/>
          </a:p>
        </p:txBody>
      </p:sp>
      <p:sp>
        <p:nvSpPr>
          <p:cNvPr id="261" name="Unit 4"/>
          <p:cNvSpPr txBox="1">
            <a:spLocks noGrp="1"/>
          </p:cNvSpPr>
          <p:nvPr>
            <p:ph type="subTitle" sz="quarter" idx="1"/>
          </p:nvPr>
        </p:nvSpPr>
        <p:spPr>
          <a:prstGeom prst="rect">
            <a:avLst/>
          </a:prstGeom>
        </p:spPr>
        <p:txBody>
          <a:bodyPr/>
          <a:lstStyle/>
          <a:p>
            <a:r>
              <a:t>Unit 4</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31</a:t>
            </a:fld>
            <a:endParaRPr/>
          </a:p>
        </p:txBody>
      </p:sp>
      <p:sp>
        <p:nvSpPr>
          <p:cNvPr id="264" name="HW #4.4"/>
          <p:cNvSpPr txBox="1">
            <a:spLocks noGrp="1"/>
          </p:cNvSpPr>
          <p:nvPr>
            <p:ph type="title"/>
          </p:nvPr>
        </p:nvSpPr>
        <p:spPr>
          <a:xfrm>
            <a:off x="1639260" y="-29634"/>
            <a:ext cx="9726281" cy="885826"/>
          </a:xfrm>
          <a:prstGeom prst="rect">
            <a:avLst/>
          </a:prstGeom>
        </p:spPr>
        <p:txBody>
          <a:bodyPr/>
          <a:lstStyle/>
          <a:p>
            <a:r>
              <a:t>HW #4.4</a:t>
            </a:r>
          </a:p>
        </p:txBody>
      </p:sp>
      <p:sp>
        <p:nvSpPr>
          <p:cNvPr id="265" name="HW #4.4 asks you to put into practice what we've been discussing this week around version control and GitHub."/>
          <p:cNvSpPr txBox="1"/>
          <p:nvPr/>
        </p:nvSpPr>
        <p:spPr>
          <a:xfrm>
            <a:off x="73638" y="977900"/>
            <a:ext cx="12857524"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HW #4.4 asks you to put into practice what we've been discussing this week around version control and GitHub.</a:t>
            </a:r>
          </a:p>
        </p:txBody>
      </p:sp>
      <p:sp>
        <p:nvSpPr>
          <p:cNvPr id="266" name="To complete this activity, you're going to need to create a repo for your HW #4.3 work. Your repo should include:…"/>
          <p:cNvSpPr txBox="1"/>
          <p:nvPr/>
        </p:nvSpPr>
        <p:spPr>
          <a:xfrm>
            <a:off x="209104" y="2270260"/>
            <a:ext cx="12586591" cy="4648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To complete this activity, you're going to need to create a repo for your HW #4.3 work. Your repo should include:</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Using the branching capabilities of Git (Main &amp; at least one more).</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Using the Issues feature of the repo (at least two).</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Properly set commits and pull requests.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A README file.</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A plan that covers both the creating/maintain the repo AND your HW #4.3 work.</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The PDF you submitted as part of HW #4.3.</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The QMD file you used in HW #4.3.</a:t>
            </a:r>
          </a:p>
        </p:txBody>
      </p:sp>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a14="http://schemas.microsoft.com/office/drawing/2010/main" xmlns:m="http://schemas.openxmlformats.org/officeDocument/2006/math"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32</a:t>
            </a:fld>
            <a:endParaRPr/>
          </a:p>
        </p:txBody>
      </p:sp>
      <p:sp>
        <p:nvSpPr>
          <p:cNvPr id="269" name="Homework"/>
          <p:cNvSpPr txBox="1">
            <a:spLocks noGrp="1"/>
          </p:cNvSpPr>
          <p:nvPr>
            <p:ph type="title"/>
          </p:nvPr>
        </p:nvSpPr>
        <p:spPr>
          <a:prstGeom prst="rect">
            <a:avLst/>
          </a:prstGeom>
        </p:spPr>
        <p:txBody>
          <a:bodyPr/>
          <a:lstStyle/>
          <a:p>
            <a:r>
              <a:t>Homework</a:t>
            </a:r>
          </a:p>
        </p:txBody>
      </p:sp>
      <p:sp>
        <p:nvSpPr>
          <p:cNvPr id="270" name="Assignments…"/>
          <p:cNvSpPr txBox="1"/>
          <p:nvPr/>
        </p:nvSpPr>
        <p:spPr>
          <a:xfrm>
            <a:off x="280731" y="2342947"/>
            <a:ext cx="11969204" cy="2387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a:defRPr sz="3200">
                <a:solidFill>
                  <a:srgbClr val="000004"/>
                </a:solidFill>
                <a:latin typeface="Franklin Gothic Medium"/>
                <a:ea typeface="Franklin Gothic Medium"/>
                <a:cs typeface="Franklin Gothic Medium"/>
                <a:sym typeface="Franklin Gothic Medium"/>
              </a:defRPr>
            </a:pPr>
            <a:r>
              <a:t>Assignments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HW #4.4: GitHub Practice</a:t>
            </a:r>
          </a:p>
          <a:p>
            <a:pPr marL="1465384" lvl="1" indent="-703384" algn="l">
              <a:buSzPct val="171000"/>
              <a:buChar char="•"/>
              <a:defRPr sz="3200">
                <a:solidFill>
                  <a:srgbClr val="000004"/>
                </a:solidFill>
                <a:latin typeface="Franklin Gothic Medium"/>
                <a:ea typeface="Franklin Gothic Medium"/>
                <a:cs typeface="Franklin Gothic Medium"/>
                <a:sym typeface="Franklin Gothic Medium"/>
              </a:defRPr>
            </a:pPr>
            <a:r>
              <a:t>Due by 11:59pm, Friday, April 17, 2026</a:t>
            </a:r>
          </a:p>
          <a:p>
            <a:pPr marL="1465384" lvl="1" indent="-703384" algn="l">
              <a:buSzPct val="171000"/>
              <a:buChar char="•"/>
              <a:defRPr sz="3200">
                <a:solidFill>
                  <a:srgbClr val="000004"/>
                </a:solidFill>
                <a:latin typeface="Franklin Gothic Medium"/>
                <a:ea typeface="Franklin Gothic Medium"/>
                <a:cs typeface="Franklin Gothic Medium"/>
                <a:sym typeface="Franklin Gothic Medium"/>
              </a:defRPr>
            </a:pPr>
            <a:r>
              <a:t>Be sure to enter the URL to your repo in the first question of the assignment.</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Plan for the Day"/>
          <p:cNvSpPr txBox="1">
            <a:spLocks noGrp="1"/>
          </p:cNvSpPr>
          <p:nvPr>
            <p:ph type="title"/>
          </p:nvPr>
        </p:nvSpPr>
        <p:spPr>
          <a:prstGeom prst="rect">
            <a:avLst/>
          </a:prstGeom>
        </p:spPr>
        <p:txBody>
          <a:bodyPr/>
          <a:lstStyle/>
          <a:p>
            <a:r>
              <a:t>Plan for the Day</a:t>
            </a:r>
          </a:p>
        </p:txBody>
      </p:sp>
      <p:sp>
        <p:nvSpPr>
          <p:cNvPr id="27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33</a:t>
            </a:fld>
            <a:endParaRPr/>
          </a:p>
        </p:txBody>
      </p:sp>
      <p:sp>
        <p:nvSpPr>
          <p:cNvPr id="274" name="Goals"/>
          <p:cNvSpPr txBox="1"/>
          <p:nvPr/>
        </p:nvSpPr>
        <p:spPr>
          <a:xfrm>
            <a:off x="101599" y="698500"/>
            <a:ext cx="1068389"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r>
              <a:t>Goals</a:t>
            </a:r>
          </a:p>
        </p:txBody>
      </p:sp>
      <p:sp>
        <p:nvSpPr>
          <p:cNvPr id="275" name="Students will develop ways of thinking that make use of R's computing power to solve problems. (CT.1)…"/>
          <p:cNvSpPr txBox="1"/>
          <p:nvPr/>
        </p:nvSpPr>
        <p:spPr>
          <a:xfrm>
            <a:off x="220265" y="1078135"/>
            <a:ext cx="12564270" cy="353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ways of thinking that make use of R's computing power to solve problems. (CT.1)</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skills in programming with statistical software. (Prog.4, Prog.5, Prog.6)</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skills in creating reproducible code and data analyses. (Repro.1, Repro.2, Repro.4)</a:t>
            </a:r>
          </a:p>
          <a:p>
            <a:pPr marL="507999" indent="-507999" algn="l">
              <a:buSzPct val="171000"/>
              <a:buChar char="•"/>
              <a:defRPr sz="3000">
                <a:solidFill>
                  <a:srgbClr val="000004"/>
                </a:solidFill>
                <a:latin typeface="Franklin Gothic Medium"/>
                <a:ea typeface="Franklin Gothic Medium"/>
                <a:cs typeface="Franklin Gothic Medium"/>
                <a:sym typeface="Franklin Gothic Medium"/>
              </a:defRPr>
            </a:pPr>
            <a:r>
              <a:t>Students will develop their professional identity through self-reflection and working with others. (Prof.2, Prof.3, Prof.4, Prof.5)</a:t>
            </a:r>
          </a:p>
        </p:txBody>
      </p:sp>
      <p:sp>
        <p:nvSpPr>
          <p:cNvPr id="276" name="Needs: signal cups, notes"/>
          <p:cNvSpPr txBox="1"/>
          <p:nvPr/>
        </p:nvSpPr>
        <p:spPr>
          <a:xfrm>
            <a:off x="123824" y="5034227"/>
            <a:ext cx="4484689"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p>
            <a:pPr algn="l">
              <a:defRPr sz="3200">
                <a:solidFill>
                  <a:srgbClr val="008900"/>
                </a:solidFill>
                <a:latin typeface="Franklin Gothic Medium"/>
                <a:ea typeface="Franklin Gothic Medium"/>
                <a:cs typeface="Franklin Gothic Medium"/>
                <a:sym typeface="Franklin Gothic Medium"/>
              </a:defRPr>
            </a:pPr>
            <a:r>
              <a:t>Needs: </a:t>
            </a:r>
            <a:r>
              <a:rPr>
                <a:solidFill>
                  <a:srgbClr val="000004"/>
                </a:solidFill>
              </a:rPr>
              <a:t>signal cups, notes</a:t>
            </a:r>
          </a:p>
        </p:txBody>
      </p:sp>
      <p:sp>
        <p:nvSpPr>
          <p:cNvPr id="277" name="Steps"/>
          <p:cNvSpPr txBox="1"/>
          <p:nvPr/>
        </p:nvSpPr>
        <p:spPr>
          <a:xfrm>
            <a:off x="105171" y="5974820"/>
            <a:ext cx="1061245"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r>
              <a:t>Steps</a:t>
            </a:r>
          </a:p>
        </p:txBody>
      </p:sp>
      <p:sp>
        <p:nvSpPr>
          <p:cNvPr id="278" name="Creating Production Ready Code…"/>
          <p:cNvSpPr txBox="1"/>
          <p:nvPr/>
        </p:nvSpPr>
        <p:spPr>
          <a:xfrm>
            <a:off x="221300" y="6711519"/>
            <a:ext cx="7616780" cy="1905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08000" indent="-508000" algn="l">
              <a:buSzPct val="100000"/>
              <a:buAutoNum type="arabicPeriod"/>
              <a:defRPr sz="3200">
                <a:solidFill>
                  <a:srgbClr val="000004"/>
                </a:solidFill>
                <a:latin typeface="Franklin Gothic Medium"/>
                <a:ea typeface="Franklin Gothic Medium"/>
                <a:cs typeface="Franklin Gothic Medium"/>
                <a:sym typeface="Franklin Gothic Medium"/>
              </a:defRPr>
            </a:pPr>
            <a:r>
              <a:t>Creating Production Ready Code</a:t>
            </a:r>
          </a:p>
          <a:p>
            <a:pPr marL="508000" indent="-508000" algn="l">
              <a:buSzPct val="100000"/>
              <a:buAutoNum type="arabicPeriod"/>
              <a:defRPr sz="3200">
                <a:solidFill>
                  <a:srgbClr val="000004"/>
                </a:solidFill>
                <a:latin typeface="Franklin Gothic Medium"/>
                <a:ea typeface="Franklin Gothic Medium"/>
                <a:cs typeface="Franklin Gothic Medium"/>
                <a:sym typeface="Franklin Gothic Medium"/>
              </a:defRPr>
            </a:pPr>
            <a:r>
              <a:t>Linting</a:t>
            </a:r>
          </a:p>
          <a:p>
            <a:pPr marL="508000" indent="-508000" algn="l">
              <a:buSzPct val="100000"/>
              <a:buAutoNum type="arabicPeriod"/>
              <a:defRPr sz="3200">
                <a:solidFill>
                  <a:srgbClr val="000004"/>
                </a:solidFill>
                <a:latin typeface="Franklin Gothic Medium"/>
                <a:ea typeface="Franklin Gothic Medium"/>
                <a:cs typeface="Franklin Gothic Medium"/>
                <a:sym typeface="Franklin Gothic Medium"/>
              </a:defRPr>
            </a:pPr>
            <a:r>
              <a:t>Strategies for Working in Teams</a:t>
            </a:r>
          </a:p>
          <a:p>
            <a:pPr marL="508000" indent="-508000" algn="l">
              <a:buSzPct val="100000"/>
              <a:buAutoNum type="arabicPeriod"/>
              <a:defRPr sz="3200">
                <a:solidFill>
                  <a:srgbClr val="000004"/>
                </a:solidFill>
                <a:latin typeface="Franklin Gothic Medium"/>
                <a:ea typeface="Franklin Gothic Medium"/>
                <a:cs typeface="Franklin Gothic Medium"/>
                <a:sym typeface="Franklin Gothic Medium"/>
              </a:defRPr>
            </a:pPr>
            <a:r>
              <a:t>Introduction to the Course Project</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Making Your Code Production Ready"/>
          <p:cNvSpPr txBox="1">
            <a:spLocks noGrp="1"/>
          </p:cNvSpPr>
          <p:nvPr>
            <p:ph type="ctrTitle"/>
          </p:nvPr>
        </p:nvSpPr>
        <p:spPr>
          <a:xfrm>
            <a:off x="3363569" y="2414058"/>
            <a:ext cx="6277661" cy="2476501"/>
          </a:xfrm>
          <a:prstGeom prst="rect">
            <a:avLst/>
          </a:prstGeom>
        </p:spPr>
        <p:txBody>
          <a:bodyPr/>
          <a:lstStyle/>
          <a:p>
            <a:r>
              <a:t>Making Your Code Production Ready</a:t>
            </a:r>
          </a:p>
        </p:txBody>
      </p:sp>
      <p:sp>
        <p:nvSpPr>
          <p:cNvPr id="28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34</a:t>
            </a:fld>
            <a:endParaRPr/>
          </a:p>
        </p:txBody>
      </p:sp>
      <p:sp>
        <p:nvSpPr>
          <p:cNvPr id="282" name="Unit 4"/>
          <p:cNvSpPr txBox="1">
            <a:spLocks noGrp="1"/>
          </p:cNvSpPr>
          <p:nvPr>
            <p:ph type="subTitle" sz="quarter" idx="1"/>
          </p:nvPr>
        </p:nvSpPr>
        <p:spPr>
          <a:prstGeom prst="rect">
            <a:avLst/>
          </a:prstGeom>
        </p:spPr>
        <p:txBody>
          <a:bodyPr/>
          <a:lstStyle/>
          <a:p>
            <a:r>
              <a:t>Unit 4</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35</a:t>
            </a:fld>
            <a:endParaRPr/>
          </a:p>
        </p:txBody>
      </p:sp>
      <p:sp>
        <p:nvSpPr>
          <p:cNvPr id="285" name="PCIP and Production Ready Code"/>
          <p:cNvSpPr txBox="1">
            <a:spLocks noGrp="1"/>
          </p:cNvSpPr>
          <p:nvPr>
            <p:ph type="title"/>
          </p:nvPr>
        </p:nvSpPr>
        <p:spPr>
          <a:xfrm>
            <a:off x="1666687" y="21166"/>
            <a:ext cx="9671426" cy="885826"/>
          </a:xfrm>
          <a:prstGeom prst="rect">
            <a:avLst/>
          </a:prstGeom>
        </p:spPr>
        <p:txBody>
          <a:bodyPr/>
          <a:lstStyle>
            <a:lvl1pPr defTabSz="572516">
              <a:defRPr sz="4508"/>
            </a:lvl1pPr>
          </a:lstStyle>
          <a:p>
            <a:r>
              <a:t>PCIP and Production Ready Code</a:t>
            </a:r>
          </a:p>
        </p:txBody>
      </p:sp>
      <p:sp>
        <p:nvSpPr>
          <p:cNvPr id="286" name="For our purposes, Production Ready R code is…"/>
          <p:cNvSpPr txBox="1"/>
          <p:nvPr/>
        </p:nvSpPr>
        <p:spPr>
          <a:xfrm>
            <a:off x="111224" y="3184304"/>
            <a:ext cx="12240106" cy="2362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1D2FEB"/>
                </a:solidFill>
                <a:latin typeface="Franklin Gothic Medium"/>
                <a:ea typeface="Franklin Gothic Medium"/>
                <a:cs typeface="Franklin Gothic Medium"/>
                <a:sym typeface="Franklin Gothic Medium"/>
              </a:defRPr>
            </a:pPr>
            <a:r>
              <a:t>For our purposes, Production Ready R code is</a:t>
            </a:r>
          </a:p>
          <a:p>
            <a:pPr marL="1199444" lvl="1" indent="-564444" algn="l">
              <a:buSzPct val="100000"/>
              <a:buAutoNum type="arabicPeriod"/>
              <a:defRPr sz="3200">
                <a:solidFill>
                  <a:srgbClr val="1D2FEB"/>
                </a:solidFill>
                <a:latin typeface="Franklin Gothic Medium"/>
                <a:ea typeface="Franklin Gothic Medium"/>
                <a:cs typeface="Franklin Gothic Medium"/>
                <a:sym typeface="Franklin Gothic Medium"/>
              </a:defRPr>
            </a:pPr>
            <a:r>
              <a:t>Readable</a:t>
            </a:r>
          </a:p>
          <a:p>
            <a:pPr marL="1199444" lvl="1" indent="-564444" algn="l">
              <a:buSzPct val="100000"/>
              <a:buAutoNum type="arabicPeriod"/>
              <a:defRPr sz="3200">
                <a:solidFill>
                  <a:srgbClr val="1D2FEB"/>
                </a:solidFill>
                <a:latin typeface="Franklin Gothic Medium"/>
                <a:ea typeface="Franklin Gothic Medium"/>
                <a:cs typeface="Franklin Gothic Medium"/>
                <a:sym typeface="Franklin Gothic Medium"/>
              </a:defRPr>
            </a:pPr>
            <a:r>
              <a:t>Maintainable</a:t>
            </a:r>
          </a:p>
          <a:p>
            <a:pPr marL="1199444" lvl="1" indent="-564444" algn="l">
              <a:buSzPct val="100000"/>
              <a:buAutoNum type="arabicPeriod"/>
              <a:defRPr sz="3200">
                <a:solidFill>
                  <a:srgbClr val="1D2FEB"/>
                </a:solidFill>
                <a:latin typeface="Franklin Gothic Medium"/>
                <a:ea typeface="Franklin Gothic Medium"/>
                <a:cs typeface="Franklin Gothic Medium"/>
                <a:sym typeface="Franklin Gothic Medium"/>
              </a:defRPr>
            </a:pPr>
            <a:r>
              <a:t>Reproducible</a:t>
            </a:r>
          </a:p>
          <a:p>
            <a:pPr marL="1199444" lvl="1" indent="-564444" algn="l">
              <a:buSzPct val="100000"/>
              <a:buAutoNum type="arabicPeriod"/>
              <a:defRPr sz="3200">
                <a:solidFill>
                  <a:srgbClr val="1D2FEB"/>
                </a:solidFill>
                <a:latin typeface="Franklin Gothic Medium"/>
                <a:ea typeface="Franklin Gothic Medium"/>
                <a:cs typeface="Franklin Gothic Medium"/>
                <a:sym typeface="Franklin Gothic Medium"/>
              </a:defRPr>
            </a:pPr>
            <a:r>
              <a:t>Documented</a:t>
            </a:r>
          </a:p>
        </p:txBody>
      </p:sp>
      <p:sp>
        <p:nvSpPr>
          <p:cNvPr id="287" name="These elements support each other, making your work stronger when you make sure to progress on each."/>
          <p:cNvSpPr txBox="1"/>
          <p:nvPr/>
        </p:nvSpPr>
        <p:spPr>
          <a:xfrm>
            <a:off x="162023" y="5855787"/>
            <a:ext cx="12680753"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These elements support each other, making your work stronger when you make sure to progress on each.</a:t>
            </a:r>
          </a:p>
        </p:txBody>
      </p:sp>
      <p:sp>
        <p:nvSpPr>
          <p:cNvPr id="288" name="We've provided your with tools and ways of thinking that will support you in making production ready R code throughout the semester."/>
          <p:cNvSpPr txBox="1"/>
          <p:nvPr/>
        </p:nvSpPr>
        <p:spPr>
          <a:xfrm>
            <a:off x="162023" y="7333870"/>
            <a:ext cx="12680754"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We've provided your with tools and ways of thinking that will support you in making production ready R code throughout the semester.</a:t>
            </a:r>
          </a:p>
        </p:txBody>
      </p:sp>
      <p:sp>
        <p:nvSpPr>
          <p:cNvPr id="289" name="If you've been drawing upon the PCIP system, then your code is going to be in a much stronger position than if you didn't."/>
          <p:cNvSpPr txBox="1"/>
          <p:nvPr/>
        </p:nvSpPr>
        <p:spPr>
          <a:xfrm>
            <a:off x="112077" y="977900"/>
            <a:ext cx="1278064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If you've been drawing upon the PCIP system, then your code is going to be in a much stronger position than if you didn't.</a:t>
            </a:r>
          </a:p>
        </p:txBody>
      </p:sp>
      <p:sp>
        <p:nvSpPr>
          <p:cNvPr id="290" name="In particular, your code will be closer to being truly Production Ready."/>
          <p:cNvSpPr txBox="1"/>
          <p:nvPr/>
        </p:nvSpPr>
        <p:spPr>
          <a:xfrm>
            <a:off x="112077" y="2341621"/>
            <a:ext cx="12780645"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In particular, your code will be closer to being truly </a:t>
            </a:r>
            <a:r>
              <a:rPr i="1">
                <a:solidFill>
                  <a:srgbClr val="1D2FEB"/>
                </a:solidFill>
              </a:rPr>
              <a:t>Production Ready</a:t>
            </a:r>
            <a:r>
              <a:rPr i="1"/>
              <a:t>.</a:t>
            </a:r>
          </a:p>
        </p:txBody>
      </p:sp>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90"/>
                                        </p:tgtEl>
                                        <p:attrNameLst>
                                          <p:attrName>style.visibility</p:attrName>
                                        </p:attrNameLst>
                                      </p:cBhvr>
                                      <p:to>
                                        <p:strVal val="visible"/>
                                      </p:to>
                                    </p:set>
                                    <p:animEffect transition="in" filter="fade">
                                      <p:cBhvr>
                                        <p:cTn id="7" dur="1000"/>
                                        <p:tgtEl>
                                          <p:spTgt spid="2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286"/>
                                        </p:tgtEl>
                                        <p:attrNameLst>
                                          <p:attrName>style.visibility</p:attrName>
                                        </p:attrNameLst>
                                      </p:cBhvr>
                                      <p:to>
                                        <p:strVal val="visible"/>
                                      </p:to>
                                    </p:set>
                                    <p:animEffect transition="in" filter="fade">
                                      <p:cBhvr>
                                        <p:cTn id="12" dur="1500"/>
                                        <p:tgtEl>
                                          <p:spTgt spid="28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287"/>
                                        </p:tgtEl>
                                        <p:attrNameLst>
                                          <p:attrName>style.visibility</p:attrName>
                                        </p:attrNameLst>
                                      </p:cBhvr>
                                      <p:to>
                                        <p:strVal val="visible"/>
                                      </p:to>
                                    </p:set>
                                    <p:animEffect transition="in" filter="fade">
                                      <p:cBhvr>
                                        <p:cTn id="17" dur="1000"/>
                                        <p:tgtEl>
                                          <p:spTgt spid="28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288"/>
                                        </p:tgtEl>
                                        <p:attrNameLst>
                                          <p:attrName>style.visibility</p:attrName>
                                        </p:attrNameLst>
                                      </p:cBhvr>
                                      <p:to>
                                        <p:strVal val="visible"/>
                                      </p:to>
                                    </p:set>
                                    <p:animEffect transition="in" filter="fade">
                                      <p:cBhvr>
                                        <p:cTn id="22" dur="1000"/>
                                        <p:tgtEl>
                                          <p:spTgt spid="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 grpId="2" animBg="1" advAuto="0"/>
      <p:bldP spid="287" grpId="3" animBg="1" advAuto="0"/>
      <p:bldP spid="288" grpId="4" animBg="1" advAuto="0"/>
      <p:bldP spid="290" grpId="1" animBg="1" advAuto="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36</a:t>
            </a:fld>
            <a:endParaRPr/>
          </a:p>
        </p:txBody>
      </p:sp>
      <p:sp>
        <p:nvSpPr>
          <p:cNvPr id="293" name="Key Tools"/>
          <p:cNvSpPr txBox="1">
            <a:spLocks noGrp="1"/>
          </p:cNvSpPr>
          <p:nvPr>
            <p:ph type="title"/>
          </p:nvPr>
        </p:nvSpPr>
        <p:spPr>
          <a:xfrm>
            <a:off x="1050939" y="-12701"/>
            <a:ext cx="10902922" cy="885826"/>
          </a:xfrm>
          <a:prstGeom prst="rect">
            <a:avLst/>
          </a:prstGeom>
        </p:spPr>
        <p:txBody>
          <a:bodyPr/>
          <a:lstStyle/>
          <a:p>
            <a:r>
              <a:t>Key Tools</a:t>
            </a:r>
          </a:p>
        </p:txBody>
      </p:sp>
      <p:sp>
        <p:nvSpPr>
          <p:cNvPr id="294" name="We've provided your with tools and ways of thinking that will support you in making production ready R code throughout the semester."/>
          <p:cNvSpPr txBox="1"/>
          <p:nvPr/>
        </p:nvSpPr>
        <p:spPr>
          <a:xfrm>
            <a:off x="162023" y="977900"/>
            <a:ext cx="12680754"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We've provided your with tools and ways of thinking that will support you in making production ready R code throughout the semester.</a:t>
            </a:r>
          </a:p>
        </p:txBody>
      </p:sp>
      <p:sp>
        <p:nvSpPr>
          <p:cNvPr id="295" name="Here are some of the approaches that we've provided you:…"/>
          <p:cNvSpPr txBox="1"/>
          <p:nvPr/>
        </p:nvSpPr>
        <p:spPr>
          <a:xfrm>
            <a:off x="162023" y="2368657"/>
            <a:ext cx="12680754" cy="467683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Here are some of the approaches that we've provided you:</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Using the Plan-Code-Improve-Polish System</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Creating Transition Documents</a:t>
            </a:r>
          </a:p>
          <a:p>
            <a:pPr marL="1465384" lvl="1" indent="-703384" algn="l">
              <a:buSzPct val="171000"/>
              <a:buChar char="•"/>
              <a:defRPr sz="3200">
                <a:solidFill>
                  <a:srgbClr val="000004"/>
                </a:solidFill>
                <a:latin typeface="Franklin Gothic Medium"/>
                <a:ea typeface="Franklin Gothic Medium"/>
                <a:cs typeface="Franklin Gothic Medium"/>
                <a:sym typeface="Franklin Gothic Medium"/>
              </a:defRPr>
            </a:pPr>
            <a:r>
              <a:t>the Function Transition Document</a:t>
            </a:r>
          </a:p>
          <a:p>
            <a:pPr marL="1465384" lvl="1" indent="-703384" algn="l">
              <a:buSzPct val="171000"/>
              <a:buChar char="•"/>
              <a:defRPr sz="3200">
                <a:solidFill>
                  <a:srgbClr val="000004"/>
                </a:solidFill>
                <a:latin typeface="Franklin Gothic Medium"/>
                <a:ea typeface="Franklin Gothic Medium"/>
                <a:cs typeface="Franklin Gothic Medium"/>
                <a:sym typeface="Franklin Gothic Medium"/>
              </a:defRPr>
            </a:pPr>
            <a:r>
              <a:t>the Wrangling Template </a:t>
            </a:r>
          </a:p>
          <a:p>
            <a:pPr marL="1465384" lvl="1" indent="-703384" algn="l">
              <a:buSzPct val="171000"/>
              <a:buChar char="•"/>
              <a:defRPr sz="3200">
                <a:solidFill>
                  <a:srgbClr val="000004"/>
                </a:solidFill>
                <a:latin typeface="Franklin Gothic Medium"/>
                <a:ea typeface="Franklin Gothic Medium"/>
                <a:cs typeface="Franklin Gothic Medium"/>
                <a:sym typeface="Franklin Gothic Medium"/>
              </a:defRPr>
            </a:pPr>
            <a:r>
              <a:t>general transition documents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Flow of code using </a:t>
            </a:r>
            <a:r>
              <a:rPr sz="2700">
                <a:latin typeface="Monaco"/>
                <a:ea typeface="Monaco"/>
                <a:cs typeface="Monaco"/>
                <a:sym typeface="Monaco"/>
              </a:rPr>
              <a:t>{ggplot2}</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Using a Coding Style</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Using Quarto</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Using GitHub</a:t>
            </a:r>
          </a:p>
        </p:txBody>
      </p:sp>
      <p:sp>
        <p:nvSpPr>
          <p:cNvPr id="296" name="We're going to introduce you to two more tools: the concept of linting and strategies for working in teams for coding/data analysis."/>
          <p:cNvSpPr txBox="1"/>
          <p:nvPr/>
        </p:nvSpPr>
        <p:spPr>
          <a:xfrm>
            <a:off x="162023" y="7426263"/>
            <a:ext cx="12680754"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We're going to introduce you to two more tools: the concept of linting and strategies for working in teams for coding/data analysis. </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95"/>
                                        </p:tgtEl>
                                        <p:attrNameLst>
                                          <p:attrName>style.visibility</p:attrName>
                                        </p:attrNameLst>
                                      </p:cBhvr>
                                      <p:to>
                                        <p:strVal val="visible"/>
                                      </p:to>
                                    </p:set>
                                    <p:animEffect transition="in" filter="fade">
                                      <p:cBhvr>
                                        <p:cTn id="7" dur="1000"/>
                                        <p:tgtEl>
                                          <p:spTgt spid="2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296"/>
                                        </p:tgtEl>
                                        <p:attrNameLst>
                                          <p:attrName>style.visibility</p:attrName>
                                        </p:attrNameLst>
                                      </p:cBhvr>
                                      <p:to>
                                        <p:strVal val="visible"/>
                                      </p:to>
                                    </p:set>
                                    <p:animEffect transition="in" filter="fade">
                                      <p:cBhvr>
                                        <p:cTn id="12" dur="1000"/>
                                        <p:tgtEl>
                                          <p:spTgt spid="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 grpId="1" animBg="1" advAuto="0"/>
      <p:bldP spid="296" grpId="2" animBg="1" advAuto="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Linting"/>
          <p:cNvSpPr txBox="1">
            <a:spLocks noGrp="1"/>
          </p:cNvSpPr>
          <p:nvPr>
            <p:ph type="ctrTitle"/>
          </p:nvPr>
        </p:nvSpPr>
        <p:spPr>
          <a:xfrm>
            <a:off x="3363569" y="2414058"/>
            <a:ext cx="6277661" cy="2476501"/>
          </a:xfrm>
          <a:prstGeom prst="rect">
            <a:avLst/>
          </a:prstGeom>
        </p:spPr>
        <p:txBody>
          <a:bodyPr/>
          <a:lstStyle/>
          <a:p>
            <a:r>
              <a:t>Linting</a:t>
            </a:r>
          </a:p>
        </p:txBody>
      </p:sp>
      <p:sp>
        <p:nvSpPr>
          <p:cNvPr id="299" name="Slide Number"/>
          <p:cNvSpPr txBox="1">
            <a:spLocks noGrp="1"/>
          </p:cNvSpPr>
          <p:nvPr>
            <p:ph type="sldNum" sz="quarter" idx="2"/>
          </p:nvPr>
        </p:nvSpPr>
        <p:spPr>
          <a:xfrm>
            <a:off x="6345870" y="9369954"/>
            <a:ext cx="313060" cy="2565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37</a:t>
            </a:fld>
            <a:endParaRPr/>
          </a:p>
        </p:txBody>
      </p:sp>
      <p:sp>
        <p:nvSpPr>
          <p:cNvPr id="300" name="Unit 4"/>
          <p:cNvSpPr txBox="1">
            <a:spLocks noGrp="1"/>
          </p:cNvSpPr>
          <p:nvPr>
            <p:ph type="subTitle" sz="quarter" idx="1"/>
          </p:nvPr>
        </p:nvSpPr>
        <p:spPr>
          <a:prstGeom prst="rect">
            <a:avLst/>
          </a:prstGeom>
        </p:spPr>
        <p:txBody>
          <a:bodyPr/>
          <a:lstStyle/>
          <a:p>
            <a:r>
              <a:t>Unit 4</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38</a:t>
            </a:fld>
            <a:endParaRPr/>
          </a:p>
        </p:txBody>
      </p:sp>
      <p:sp>
        <p:nvSpPr>
          <p:cNvPr id="303" name="Linting"/>
          <p:cNvSpPr txBox="1">
            <a:spLocks noGrp="1"/>
          </p:cNvSpPr>
          <p:nvPr>
            <p:ph type="title"/>
          </p:nvPr>
        </p:nvSpPr>
        <p:spPr>
          <a:prstGeom prst="rect">
            <a:avLst/>
          </a:prstGeom>
        </p:spPr>
        <p:txBody>
          <a:bodyPr/>
          <a:lstStyle/>
          <a:p>
            <a:r>
              <a:t>Linting</a:t>
            </a:r>
          </a:p>
        </p:txBody>
      </p:sp>
      <p:sp>
        <p:nvSpPr>
          <p:cNvPr id="304" name="Who has heard of linting before?"/>
          <p:cNvSpPr txBox="1"/>
          <p:nvPr/>
        </p:nvSpPr>
        <p:spPr>
          <a:xfrm>
            <a:off x="162023" y="901700"/>
            <a:ext cx="12680754"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Who has heard of </a:t>
            </a:r>
            <a:r>
              <a:rPr i="1"/>
              <a:t>linting</a:t>
            </a:r>
            <a:r>
              <a:t> before?</a:t>
            </a:r>
          </a:p>
        </p:txBody>
      </p:sp>
      <p:sp>
        <p:nvSpPr>
          <p:cNvPr id="305" name="The name comes from doing laundry: a dryer's lint trap captures small fibers and the like that come off the clothes."/>
          <p:cNvSpPr txBox="1"/>
          <p:nvPr/>
        </p:nvSpPr>
        <p:spPr>
          <a:xfrm>
            <a:off x="162023" y="3222368"/>
            <a:ext cx="12680754"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The name comes from doing laundry: a dryer's lint trap captures small fibers and the like that come off the clothes.</a:t>
            </a:r>
          </a:p>
        </p:txBody>
      </p:sp>
      <p:sp>
        <p:nvSpPr>
          <p:cNvPr id="306" name="Linting is a form of static code analysis that looks through code to find and flag potential issues that could be bugs or errors in programming as well as inconsistent styling."/>
          <p:cNvSpPr txBox="1"/>
          <p:nvPr/>
        </p:nvSpPr>
        <p:spPr>
          <a:xfrm>
            <a:off x="162023" y="1604834"/>
            <a:ext cx="12680754"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1D2FEB"/>
                </a:solidFill>
                <a:latin typeface="Franklin Gothic Medium"/>
                <a:ea typeface="Franklin Gothic Medium"/>
                <a:cs typeface="Franklin Gothic Medium"/>
                <a:sym typeface="Franklin Gothic Medium"/>
              </a:defRPr>
            </a:lvl1pPr>
          </a:lstStyle>
          <a:p>
            <a:r>
              <a:t>Linting is a form of static code analysis that looks through code to find and flag potential issues that could be bugs or errors in programming as well as inconsistent styling.</a:t>
            </a:r>
          </a:p>
        </p:txBody>
      </p:sp>
      <p:sp>
        <p:nvSpPr>
          <p:cNvPr id="307" name="While there are many different programs that conduct linting, the best one for our purposes comes from the {lintr} package."/>
          <p:cNvSpPr txBox="1"/>
          <p:nvPr/>
        </p:nvSpPr>
        <p:spPr>
          <a:xfrm>
            <a:off x="162023" y="4626239"/>
            <a:ext cx="12680754"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While there are many different programs that conduct linting, the best one for our purposes comes from the </a:t>
            </a:r>
            <a:r>
              <a:rPr sz="2700">
                <a:solidFill>
                  <a:srgbClr val="008900"/>
                </a:solidFill>
                <a:latin typeface="Monaco"/>
                <a:ea typeface="Monaco"/>
                <a:cs typeface="Monaco"/>
                <a:sym typeface="Monaco"/>
              </a:rPr>
              <a:t>{lintr}</a:t>
            </a:r>
            <a:r>
              <a:t> package. </a:t>
            </a:r>
          </a:p>
        </p:txBody>
      </p:sp>
      <p:sp>
        <p:nvSpPr>
          <p:cNvPr id="308" name="install.packages(&quot;lintr&quot;)"/>
          <p:cNvSpPr txBox="1"/>
          <p:nvPr/>
        </p:nvSpPr>
        <p:spPr>
          <a:xfrm>
            <a:off x="162023" y="6030110"/>
            <a:ext cx="12680754" cy="504770"/>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2700">
                <a:solidFill>
                  <a:srgbClr val="000004"/>
                </a:solidFill>
                <a:latin typeface="Monaco"/>
                <a:ea typeface="Monaco"/>
                <a:cs typeface="Monaco"/>
                <a:sym typeface="Monaco"/>
              </a:defRPr>
            </a:lvl1pPr>
          </a:lstStyle>
          <a:p>
            <a:r>
              <a:t>install.packages("lintr")</a:t>
            </a:r>
          </a:p>
        </p:txBody>
      </p:sp>
      <p:sp>
        <p:nvSpPr>
          <p:cNvPr id="309" name="We will issue a general caution that no linter is perfect and just because you ran linters on your code does not mean that your code is error/issue free. You should always do a human-check of your code."/>
          <p:cNvSpPr txBox="1"/>
          <p:nvPr/>
        </p:nvSpPr>
        <p:spPr>
          <a:xfrm>
            <a:off x="162023" y="7228516"/>
            <a:ext cx="12680754"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8900"/>
                </a:solidFill>
                <a:latin typeface="Franklin Gothic Medium"/>
                <a:ea typeface="Franklin Gothic Medium"/>
                <a:cs typeface="Franklin Gothic Medium"/>
                <a:sym typeface="Franklin Gothic Medium"/>
              </a:defRPr>
            </a:lvl1pPr>
          </a:lstStyle>
          <a:p>
            <a:r>
              <a:t>We will issue a general caution that no linter is perfect and just because you ran linters on your code does not mean that your code is error/issue free. You should always do a human-check of your code.</a:t>
            </a:r>
          </a:p>
        </p:txBody>
      </p:sp>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306"/>
                                        </p:tgtEl>
                                        <p:attrNameLst>
                                          <p:attrName>style.visibility</p:attrName>
                                        </p:attrNameLst>
                                      </p:cBhvr>
                                      <p:to>
                                        <p:strVal val="visible"/>
                                      </p:to>
                                    </p:set>
                                    <p:animEffect transition="in" filter="fade">
                                      <p:cBhvr>
                                        <p:cTn id="7" dur="1500"/>
                                        <p:tgtEl>
                                          <p:spTgt spid="3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305"/>
                                        </p:tgtEl>
                                        <p:attrNameLst>
                                          <p:attrName>style.visibility</p:attrName>
                                        </p:attrNameLst>
                                      </p:cBhvr>
                                      <p:to>
                                        <p:strVal val="visible"/>
                                      </p:to>
                                    </p:set>
                                    <p:animEffect transition="in" filter="fade">
                                      <p:cBhvr>
                                        <p:cTn id="12" dur="1000"/>
                                        <p:tgtEl>
                                          <p:spTgt spid="3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307"/>
                                        </p:tgtEl>
                                        <p:attrNameLst>
                                          <p:attrName>style.visibility</p:attrName>
                                        </p:attrNameLst>
                                      </p:cBhvr>
                                      <p:to>
                                        <p:strVal val="visible"/>
                                      </p:to>
                                    </p:set>
                                    <p:animEffect transition="in" filter="fade">
                                      <p:cBhvr>
                                        <p:cTn id="17" dur="1000"/>
                                        <p:tgtEl>
                                          <p:spTgt spid="30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308"/>
                                        </p:tgtEl>
                                        <p:attrNameLst>
                                          <p:attrName>style.visibility</p:attrName>
                                        </p:attrNameLst>
                                      </p:cBhvr>
                                      <p:to>
                                        <p:strVal val="visible"/>
                                      </p:to>
                                    </p:set>
                                    <p:animEffect transition="in" filter="fade">
                                      <p:cBhvr>
                                        <p:cTn id="22" dur="1000"/>
                                        <p:tgtEl>
                                          <p:spTgt spid="30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fill="hold" grpId="5" nodeType="clickEffect">
                                  <p:stCondLst>
                                    <p:cond delay="0"/>
                                  </p:stCondLst>
                                  <p:iterate>
                                    <p:tmAbs val="0"/>
                                  </p:iterate>
                                  <p:childTnLst>
                                    <p:set>
                                      <p:cBhvr>
                                        <p:cTn id="26" fill="hold"/>
                                        <p:tgtEl>
                                          <p:spTgt spid="309"/>
                                        </p:tgtEl>
                                        <p:attrNameLst>
                                          <p:attrName>style.visibility</p:attrName>
                                        </p:attrNameLst>
                                      </p:cBhvr>
                                      <p:to>
                                        <p:strVal val="visible"/>
                                      </p:to>
                                    </p:set>
                                    <p:animEffect transition="in" filter="fade">
                                      <p:cBhvr>
                                        <p:cTn id="27" dur="15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 grpId="2" animBg="1" advAuto="0"/>
      <p:bldP spid="306" grpId="1" animBg="1" advAuto="0"/>
      <p:bldP spid="307" grpId="3" animBg="1" advAuto="0"/>
      <p:bldP spid="308" grpId="4" animBg="1" advAuto="0"/>
      <p:bldP spid="309" grpId="5" animBg="1" advAuto="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39</a:t>
            </a:fld>
            <a:endParaRPr/>
          </a:p>
        </p:txBody>
      </p:sp>
      <p:sp>
        <p:nvSpPr>
          <p:cNvPr id="312" name="Linting"/>
          <p:cNvSpPr txBox="1">
            <a:spLocks noGrp="1"/>
          </p:cNvSpPr>
          <p:nvPr>
            <p:ph type="title"/>
          </p:nvPr>
        </p:nvSpPr>
        <p:spPr>
          <a:xfrm>
            <a:off x="1050939" y="-12701"/>
            <a:ext cx="10902922" cy="885826"/>
          </a:xfrm>
          <a:prstGeom prst="rect">
            <a:avLst/>
          </a:prstGeom>
        </p:spPr>
        <p:txBody>
          <a:bodyPr/>
          <a:lstStyle/>
          <a:p>
            <a:r>
              <a:t>Linting</a:t>
            </a:r>
          </a:p>
        </p:txBody>
      </p:sp>
      <p:sp>
        <p:nvSpPr>
          <p:cNvPr id="313" name="Using the {lintr} package is fairly straightforward."/>
          <p:cNvSpPr txBox="1"/>
          <p:nvPr/>
        </p:nvSpPr>
        <p:spPr>
          <a:xfrm>
            <a:off x="162023" y="918633"/>
            <a:ext cx="12680754"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Using the </a:t>
            </a:r>
            <a:r>
              <a:rPr sz="2700">
                <a:latin typeface="Monaco"/>
                <a:ea typeface="Monaco"/>
                <a:cs typeface="Monaco"/>
                <a:sym typeface="Monaco"/>
              </a:rPr>
              <a:t>{lintr}</a:t>
            </a:r>
            <a:r>
              <a:t> package is fairly straightforward.</a:t>
            </a:r>
          </a:p>
        </p:txBody>
      </p:sp>
      <p:sp>
        <p:nvSpPr>
          <p:cNvPr id="314" name="IMPORTANT!"/>
          <p:cNvSpPr txBox="1"/>
          <p:nvPr/>
        </p:nvSpPr>
        <p:spPr>
          <a:xfrm>
            <a:off x="162023" y="1497541"/>
            <a:ext cx="12680754"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defRPr sz="3200">
                <a:solidFill>
                  <a:srgbClr val="1D2FEB"/>
                </a:solidFill>
                <a:latin typeface="Franklin Gothic Medium"/>
                <a:ea typeface="Franklin Gothic Medium"/>
                <a:cs typeface="Franklin Gothic Medium"/>
                <a:sym typeface="Franklin Gothic Medium"/>
              </a:defRPr>
            </a:lvl1pPr>
          </a:lstStyle>
          <a:p>
            <a:r>
              <a:t>IMPORTANT!</a:t>
            </a:r>
          </a:p>
        </p:txBody>
      </p:sp>
      <p:sp>
        <p:nvSpPr>
          <p:cNvPr id="315" name="Linting a file should be done from outside the file(s) you want to check. That is, the lint command should not be inside the file you want to check but be done as a call from a separate file or from the console."/>
          <p:cNvSpPr txBox="1"/>
          <p:nvPr/>
        </p:nvSpPr>
        <p:spPr>
          <a:xfrm>
            <a:off x="162023" y="1885012"/>
            <a:ext cx="12680754" cy="147643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Linting a file should be done from </a:t>
            </a:r>
            <a:r>
              <a:rPr i="1"/>
              <a:t>outside </a:t>
            </a:r>
            <a:r>
              <a:t>the file(s) you want to check. That is, the </a:t>
            </a:r>
            <a:r>
              <a:rPr sz="2700">
                <a:latin typeface="Monaco"/>
                <a:ea typeface="Monaco"/>
                <a:cs typeface="Monaco"/>
                <a:sym typeface="Monaco"/>
              </a:rPr>
              <a:t>lint</a:t>
            </a:r>
            <a:r>
              <a:t> command </a:t>
            </a:r>
            <a:r>
              <a:rPr i="1"/>
              <a:t>should not</a:t>
            </a:r>
            <a:r>
              <a:t> be inside the file you want to check but be done as a call from a separate file or from the console.</a:t>
            </a:r>
          </a:p>
        </p:txBody>
      </p:sp>
      <p:sp>
        <p:nvSpPr>
          <p:cNvPr id="316" name="Save the file(s) (*.R, *.qmd) that you want to check.…"/>
          <p:cNvSpPr txBox="1"/>
          <p:nvPr/>
        </p:nvSpPr>
        <p:spPr>
          <a:xfrm>
            <a:off x="162023" y="3528950"/>
            <a:ext cx="12680754" cy="3764088"/>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64444" indent="-564444" algn="l">
              <a:buSzPct val="100000"/>
              <a:buAutoNum type="arabicPeriod"/>
              <a:defRPr sz="3200">
                <a:solidFill>
                  <a:srgbClr val="000004"/>
                </a:solidFill>
                <a:latin typeface="Franklin Gothic Medium"/>
                <a:ea typeface="Franklin Gothic Medium"/>
                <a:cs typeface="Franklin Gothic Medium"/>
                <a:sym typeface="Franklin Gothic Medium"/>
              </a:defRPr>
            </a:pPr>
            <a:r>
              <a:t>Save the file(s) (*.R, *.qmd) that you want to check.</a:t>
            </a:r>
          </a:p>
          <a:p>
            <a:pPr marL="564444" indent="-564444" algn="l">
              <a:buSzPct val="100000"/>
              <a:buAutoNum type="arabicPeriod"/>
              <a:defRPr sz="3200">
                <a:solidFill>
                  <a:srgbClr val="000004"/>
                </a:solidFill>
                <a:latin typeface="Franklin Gothic Medium"/>
                <a:ea typeface="Franklin Gothic Medium"/>
                <a:cs typeface="Franklin Gothic Medium"/>
                <a:sym typeface="Franklin Gothic Medium"/>
              </a:defRPr>
            </a:pPr>
            <a:r>
              <a:t>In a new R script, load the </a:t>
            </a:r>
            <a:r>
              <a:rPr sz="2700">
                <a:latin typeface="Monaco"/>
                <a:ea typeface="Monaco"/>
                <a:cs typeface="Monaco"/>
                <a:sym typeface="Monaco"/>
              </a:rPr>
              <a:t>{lintr}</a:t>
            </a:r>
            <a:r>
              <a:t> package (</a:t>
            </a:r>
            <a:r>
              <a:rPr sz="2800">
                <a:latin typeface="Monaco"/>
                <a:ea typeface="Monaco"/>
                <a:cs typeface="Monaco"/>
                <a:sym typeface="Monaco"/>
              </a:rPr>
              <a:t>library(lintr)</a:t>
            </a:r>
            <a:r>
              <a:t>).</a:t>
            </a:r>
          </a:p>
          <a:p>
            <a:pPr marL="564444" indent="-564444" algn="l">
              <a:buSzPct val="100000"/>
              <a:buAutoNum type="arabicPeriod"/>
              <a:defRPr sz="3200">
                <a:solidFill>
                  <a:srgbClr val="000004"/>
                </a:solidFill>
                <a:latin typeface="Franklin Gothic Medium"/>
                <a:ea typeface="Franklin Gothic Medium"/>
                <a:cs typeface="Franklin Gothic Medium"/>
                <a:sym typeface="Franklin Gothic Medium"/>
              </a:defRPr>
            </a:pPr>
            <a:r>
              <a:t>Run the appropriate command</a:t>
            </a:r>
          </a:p>
          <a:p>
            <a:pPr marL="1199444" lvl="1" indent="-564444" algn="l">
              <a:buSzPct val="100000"/>
              <a:buAutoNum type="arabicPeriod"/>
              <a:defRPr sz="3200">
                <a:solidFill>
                  <a:srgbClr val="000004"/>
                </a:solidFill>
                <a:latin typeface="Franklin Gothic Medium"/>
                <a:ea typeface="Franklin Gothic Medium"/>
                <a:cs typeface="Franklin Gothic Medium"/>
                <a:sym typeface="Franklin Gothic Medium"/>
              </a:defRPr>
            </a:pPr>
            <a:r>
              <a:t>Single File</a:t>
            </a:r>
            <a:br/>
            <a:r>
              <a:rPr sz="2700">
                <a:latin typeface="Monaco"/>
                <a:ea typeface="Monaco"/>
                <a:cs typeface="Monaco"/>
                <a:sym typeface="Monaco"/>
              </a:rPr>
              <a:t>lint(filename = </a:t>
            </a:r>
            <a:r>
              <a:rPr sz="2700">
                <a:solidFill>
                  <a:srgbClr val="BA3EB3"/>
                </a:solidFill>
                <a:latin typeface="Monaco"/>
                <a:ea typeface="Monaco"/>
                <a:cs typeface="Monaco"/>
                <a:sym typeface="Monaco"/>
              </a:rPr>
              <a:t>"/path/to/file.R"</a:t>
            </a:r>
            <a:r>
              <a:rPr sz="2700">
                <a:latin typeface="Monaco"/>
                <a:ea typeface="Monaco"/>
                <a:cs typeface="Monaco"/>
                <a:sym typeface="Monaco"/>
              </a:rPr>
              <a:t>)</a:t>
            </a:r>
          </a:p>
          <a:p>
            <a:pPr marL="1199444" lvl="1" indent="-564444" algn="l">
              <a:buSzPct val="100000"/>
              <a:buAutoNum type="arabicPeriod"/>
              <a:defRPr sz="3200">
                <a:solidFill>
                  <a:srgbClr val="000004"/>
                </a:solidFill>
                <a:latin typeface="Franklin Gothic Medium"/>
                <a:ea typeface="Franklin Gothic Medium"/>
                <a:cs typeface="Franklin Gothic Medium"/>
                <a:sym typeface="Franklin Gothic Medium"/>
              </a:defRPr>
            </a:pPr>
            <a:r>
              <a:t>Whole Directory</a:t>
            </a:r>
            <a:br/>
            <a:r>
              <a:rPr sz="2700">
                <a:latin typeface="Monaco"/>
                <a:ea typeface="Monaco"/>
                <a:cs typeface="Monaco"/>
                <a:sym typeface="Monaco"/>
              </a:rPr>
              <a:t>lint_dir(path = </a:t>
            </a:r>
            <a:r>
              <a:rPr sz="2700">
                <a:solidFill>
                  <a:srgbClr val="BA3EB3"/>
                </a:solidFill>
                <a:latin typeface="Monaco"/>
                <a:ea typeface="Monaco"/>
                <a:cs typeface="Monaco"/>
                <a:sym typeface="Monaco"/>
              </a:rPr>
              <a:t>"."</a:t>
            </a:r>
            <a:r>
              <a:rPr sz="2700">
                <a:latin typeface="Monaco"/>
                <a:ea typeface="Monaco"/>
                <a:cs typeface="Monaco"/>
                <a:sym typeface="Monaco"/>
              </a:rPr>
              <a:t>)</a:t>
            </a:r>
          </a:p>
          <a:p>
            <a:pPr marL="564444" indent="-564444" algn="l">
              <a:buSzPct val="100000"/>
              <a:buAutoNum type="arabicPeriod"/>
              <a:defRPr sz="3200">
                <a:solidFill>
                  <a:srgbClr val="000004"/>
                </a:solidFill>
                <a:latin typeface="Franklin Gothic Medium"/>
                <a:ea typeface="Franklin Gothic Medium"/>
                <a:cs typeface="Franklin Gothic Medium"/>
                <a:sym typeface="Franklin Gothic Medium"/>
              </a:defRPr>
            </a:pPr>
            <a:r>
              <a:t>Review the results and make the necessary changes to your file(s).</a:t>
            </a:r>
          </a:p>
        </p:txBody>
      </p:sp>
      <p:sp>
        <p:nvSpPr>
          <p:cNvPr id="317" name="Linting is best done inside the RStudio Project environment so you can use relative file paths. This also lets lint_dir more easily check all of the files by default."/>
          <p:cNvSpPr txBox="1"/>
          <p:nvPr/>
        </p:nvSpPr>
        <p:spPr>
          <a:xfrm>
            <a:off x="162023" y="7637525"/>
            <a:ext cx="12680754" cy="147643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Linting is best done inside the RStudio Project environment so you can use relative file paths. This also lets </a:t>
            </a:r>
            <a:r>
              <a:rPr sz="2700">
                <a:latin typeface="Monaco"/>
                <a:ea typeface="Monaco"/>
                <a:cs typeface="Monaco"/>
                <a:sym typeface="Monaco"/>
              </a:rPr>
              <a:t>lint_dir</a:t>
            </a:r>
            <a:r>
              <a:t> more easily check all of the files by default.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314"/>
                                        </p:tgtEl>
                                        <p:attrNameLst>
                                          <p:attrName>style.visibility</p:attrName>
                                        </p:attrNameLst>
                                      </p:cBhvr>
                                      <p:to>
                                        <p:strVal val="visible"/>
                                      </p:to>
                                    </p:set>
                                    <p:animEffect transition="in" filter="fade">
                                      <p:cBhvr>
                                        <p:cTn id="7" dur="1000"/>
                                        <p:tgtEl>
                                          <p:spTgt spid="3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315"/>
                                        </p:tgtEl>
                                        <p:attrNameLst>
                                          <p:attrName>style.visibility</p:attrName>
                                        </p:attrNameLst>
                                      </p:cBhvr>
                                      <p:to>
                                        <p:strVal val="visible"/>
                                      </p:to>
                                    </p:set>
                                    <p:animEffect transition="in" filter="fade">
                                      <p:cBhvr>
                                        <p:cTn id="12" dur="1000"/>
                                        <p:tgtEl>
                                          <p:spTgt spid="3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316"/>
                                        </p:tgtEl>
                                        <p:attrNameLst>
                                          <p:attrName>style.visibility</p:attrName>
                                        </p:attrNameLst>
                                      </p:cBhvr>
                                      <p:to>
                                        <p:strVal val="visible"/>
                                      </p:to>
                                    </p:set>
                                    <p:animEffect transition="in" filter="fade">
                                      <p:cBhvr>
                                        <p:cTn id="17" dur="1000"/>
                                        <p:tgtEl>
                                          <p:spTgt spid="3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317"/>
                                        </p:tgtEl>
                                        <p:attrNameLst>
                                          <p:attrName>style.visibility</p:attrName>
                                        </p:attrNameLst>
                                      </p:cBhvr>
                                      <p:to>
                                        <p:strVal val="visible"/>
                                      </p:to>
                                    </p:set>
                                    <p:animEffect transition="in" filter="fade">
                                      <p:cBhvr>
                                        <p:cTn id="22" dur="1000"/>
                                        <p:tgtEl>
                                          <p:spTgt spid="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 grpId="1" animBg="1" advAuto="0"/>
      <p:bldP spid="315" grpId="2" animBg="1" advAuto="0"/>
      <p:bldP spid="316" grpId="3" animBg="1" advAuto="0"/>
      <p:bldP spid="317" grpId="4" animBg="1" advAuto="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40</a:t>
            </a:fld>
            <a:endParaRPr/>
          </a:p>
        </p:txBody>
      </p:sp>
      <p:sp>
        <p:nvSpPr>
          <p:cNvPr id="320" name="Linting Example"/>
          <p:cNvSpPr txBox="1">
            <a:spLocks noGrp="1"/>
          </p:cNvSpPr>
          <p:nvPr>
            <p:ph type="title"/>
          </p:nvPr>
        </p:nvSpPr>
        <p:spPr>
          <a:xfrm>
            <a:off x="1050939" y="-12701"/>
            <a:ext cx="10902922" cy="885826"/>
          </a:xfrm>
          <a:prstGeom prst="rect">
            <a:avLst/>
          </a:prstGeom>
        </p:spPr>
        <p:txBody>
          <a:bodyPr/>
          <a:lstStyle/>
          <a:p>
            <a:r>
              <a:t>Linting Example</a:t>
            </a:r>
          </a:p>
        </p:txBody>
      </p:sp>
      <p:sp>
        <p:nvSpPr>
          <p:cNvPr id="321" name="lint(…"/>
          <p:cNvSpPr txBox="1"/>
          <p:nvPr/>
        </p:nvSpPr>
        <p:spPr>
          <a:xfrm>
            <a:off x="162023" y="628148"/>
            <a:ext cx="12680754" cy="1419170"/>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2700">
                <a:solidFill>
                  <a:srgbClr val="000004"/>
                </a:solidFill>
                <a:latin typeface="Monaco"/>
                <a:ea typeface="Monaco"/>
                <a:cs typeface="Monaco"/>
                <a:sym typeface="Monaco"/>
              </a:defRPr>
            </a:pPr>
            <a:r>
              <a:t>lint(</a:t>
            </a:r>
          </a:p>
          <a:p>
            <a:pPr algn="l">
              <a:defRPr sz="2700">
                <a:solidFill>
                  <a:srgbClr val="000004"/>
                </a:solidFill>
                <a:latin typeface="Monaco"/>
                <a:ea typeface="Monaco"/>
                <a:cs typeface="Monaco"/>
                <a:sym typeface="Monaco"/>
              </a:defRPr>
            </a:pPr>
            <a:r>
              <a:t>  filename = "Activity_14_ExampleSolution.qmd",</a:t>
            </a:r>
          </a:p>
          <a:p>
            <a:pPr algn="l">
              <a:defRPr sz="2700">
                <a:solidFill>
                  <a:srgbClr val="000004"/>
                </a:solidFill>
                <a:latin typeface="Monaco"/>
                <a:ea typeface="Monaco"/>
                <a:cs typeface="Monaco"/>
                <a:sym typeface="Monaco"/>
              </a:defRPr>
            </a:pPr>
            <a:r>
              <a:t>)</a:t>
            </a:r>
          </a:p>
        </p:txBody>
      </p:sp>
      <p:pic>
        <p:nvPicPr>
          <p:cNvPr id="322" name="Markers from lint call on Activity 14 Example Solution QMD file" descr="Markers from lint call on Activity 14 Example Solution QMD file"/>
          <p:cNvPicPr>
            <a:picLocks noChangeAspect="1"/>
          </p:cNvPicPr>
          <p:nvPr/>
        </p:nvPicPr>
        <p:blipFill>
          <a:blip r:embed="rId2"/>
          <a:stretch>
            <a:fillRect/>
          </a:stretch>
        </p:blipFill>
        <p:spPr>
          <a:xfrm>
            <a:off x="1151022" y="1718339"/>
            <a:ext cx="10702756" cy="5889609"/>
          </a:xfrm>
          <a:prstGeom prst="rect">
            <a:avLst/>
          </a:prstGeom>
          <a:ln w="3175">
            <a:miter lim="400000"/>
          </a:ln>
        </p:spPr>
      </p:pic>
      <p:sp>
        <p:nvSpPr>
          <p:cNvPr id="323" name="RStudio will also open up the file you check (if not already open) so that when you click on each of these markers, you'll jump to the appropriate section of the file."/>
          <p:cNvSpPr txBox="1"/>
          <p:nvPr/>
        </p:nvSpPr>
        <p:spPr>
          <a:xfrm>
            <a:off x="193079" y="7765050"/>
            <a:ext cx="12618642"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RStudio will also open up the file you check (if not already open) so that when you click on each of these markers, you'll jump to the appropriate section of the file.</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41</a:t>
            </a:fld>
            <a:endParaRPr/>
          </a:p>
        </p:txBody>
      </p:sp>
      <p:sp>
        <p:nvSpPr>
          <p:cNvPr id="326" name="Linting Defaults"/>
          <p:cNvSpPr txBox="1">
            <a:spLocks noGrp="1"/>
          </p:cNvSpPr>
          <p:nvPr>
            <p:ph type="title"/>
          </p:nvPr>
        </p:nvSpPr>
        <p:spPr>
          <a:xfrm>
            <a:off x="1050939" y="-12701"/>
            <a:ext cx="10902922" cy="885826"/>
          </a:xfrm>
          <a:prstGeom prst="rect">
            <a:avLst/>
          </a:prstGeom>
        </p:spPr>
        <p:txBody>
          <a:bodyPr/>
          <a:lstStyle/>
          <a:p>
            <a:r>
              <a:t>Linting Defaults</a:t>
            </a:r>
          </a:p>
        </p:txBody>
      </p:sp>
      <p:sp>
        <p:nvSpPr>
          <p:cNvPr id="327" name="The lint function in {lintr} is highly customizable."/>
          <p:cNvSpPr txBox="1"/>
          <p:nvPr/>
        </p:nvSpPr>
        <p:spPr>
          <a:xfrm>
            <a:off x="162023" y="952500"/>
            <a:ext cx="12680754"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The </a:t>
            </a:r>
            <a:r>
              <a:rPr sz="2700">
                <a:latin typeface="Monaco"/>
                <a:ea typeface="Monaco"/>
                <a:cs typeface="Monaco"/>
                <a:sym typeface="Monaco"/>
              </a:rPr>
              <a:t>lint</a:t>
            </a:r>
            <a:r>
              <a:t> function in </a:t>
            </a:r>
            <a:r>
              <a:rPr sz="2700">
                <a:latin typeface="Monaco"/>
                <a:ea typeface="Monaco"/>
                <a:cs typeface="Monaco"/>
                <a:sym typeface="Monaco"/>
              </a:rPr>
              <a:t>{lintr}</a:t>
            </a:r>
            <a:r>
              <a:t> is highly customizable.</a:t>
            </a:r>
          </a:p>
        </p:txBody>
      </p:sp>
      <p:sp>
        <p:nvSpPr>
          <p:cNvPr id="328" name="The defaults to lint match the {tidyverse} coding style, which is sufficient for a vast majority of situations."/>
          <p:cNvSpPr txBox="1"/>
          <p:nvPr/>
        </p:nvSpPr>
        <p:spPr>
          <a:xfrm>
            <a:off x="162023" y="1910621"/>
            <a:ext cx="12680754" cy="101923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The defaults to </a:t>
            </a:r>
            <a:r>
              <a:rPr sz="2700">
                <a:latin typeface="Monaco"/>
                <a:ea typeface="Monaco"/>
                <a:cs typeface="Monaco"/>
                <a:sym typeface="Monaco"/>
              </a:rPr>
              <a:t>lint</a:t>
            </a:r>
            <a:r>
              <a:t> match the </a:t>
            </a:r>
            <a:r>
              <a:rPr sz="2700">
                <a:latin typeface="Monaco"/>
                <a:ea typeface="Monaco"/>
                <a:cs typeface="Monaco"/>
                <a:sym typeface="Monaco"/>
              </a:rPr>
              <a:t>{tidyverse}</a:t>
            </a:r>
            <a:r>
              <a:t> coding style, which is sufficient for a vast majority of situations.</a:t>
            </a:r>
          </a:p>
        </p:txBody>
      </p:sp>
      <p:sp>
        <p:nvSpPr>
          <p:cNvPr id="329" name="However, you can customize which linters run in two ways."/>
          <p:cNvSpPr txBox="1"/>
          <p:nvPr/>
        </p:nvSpPr>
        <p:spPr>
          <a:xfrm>
            <a:off x="162023" y="3229536"/>
            <a:ext cx="12680754"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However, you can customize which linters run in two ways.</a:t>
            </a:r>
          </a:p>
        </p:txBody>
      </p:sp>
      <p:sp>
        <p:nvSpPr>
          <p:cNvPr id="330" name="Use the linters argument of lint to list out which linters you want to run and change their parameters.…"/>
          <p:cNvSpPr txBox="1"/>
          <p:nvPr/>
        </p:nvSpPr>
        <p:spPr>
          <a:xfrm>
            <a:off x="162023" y="3717707"/>
            <a:ext cx="12680754" cy="196226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64444" indent="-564444" algn="l">
              <a:buSzPct val="100000"/>
              <a:buAutoNum type="alphaUcPeriod"/>
              <a:defRPr sz="3200">
                <a:solidFill>
                  <a:srgbClr val="000004"/>
                </a:solidFill>
                <a:latin typeface="Franklin Gothic Medium"/>
                <a:ea typeface="Franklin Gothic Medium"/>
                <a:cs typeface="Franklin Gothic Medium"/>
                <a:sym typeface="Franklin Gothic Medium"/>
              </a:defRPr>
            </a:pPr>
            <a:r>
              <a:t>Use the </a:t>
            </a:r>
            <a:r>
              <a:rPr sz="2700">
                <a:solidFill>
                  <a:srgbClr val="1D2FEB"/>
                </a:solidFill>
                <a:latin typeface="Monaco"/>
                <a:ea typeface="Monaco"/>
                <a:cs typeface="Monaco"/>
                <a:sym typeface="Monaco"/>
              </a:rPr>
              <a:t>linters</a:t>
            </a:r>
            <a:r>
              <a:t> argument of </a:t>
            </a:r>
            <a:r>
              <a:rPr sz="2700">
                <a:latin typeface="Monaco"/>
                <a:ea typeface="Monaco"/>
                <a:cs typeface="Monaco"/>
                <a:sym typeface="Monaco"/>
              </a:rPr>
              <a:t>lint</a:t>
            </a:r>
            <a:r>
              <a:t> to list out which linters you want to run and change their parameters.</a:t>
            </a:r>
          </a:p>
          <a:p>
            <a:pPr marL="564444" indent="-564444" algn="l">
              <a:buSzPct val="100000"/>
              <a:buAutoNum type="alphaUcPeriod"/>
              <a:defRPr sz="3200">
                <a:solidFill>
                  <a:srgbClr val="000004"/>
                </a:solidFill>
                <a:latin typeface="Franklin Gothic Medium"/>
                <a:ea typeface="Franklin Gothic Medium"/>
                <a:cs typeface="Franklin Gothic Medium"/>
                <a:sym typeface="Franklin Gothic Medium"/>
              </a:defRPr>
            </a:pPr>
            <a:r>
              <a:t>Use a </a:t>
            </a:r>
            <a:r>
              <a:rPr sz="2700">
                <a:solidFill>
                  <a:srgbClr val="008900"/>
                </a:solidFill>
                <a:latin typeface="Monaco"/>
                <a:ea typeface="Monaco"/>
                <a:cs typeface="Monaco"/>
                <a:sym typeface="Monaco"/>
              </a:rPr>
              <a:t>.lintr</a:t>
            </a:r>
            <a:r>
              <a:t> file in the folder to specify which linters you want to run and how you want them to check your code.</a:t>
            </a:r>
          </a:p>
        </p:txBody>
      </p:sp>
      <p:sp>
        <p:nvSpPr>
          <p:cNvPr id="331" name="Using a .lintr file is highly recommended, especially when working in teams, as this will ensure consistent linting throughout the project team."/>
          <p:cNvSpPr txBox="1"/>
          <p:nvPr/>
        </p:nvSpPr>
        <p:spPr>
          <a:xfrm>
            <a:off x="162023" y="6119348"/>
            <a:ext cx="12680754" cy="101923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Using a </a:t>
            </a:r>
            <a:r>
              <a:rPr sz="2700">
                <a:solidFill>
                  <a:srgbClr val="008900"/>
                </a:solidFill>
                <a:latin typeface="Monaco"/>
                <a:ea typeface="Monaco"/>
                <a:cs typeface="Monaco"/>
                <a:sym typeface="Monaco"/>
              </a:rPr>
              <a:t>.lintr</a:t>
            </a:r>
            <a:r>
              <a:t> file is </a:t>
            </a:r>
            <a:r>
              <a:rPr i="1"/>
              <a:t>highly recommended</a:t>
            </a:r>
            <a:r>
              <a:t>, especially when working in teams, as this will ensure consistent linting throughout the project team. </a:t>
            </a:r>
          </a:p>
        </p:txBody>
      </p:sp>
      <p:sp>
        <p:nvSpPr>
          <p:cNvPr id="332" name="We will give a caution that customizing your linter can take time and several iterations to hone. We will provide a .lintr file for your course project."/>
          <p:cNvSpPr txBox="1"/>
          <p:nvPr/>
        </p:nvSpPr>
        <p:spPr>
          <a:xfrm>
            <a:off x="162023" y="7577959"/>
            <a:ext cx="12680754" cy="147643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We will give a caution that customizing your linter can take time and several iterations to hone. We will provide a </a:t>
            </a:r>
            <a:r>
              <a:rPr sz="2700">
                <a:solidFill>
                  <a:srgbClr val="008900"/>
                </a:solidFill>
                <a:latin typeface="Monaco"/>
                <a:ea typeface="Monaco"/>
                <a:cs typeface="Monaco"/>
                <a:sym typeface="Monaco"/>
              </a:rPr>
              <a:t>.lintr</a:t>
            </a:r>
            <a:r>
              <a:t> file for your course project.</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328"/>
                                        </p:tgtEl>
                                        <p:attrNameLst>
                                          <p:attrName>style.visibility</p:attrName>
                                        </p:attrNameLst>
                                      </p:cBhvr>
                                      <p:to>
                                        <p:strVal val="visible"/>
                                      </p:to>
                                    </p:set>
                                    <p:animEffect transition="in" filter="fade">
                                      <p:cBhvr>
                                        <p:cTn id="7" dur="1000"/>
                                        <p:tgtEl>
                                          <p:spTgt spid="3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329"/>
                                        </p:tgtEl>
                                        <p:attrNameLst>
                                          <p:attrName>style.visibility</p:attrName>
                                        </p:attrNameLst>
                                      </p:cBhvr>
                                      <p:to>
                                        <p:strVal val="visible"/>
                                      </p:to>
                                    </p:set>
                                    <p:animEffect transition="in" filter="fade">
                                      <p:cBhvr>
                                        <p:cTn id="12" dur="1000"/>
                                        <p:tgtEl>
                                          <p:spTgt spid="3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330"/>
                                        </p:tgtEl>
                                        <p:attrNameLst>
                                          <p:attrName>style.visibility</p:attrName>
                                        </p:attrNameLst>
                                      </p:cBhvr>
                                      <p:to>
                                        <p:strVal val="visible"/>
                                      </p:to>
                                    </p:set>
                                    <p:animEffect transition="in" filter="fade">
                                      <p:cBhvr>
                                        <p:cTn id="17" dur="1000"/>
                                        <p:tgtEl>
                                          <p:spTgt spid="3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331"/>
                                        </p:tgtEl>
                                        <p:attrNameLst>
                                          <p:attrName>style.visibility</p:attrName>
                                        </p:attrNameLst>
                                      </p:cBhvr>
                                      <p:to>
                                        <p:strVal val="visible"/>
                                      </p:to>
                                    </p:set>
                                    <p:animEffect transition="in" filter="fade">
                                      <p:cBhvr>
                                        <p:cTn id="22" dur="1000"/>
                                        <p:tgtEl>
                                          <p:spTgt spid="3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fill="hold" grpId="5" nodeType="clickEffect">
                                  <p:stCondLst>
                                    <p:cond delay="0"/>
                                  </p:stCondLst>
                                  <p:iterate>
                                    <p:tmAbs val="0"/>
                                  </p:iterate>
                                  <p:childTnLst>
                                    <p:set>
                                      <p:cBhvr>
                                        <p:cTn id="26" fill="hold"/>
                                        <p:tgtEl>
                                          <p:spTgt spid="332"/>
                                        </p:tgtEl>
                                        <p:attrNameLst>
                                          <p:attrName>style.visibility</p:attrName>
                                        </p:attrNameLst>
                                      </p:cBhvr>
                                      <p:to>
                                        <p:strVal val="visible"/>
                                      </p:to>
                                    </p:set>
                                    <p:animEffect transition="in" filter="fade">
                                      <p:cBhvr>
                                        <p:cTn id="27" dur="1000"/>
                                        <p:tgtEl>
                                          <p:spTgt spid="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 grpId="1" animBg="1" advAuto="0"/>
      <p:bldP spid="329" grpId="2" animBg="1" advAuto="0"/>
      <p:bldP spid="330" grpId="3" animBg="1" advAuto="0"/>
      <p:bldP spid="331" grpId="4" animBg="1" advAuto="0"/>
      <p:bldP spid="332" grpId="5" animBg="1" advAuto="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Strategies for Working in Teams"/>
          <p:cNvSpPr txBox="1">
            <a:spLocks noGrp="1"/>
          </p:cNvSpPr>
          <p:nvPr>
            <p:ph type="ctrTitle"/>
          </p:nvPr>
        </p:nvSpPr>
        <p:spPr>
          <a:xfrm>
            <a:off x="3363569" y="2414058"/>
            <a:ext cx="6277661" cy="2476501"/>
          </a:xfrm>
          <a:prstGeom prst="rect">
            <a:avLst/>
          </a:prstGeom>
        </p:spPr>
        <p:txBody>
          <a:bodyPr/>
          <a:lstStyle/>
          <a:p>
            <a:r>
              <a:t>Strategies for Working in Teams</a:t>
            </a:r>
          </a:p>
        </p:txBody>
      </p:sp>
      <p:sp>
        <p:nvSpPr>
          <p:cNvPr id="33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42</a:t>
            </a:fld>
            <a:endParaRPr/>
          </a:p>
        </p:txBody>
      </p:sp>
      <p:sp>
        <p:nvSpPr>
          <p:cNvPr id="336" name="Unit 4"/>
          <p:cNvSpPr txBox="1">
            <a:spLocks noGrp="1"/>
          </p:cNvSpPr>
          <p:nvPr>
            <p:ph type="subTitle" sz="quarter" idx="1"/>
          </p:nvPr>
        </p:nvSpPr>
        <p:spPr>
          <a:prstGeom prst="rect">
            <a:avLst/>
          </a:prstGeom>
        </p:spPr>
        <p:txBody>
          <a:bodyPr/>
          <a:lstStyle/>
          <a:p>
            <a:r>
              <a:t>Unit 4</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43</a:t>
            </a:fld>
            <a:endParaRPr/>
          </a:p>
        </p:txBody>
      </p:sp>
      <p:sp>
        <p:nvSpPr>
          <p:cNvPr id="339" name="Coding/Data Analysis in Teams"/>
          <p:cNvSpPr txBox="1">
            <a:spLocks noGrp="1"/>
          </p:cNvSpPr>
          <p:nvPr>
            <p:ph type="title"/>
          </p:nvPr>
        </p:nvSpPr>
        <p:spPr>
          <a:xfrm>
            <a:off x="1911492" y="4233"/>
            <a:ext cx="9181815" cy="885826"/>
          </a:xfrm>
          <a:prstGeom prst="rect">
            <a:avLst/>
          </a:prstGeom>
        </p:spPr>
        <p:txBody>
          <a:bodyPr/>
          <a:lstStyle>
            <a:lvl1pPr defTabSz="578358">
              <a:defRPr sz="4554"/>
            </a:lvl1pPr>
          </a:lstStyle>
          <a:p>
            <a:r>
              <a:t>Coding/Data Analysis in Teams</a:t>
            </a:r>
          </a:p>
        </p:txBody>
      </p:sp>
      <p:sp>
        <p:nvSpPr>
          <p:cNvPr id="340" name="Form/get the team together and agree on the terms of a group work contract (define goals, expectations, policies, consequences, etc.).…"/>
          <p:cNvSpPr txBox="1"/>
          <p:nvPr/>
        </p:nvSpPr>
        <p:spPr>
          <a:xfrm>
            <a:off x="162023" y="4341758"/>
            <a:ext cx="12680754" cy="3835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64444" indent="-564444" algn="l">
              <a:spcBef>
                <a:spcPts val="2000"/>
              </a:spcBef>
              <a:buSzPct val="100000"/>
              <a:buAutoNum type="arabicPeriod"/>
              <a:defRPr sz="3200">
                <a:solidFill>
                  <a:srgbClr val="000004"/>
                </a:solidFill>
                <a:latin typeface="Franklin Gothic Medium"/>
                <a:ea typeface="Franklin Gothic Medium"/>
                <a:cs typeface="Franklin Gothic Medium"/>
                <a:sym typeface="Franklin Gothic Medium"/>
              </a:defRPr>
            </a:pPr>
            <a:r>
              <a:t>Form/get the team together and agree on the terms of a group work contract (define goals, expectations, policies, consequences, etc.).</a:t>
            </a:r>
          </a:p>
          <a:p>
            <a:pPr marL="564444" indent="-564444" algn="l">
              <a:spcBef>
                <a:spcPts val="2000"/>
              </a:spcBef>
              <a:buSzPct val="100000"/>
              <a:buAutoNum type="arabicPeriod"/>
              <a:defRPr sz="3200">
                <a:solidFill>
                  <a:srgbClr val="000004"/>
                </a:solidFill>
                <a:latin typeface="Franklin Gothic Medium"/>
                <a:ea typeface="Franklin Gothic Medium"/>
                <a:cs typeface="Franklin Gothic Medium"/>
                <a:sym typeface="Franklin Gothic Medium"/>
              </a:defRPr>
            </a:pPr>
            <a:r>
              <a:t>Generate the team's initial plan together.</a:t>
            </a:r>
          </a:p>
          <a:p>
            <a:pPr marL="564444" indent="-564444" algn="l">
              <a:spcBef>
                <a:spcPts val="2000"/>
              </a:spcBef>
              <a:buSzPct val="100000"/>
              <a:buAutoNum type="arabicPeriod"/>
              <a:defRPr sz="3200">
                <a:solidFill>
                  <a:srgbClr val="000004"/>
                </a:solidFill>
                <a:latin typeface="Franklin Gothic Medium"/>
                <a:ea typeface="Franklin Gothic Medium"/>
                <a:cs typeface="Franklin Gothic Medium"/>
                <a:sym typeface="Franklin Gothic Medium"/>
              </a:defRPr>
            </a:pPr>
            <a:r>
              <a:t>Create a GitHub repo together.</a:t>
            </a:r>
          </a:p>
          <a:p>
            <a:pPr marL="564444" indent="-564444" algn="l">
              <a:spcBef>
                <a:spcPts val="2000"/>
              </a:spcBef>
              <a:buSzPct val="100000"/>
              <a:buAutoNum type="arabicPeriod"/>
              <a:defRPr sz="3200">
                <a:solidFill>
                  <a:srgbClr val="000004"/>
                </a:solidFill>
                <a:latin typeface="Franklin Gothic Medium"/>
                <a:ea typeface="Franklin Gothic Medium"/>
                <a:cs typeface="Franklin Gothic Medium"/>
                <a:sym typeface="Franklin Gothic Medium"/>
              </a:defRPr>
            </a:pPr>
            <a:r>
              <a:t>Execute plan with explicit check-ins and updates to the plan.</a:t>
            </a:r>
          </a:p>
          <a:p>
            <a:pPr marL="564444" indent="-564444" algn="l">
              <a:spcBef>
                <a:spcPts val="2000"/>
              </a:spcBef>
              <a:buSzPct val="100000"/>
              <a:buAutoNum type="arabicPeriod"/>
              <a:defRPr sz="3200">
                <a:solidFill>
                  <a:srgbClr val="000004"/>
                </a:solidFill>
                <a:latin typeface="Franklin Gothic Medium"/>
                <a:ea typeface="Franklin Gothic Medium"/>
                <a:cs typeface="Franklin Gothic Medium"/>
                <a:sym typeface="Franklin Gothic Medium"/>
              </a:defRPr>
            </a:pPr>
            <a:r>
              <a:t>Debrief as a team.</a:t>
            </a:r>
          </a:p>
        </p:txBody>
      </p:sp>
      <p:sp>
        <p:nvSpPr>
          <p:cNvPr id="341" name="In many situations, you'll end up working in teams on some coding or data analysis project."/>
          <p:cNvSpPr txBox="1"/>
          <p:nvPr/>
        </p:nvSpPr>
        <p:spPr>
          <a:xfrm>
            <a:off x="112077" y="914610"/>
            <a:ext cx="1278064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In many situations, you'll end up working in teams on some coding or data analysis project.</a:t>
            </a:r>
          </a:p>
        </p:txBody>
      </p:sp>
      <p:sp>
        <p:nvSpPr>
          <p:cNvPr id="342" name="As such, having at least one strategy you can use for such situations is highly beneficial."/>
          <p:cNvSpPr txBox="1"/>
          <p:nvPr/>
        </p:nvSpPr>
        <p:spPr>
          <a:xfrm>
            <a:off x="112077" y="2158362"/>
            <a:ext cx="1278064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As such, having at least one strategy you can use for such situations is highly beneficial.</a:t>
            </a:r>
          </a:p>
        </p:txBody>
      </p:sp>
      <p:sp>
        <p:nvSpPr>
          <p:cNvPr id="343" name="Here is one strategy that we recommend."/>
          <p:cNvSpPr txBox="1"/>
          <p:nvPr/>
        </p:nvSpPr>
        <p:spPr>
          <a:xfrm>
            <a:off x="112077" y="3578695"/>
            <a:ext cx="12780645"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Here is one strategy that we recommend.</a:t>
            </a:r>
          </a:p>
        </p:txBody>
      </p:sp>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342"/>
                                        </p:tgtEl>
                                        <p:attrNameLst>
                                          <p:attrName>style.visibility</p:attrName>
                                        </p:attrNameLst>
                                      </p:cBhvr>
                                      <p:to>
                                        <p:strVal val="visible"/>
                                      </p:to>
                                    </p:set>
                                    <p:animEffect transition="in" filter="fade">
                                      <p:cBhvr>
                                        <p:cTn id="7" dur="1000"/>
                                        <p:tgtEl>
                                          <p:spTgt spid="3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343"/>
                                        </p:tgtEl>
                                        <p:attrNameLst>
                                          <p:attrName>style.visibility</p:attrName>
                                        </p:attrNameLst>
                                      </p:cBhvr>
                                      <p:to>
                                        <p:strVal val="visible"/>
                                      </p:to>
                                    </p:set>
                                    <p:animEffect transition="in" filter="fade">
                                      <p:cBhvr>
                                        <p:cTn id="12" dur="1000"/>
                                        <p:tgtEl>
                                          <p:spTgt spid="3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340">
                                            <p:bg/>
                                          </p:spTgt>
                                        </p:tgtEl>
                                        <p:attrNameLst>
                                          <p:attrName>style.visibility</p:attrName>
                                        </p:attrNameLst>
                                      </p:cBhvr>
                                      <p:to>
                                        <p:strVal val="visible"/>
                                      </p:to>
                                    </p:set>
                                    <p:animEffect transition="in" filter="fade">
                                      <p:cBhvr>
                                        <p:cTn id="17" dur="1000"/>
                                        <p:tgtEl>
                                          <p:spTgt spid="340">
                                            <p:bg/>
                                          </p:spTgt>
                                        </p:tgtEl>
                                      </p:cBhvr>
                                    </p:animEffect>
                                  </p:childTnLst>
                                </p:cTn>
                              </p:par>
                              <p:par>
                                <p:cTn id="18" presetID="10" presetClass="entr" presetSubtype="0" fill="hold" grpId="3" nodeType="withEffect">
                                  <p:stCondLst>
                                    <p:cond delay="0"/>
                                  </p:stCondLst>
                                  <p:iterate>
                                    <p:tmAbs val="0"/>
                                  </p:iterate>
                                  <p:childTnLst>
                                    <p:set>
                                      <p:cBhvr>
                                        <p:cTn id="19" fill="hold"/>
                                        <p:tgtEl>
                                          <p:spTgt spid="340">
                                            <p:txEl>
                                              <p:pRg st="0" end="0"/>
                                            </p:txEl>
                                          </p:spTgt>
                                        </p:tgtEl>
                                        <p:attrNameLst>
                                          <p:attrName>style.visibility</p:attrName>
                                        </p:attrNameLst>
                                      </p:cBhvr>
                                      <p:to>
                                        <p:strVal val="visible"/>
                                      </p:to>
                                    </p:set>
                                    <p:animEffect transition="in" filter="fade">
                                      <p:cBhvr>
                                        <p:cTn id="20" dur="1000"/>
                                        <p:tgtEl>
                                          <p:spTgt spid="340">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fill="hold" grpId="3" nodeType="clickEffect">
                                  <p:stCondLst>
                                    <p:cond delay="0"/>
                                  </p:stCondLst>
                                  <p:iterate>
                                    <p:tmAbs val="0"/>
                                  </p:iterate>
                                  <p:childTnLst>
                                    <p:set>
                                      <p:cBhvr>
                                        <p:cTn id="24" fill="hold"/>
                                        <p:tgtEl>
                                          <p:spTgt spid="340">
                                            <p:txEl>
                                              <p:pRg st="1" end="1"/>
                                            </p:txEl>
                                          </p:spTgt>
                                        </p:tgtEl>
                                        <p:attrNameLst>
                                          <p:attrName>style.visibility</p:attrName>
                                        </p:attrNameLst>
                                      </p:cBhvr>
                                      <p:to>
                                        <p:strVal val="visible"/>
                                      </p:to>
                                    </p:set>
                                    <p:animEffect transition="in" filter="fade">
                                      <p:cBhvr>
                                        <p:cTn id="25" dur="1000"/>
                                        <p:tgtEl>
                                          <p:spTgt spid="340">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fill="hold" grpId="3" nodeType="clickEffect">
                                  <p:stCondLst>
                                    <p:cond delay="0"/>
                                  </p:stCondLst>
                                  <p:iterate>
                                    <p:tmAbs val="0"/>
                                  </p:iterate>
                                  <p:childTnLst>
                                    <p:set>
                                      <p:cBhvr>
                                        <p:cTn id="29" fill="hold"/>
                                        <p:tgtEl>
                                          <p:spTgt spid="340">
                                            <p:txEl>
                                              <p:pRg st="2" end="2"/>
                                            </p:txEl>
                                          </p:spTgt>
                                        </p:tgtEl>
                                        <p:attrNameLst>
                                          <p:attrName>style.visibility</p:attrName>
                                        </p:attrNameLst>
                                      </p:cBhvr>
                                      <p:to>
                                        <p:strVal val="visible"/>
                                      </p:to>
                                    </p:set>
                                    <p:animEffect transition="in" filter="fade">
                                      <p:cBhvr>
                                        <p:cTn id="30" dur="1000"/>
                                        <p:tgtEl>
                                          <p:spTgt spid="34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fill="hold" grpId="3" nodeType="clickEffect">
                                  <p:stCondLst>
                                    <p:cond delay="0"/>
                                  </p:stCondLst>
                                  <p:iterate>
                                    <p:tmAbs val="0"/>
                                  </p:iterate>
                                  <p:childTnLst>
                                    <p:set>
                                      <p:cBhvr>
                                        <p:cTn id="34" fill="hold"/>
                                        <p:tgtEl>
                                          <p:spTgt spid="340">
                                            <p:txEl>
                                              <p:pRg st="3" end="3"/>
                                            </p:txEl>
                                          </p:spTgt>
                                        </p:tgtEl>
                                        <p:attrNameLst>
                                          <p:attrName>style.visibility</p:attrName>
                                        </p:attrNameLst>
                                      </p:cBhvr>
                                      <p:to>
                                        <p:strVal val="visible"/>
                                      </p:to>
                                    </p:set>
                                    <p:animEffect transition="in" filter="fade">
                                      <p:cBhvr>
                                        <p:cTn id="35" dur="1000"/>
                                        <p:tgtEl>
                                          <p:spTgt spid="340">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fill="hold" grpId="3" nodeType="clickEffect">
                                  <p:stCondLst>
                                    <p:cond delay="0"/>
                                  </p:stCondLst>
                                  <p:iterate>
                                    <p:tmAbs val="0"/>
                                  </p:iterate>
                                  <p:childTnLst>
                                    <p:set>
                                      <p:cBhvr>
                                        <p:cTn id="39" fill="hold"/>
                                        <p:tgtEl>
                                          <p:spTgt spid="340">
                                            <p:txEl>
                                              <p:pRg st="4" end="4"/>
                                            </p:txEl>
                                          </p:spTgt>
                                        </p:tgtEl>
                                        <p:attrNameLst>
                                          <p:attrName>style.visibility</p:attrName>
                                        </p:attrNameLst>
                                      </p:cBhvr>
                                      <p:to>
                                        <p:strVal val="visible"/>
                                      </p:to>
                                    </p:set>
                                    <p:animEffect transition="in" filter="fade">
                                      <p:cBhvr>
                                        <p:cTn id="40" dur="1000"/>
                                        <p:tgtEl>
                                          <p:spTgt spid="34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 grpId="3" build="p" animBg="1" advAuto="0"/>
      <p:bldP spid="342" grpId="1" animBg="1" advAuto="0"/>
      <p:bldP spid="343" grpId="2" animBg="1" advAuto="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44</a:t>
            </a:fld>
            <a:endParaRPr/>
          </a:p>
        </p:txBody>
      </p:sp>
      <p:sp>
        <p:nvSpPr>
          <p:cNvPr id="346" name="Pair Programming"/>
          <p:cNvSpPr txBox="1">
            <a:spLocks noGrp="1"/>
          </p:cNvSpPr>
          <p:nvPr>
            <p:ph type="title"/>
          </p:nvPr>
        </p:nvSpPr>
        <p:spPr>
          <a:xfrm>
            <a:off x="1911492" y="4233"/>
            <a:ext cx="9181815" cy="885826"/>
          </a:xfrm>
          <a:prstGeom prst="rect">
            <a:avLst/>
          </a:prstGeom>
        </p:spPr>
        <p:txBody>
          <a:bodyPr/>
          <a:lstStyle/>
          <a:p>
            <a:r>
              <a:t>Pair Programming</a:t>
            </a:r>
          </a:p>
        </p:txBody>
      </p:sp>
      <p:sp>
        <p:nvSpPr>
          <p:cNvPr id="347" name="Pair Programming is an approach where two people take turns writing/developing code."/>
          <p:cNvSpPr txBox="1"/>
          <p:nvPr/>
        </p:nvSpPr>
        <p:spPr>
          <a:xfrm>
            <a:off x="112077" y="977900"/>
            <a:ext cx="1278064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i="1">
                <a:solidFill>
                  <a:srgbClr val="000004"/>
                </a:solidFill>
                <a:latin typeface="Franklin Gothic Medium"/>
                <a:ea typeface="Franklin Gothic Medium"/>
                <a:cs typeface="Franklin Gothic Medium"/>
                <a:sym typeface="Franklin Gothic Medium"/>
              </a:defRPr>
            </a:pPr>
            <a:r>
              <a:t>Pair Programming</a:t>
            </a:r>
            <a:r>
              <a:rPr i="0"/>
              <a:t> is an approach where two people take turns writing/developing code.</a:t>
            </a:r>
          </a:p>
        </p:txBody>
      </p:sp>
      <p:sp>
        <p:nvSpPr>
          <p:cNvPr id="348" name="One member acts as the driver/writer who actually types up their code."/>
          <p:cNvSpPr txBox="1"/>
          <p:nvPr/>
        </p:nvSpPr>
        <p:spPr>
          <a:xfrm>
            <a:off x="112077" y="3731682"/>
            <a:ext cx="12780645" cy="533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One member acts as the </a:t>
            </a:r>
            <a:r>
              <a:rPr i="1">
                <a:solidFill>
                  <a:srgbClr val="1D2FEB"/>
                </a:solidFill>
              </a:rPr>
              <a:t>driver/writer</a:t>
            </a:r>
            <a:r>
              <a:t> who actually types up their code.</a:t>
            </a:r>
          </a:p>
        </p:txBody>
      </p:sp>
      <p:sp>
        <p:nvSpPr>
          <p:cNvPr id="349" name="The other member acts as the navigator/editor who keeps an eye on the big picture and looks out for potential issues with the written code."/>
          <p:cNvSpPr txBox="1"/>
          <p:nvPr/>
        </p:nvSpPr>
        <p:spPr>
          <a:xfrm>
            <a:off x="112077" y="4459816"/>
            <a:ext cx="1278064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The other member acts as the </a:t>
            </a:r>
            <a:r>
              <a:rPr i="1">
                <a:solidFill>
                  <a:srgbClr val="008900"/>
                </a:solidFill>
              </a:rPr>
              <a:t>navigator/editor</a:t>
            </a:r>
            <a:r>
              <a:t> who keeps an eye on the big picture and looks out for potential issues with the written code.</a:t>
            </a:r>
          </a:p>
        </p:txBody>
      </p:sp>
      <p:sp>
        <p:nvSpPr>
          <p:cNvPr id="350" name="In essence, pair programming allows for one person to focus on the Coding while the other focuses on Improving/Planing at the same time."/>
          <p:cNvSpPr txBox="1"/>
          <p:nvPr/>
        </p:nvSpPr>
        <p:spPr>
          <a:xfrm>
            <a:off x="112077" y="2354791"/>
            <a:ext cx="1278064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In essence, pair programming allows for one person to focus on the </a:t>
            </a:r>
            <a:r>
              <a:rPr>
                <a:solidFill>
                  <a:srgbClr val="1D2FEB"/>
                </a:solidFill>
              </a:rPr>
              <a:t>Coding</a:t>
            </a:r>
            <a:r>
              <a:t> while the other focuses on </a:t>
            </a:r>
            <a:r>
              <a:rPr>
                <a:solidFill>
                  <a:srgbClr val="008900"/>
                </a:solidFill>
              </a:rPr>
              <a:t>Improving/Planing</a:t>
            </a:r>
            <a:r>
              <a:t> at the same time.</a:t>
            </a:r>
          </a:p>
        </p:txBody>
      </p:sp>
      <p:sp>
        <p:nvSpPr>
          <p:cNvPr id="351" name="The pairs swap roles every 15-30 minutes and even swap partners when working in larger teams."/>
          <p:cNvSpPr txBox="1"/>
          <p:nvPr/>
        </p:nvSpPr>
        <p:spPr>
          <a:xfrm>
            <a:off x="112077" y="6028265"/>
            <a:ext cx="1278064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The pairs swap roles every 15-30 minutes and even swap partners when working in larger teams.</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350"/>
                                        </p:tgtEl>
                                        <p:attrNameLst>
                                          <p:attrName>style.visibility</p:attrName>
                                        </p:attrNameLst>
                                      </p:cBhvr>
                                      <p:to>
                                        <p:strVal val="visible"/>
                                      </p:to>
                                    </p:set>
                                    <p:animEffect transition="in" filter="fade">
                                      <p:cBhvr>
                                        <p:cTn id="7" dur="1000"/>
                                        <p:tgtEl>
                                          <p:spTgt spid="3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348"/>
                                        </p:tgtEl>
                                        <p:attrNameLst>
                                          <p:attrName>style.visibility</p:attrName>
                                        </p:attrNameLst>
                                      </p:cBhvr>
                                      <p:to>
                                        <p:strVal val="visible"/>
                                      </p:to>
                                    </p:set>
                                    <p:animEffect transition="in" filter="fade">
                                      <p:cBhvr>
                                        <p:cTn id="12" dur="1000"/>
                                        <p:tgtEl>
                                          <p:spTgt spid="3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349"/>
                                        </p:tgtEl>
                                        <p:attrNameLst>
                                          <p:attrName>style.visibility</p:attrName>
                                        </p:attrNameLst>
                                      </p:cBhvr>
                                      <p:to>
                                        <p:strVal val="visible"/>
                                      </p:to>
                                    </p:set>
                                    <p:animEffect transition="in" filter="fade">
                                      <p:cBhvr>
                                        <p:cTn id="17" dur="1000"/>
                                        <p:tgtEl>
                                          <p:spTgt spid="34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351"/>
                                        </p:tgtEl>
                                        <p:attrNameLst>
                                          <p:attrName>style.visibility</p:attrName>
                                        </p:attrNameLst>
                                      </p:cBhvr>
                                      <p:to>
                                        <p:strVal val="visible"/>
                                      </p:to>
                                    </p:set>
                                    <p:animEffect transition="in" filter="fade">
                                      <p:cBhvr>
                                        <p:cTn id="22" dur="1000"/>
                                        <p:tgtEl>
                                          <p:spTgt spid="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 grpId="2" animBg="1" advAuto="0"/>
      <p:bldP spid="349" grpId="3" animBg="1" advAuto="0"/>
      <p:bldP spid="350" grpId="1" animBg="1" advAuto="0"/>
      <p:bldP spid="351" grpId="4" animBg="1" advAuto="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45</a:t>
            </a:fld>
            <a:endParaRPr/>
          </a:p>
        </p:txBody>
      </p:sp>
      <p:sp>
        <p:nvSpPr>
          <p:cNvPr id="354" name="Code Headers"/>
          <p:cNvSpPr txBox="1">
            <a:spLocks noGrp="1"/>
          </p:cNvSpPr>
          <p:nvPr>
            <p:ph type="title"/>
          </p:nvPr>
        </p:nvSpPr>
        <p:spPr>
          <a:xfrm>
            <a:off x="1911492" y="4233"/>
            <a:ext cx="9181815" cy="885826"/>
          </a:xfrm>
          <a:prstGeom prst="rect">
            <a:avLst/>
          </a:prstGeom>
        </p:spPr>
        <p:txBody>
          <a:bodyPr/>
          <a:lstStyle/>
          <a:p>
            <a:r>
              <a:t>Code Headers</a:t>
            </a:r>
          </a:p>
        </p:txBody>
      </p:sp>
      <p:sp>
        <p:nvSpPr>
          <p:cNvPr id="355" name="Part of Open Science includes transparency and acknowledgement of who did what in the project."/>
          <p:cNvSpPr txBox="1"/>
          <p:nvPr/>
        </p:nvSpPr>
        <p:spPr>
          <a:xfrm>
            <a:off x="112077" y="977900"/>
            <a:ext cx="1278064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Part of Open Science includes transparency and acknowledgement of who did what in the project.</a:t>
            </a:r>
          </a:p>
        </p:txBody>
      </p:sp>
      <p:sp>
        <p:nvSpPr>
          <p:cNvPr id="356" name="This extends to team members taking responsibility for different blocks of code as both the main author and as the reviewer."/>
          <p:cNvSpPr txBox="1"/>
          <p:nvPr/>
        </p:nvSpPr>
        <p:spPr>
          <a:xfrm>
            <a:off x="112077" y="2399770"/>
            <a:ext cx="1278064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This extends to team members taking responsibility for different blocks of code as both the main author and as the reviewer.</a:t>
            </a:r>
          </a:p>
        </p:txBody>
      </p:sp>
      <p:sp>
        <p:nvSpPr>
          <p:cNvPr id="357" name="Code Headers are an easy approach you can take to provide this information."/>
          <p:cNvSpPr txBox="1"/>
          <p:nvPr/>
        </p:nvSpPr>
        <p:spPr>
          <a:xfrm>
            <a:off x="112077" y="3999970"/>
            <a:ext cx="1278064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Code Headers are an easy approach you can take to provide this information.</a:t>
            </a:r>
          </a:p>
        </p:txBody>
      </p:sp>
      <p:sp>
        <p:nvSpPr>
          <p:cNvPr id="358" name="In essence, a code header is a simple code comment at the top of a block of code that gives the general goal of the block and who were the key team members involved."/>
          <p:cNvSpPr txBox="1"/>
          <p:nvPr/>
        </p:nvSpPr>
        <p:spPr>
          <a:xfrm>
            <a:off x="112077" y="5377262"/>
            <a:ext cx="12780645"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In essence, a code header is a simple code comment at the top of a block of code that gives the general goal of the block and who were the key team members involved.</a:t>
            </a:r>
          </a:p>
        </p:txBody>
      </p:sp>
      <p:sp>
        <p:nvSpPr>
          <p:cNvPr id="359" name="If the section is for creating a function, this information should be included in the @description portion."/>
          <p:cNvSpPr txBox="1"/>
          <p:nvPr/>
        </p:nvSpPr>
        <p:spPr>
          <a:xfrm>
            <a:off x="112077" y="7602208"/>
            <a:ext cx="1278064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If the section is for creating a function, this information should be included in the </a:t>
            </a:r>
            <a:r>
              <a:rPr sz="2700">
                <a:solidFill>
                  <a:srgbClr val="BA3EB3"/>
                </a:solidFill>
                <a:latin typeface="Monaco"/>
                <a:ea typeface="Monaco"/>
                <a:cs typeface="Monaco"/>
                <a:sym typeface="Monaco"/>
              </a:rPr>
              <a:t>@description</a:t>
            </a:r>
            <a:r>
              <a:t> portion.</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356"/>
                                        </p:tgtEl>
                                        <p:attrNameLst>
                                          <p:attrName>style.visibility</p:attrName>
                                        </p:attrNameLst>
                                      </p:cBhvr>
                                      <p:to>
                                        <p:strVal val="visible"/>
                                      </p:to>
                                    </p:set>
                                    <p:animEffect transition="in" filter="fade">
                                      <p:cBhvr>
                                        <p:cTn id="7" dur="1000"/>
                                        <p:tgtEl>
                                          <p:spTgt spid="3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357"/>
                                        </p:tgtEl>
                                        <p:attrNameLst>
                                          <p:attrName>style.visibility</p:attrName>
                                        </p:attrNameLst>
                                      </p:cBhvr>
                                      <p:to>
                                        <p:strVal val="visible"/>
                                      </p:to>
                                    </p:set>
                                    <p:animEffect transition="in" filter="fade">
                                      <p:cBhvr>
                                        <p:cTn id="12" dur="1000"/>
                                        <p:tgtEl>
                                          <p:spTgt spid="35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358"/>
                                        </p:tgtEl>
                                        <p:attrNameLst>
                                          <p:attrName>style.visibility</p:attrName>
                                        </p:attrNameLst>
                                      </p:cBhvr>
                                      <p:to>
                                        <p:strVal val="visible"/>
                                      </p:to>
                                    </p:set>
                                    <p:animEffect transition="in" filter="fade">
                                      <p:cBhvr>
                                        <p:cTn id="17" dur="1000"/>
                                        <p:tgtEl>
                                          <p:spTgt spid="35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grpId="4" nodeType="clickEffect">
                                  <p:stCondLst>
                                    <p:cond delay="0"/>
                                  </p:stCondLst>
                                  <p:iterate>
                                    <p:tmAbs val="0"/>
                                  </p:iterate>
                                  <p:childTnLst>
                                    <p:set>
                                      <p:cBhvr>
                                        <p:cTn id="21" fill="hold"/>
                                        <p:tgtEl>
                                          <p:spTgt spid="359"/>
                                        </p:tgtEl>
                                        <p:attrNameLst>
                                          <p:attrName>style.visibility</p:attrName>
                                        </p:attrNameLst>
                                      </p:cBhvr>
                                      <p:to>
                                        <p:strVal val="visible"/>
                                      </p:to>
                                    </p:set>
                                    <p:animEffect transition="in" filter="fade">
                                      <p:cBhvr>
                                        <p:cTn id="22" dur="1000"/>
                                        <p:tgtEl>
                                          <p:spTgt spid="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 grpId="1" animBg="1" advAuto="0"/>
      <p:bldP spid="357" grpId="2" animBg="1" advAuto="0"/>
      <p:bldP spid="358" grpId="3" animBg="1" advAuto="0"/>
      <p:bldP spid="359" grpId="4" animBg="1" advAuto="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46</a:t>
            </a:fld>
            <a:endParaRPr/>
          </a:p>
        </p:txBody>
      </p:sp>
      <p:sp>
        <p:nvSpPr>
          <p:cNvPr id="362" name="Code Headers Example"/>
          <p:cNvSpPr txBox="1">
            <a:spLocks noGrp="1"/>
          </p:cNvSpPr>
          <p:nvPr>
            <p:ph type="title"/>
          </p:nvPr>
        </p:nvSpPr>
        <p:spPr>
          <a:xfrm>
            <a:off x="1911492" y="4233"/>
            <a:ext cx="9181815" cy="885826"/>
          </a:xfrm>
          <a:prstGeom prst="rect">
            <a:avLst/>
          </a:prstGeom>
        </p:spPr>
        <p:txBody>
          <a:bodyPr/>
          <a:lstStyle/>
          <a:p>
            <a:r>
              <a:t>Code Headers Example</a:t>
            </a:r>
          </a:p>
        </p:txBody>
      </p:sp>
      <p:sp>
        <p:nvSpPr>
          <p:cNvPr id="363" name="```{r}…"/>
          <p:cNvSpPr txBox="1"/>
          <p:nvPr/>
        </p:nvSpPr>
        <p:spPr>
          <a:xfrm>
            <a:off x="112077" y="736624"/>
            <a:ext cx="12780645" cy="858515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2400">
                <a:solidFill>
                  <a:srgbClr val="000004"/>
                </a:solidFill>
                <a:latin typeface="Monaco"/>
                <a:ea typeface="Monaco"/>
                <a:cs typeface="Monaco"/>
                <a:sym typeface="Monaco"/>
              </a:defRPr>
            </a:pPr>
            <a:r>
              <a:t>```{r}</a:t>
            </a:r>
          </a:p>
          <a:p>
            <a:pPr algn="l">
              <a:defRPr sz="2400">
                <a:solidFill>
                  <a:srgbClr val="000004"/>
                </a:solidFill>
                <a:latin typeface="Monaco"/>
                <a:ea typeface="Monaco"/>
                <a:cs typeface="Monaco"/>
                <a:sym typeface="Monaco"/>
              </a:defRPr>
            </a:pPr>
            <a:r>
              <a:t>#| label: docSetup</a:t>
            </a:r>
          </a:p>
          <a:p>
            <a:pPr algn="l">
              <a:defRPr sz="2400">
                <a:solidFill>
                  <a:srgbClr val="000004"/>
                </a:solidFill>
                <a:latin typeface="Monaco"/>
                <a:ea typeface="Monaco"/>
                <a:cs typeface="Monaco"/>
                <a:sym typeface="Monaco"/>
              </a:defRPr>
            </a:pPr>
            <a:r>
              <a:t>#| include: false</a:t>
            </a:r>
          </a:p>
          <a:p>
            <a:pPr algn="l">
              <a:defRPr sz="2400">
                <a:solidFill>
                  <a:srgbClr val="008900"/>
                </a:solidFill>
                <a:latin typeface="Monaco"/>
                <a:ea typeface="Monaco"/>
                <a:cs typeface="Monaco"/>
                <a:sym typeface="Monaco"/>
              </a:defRPr>
            </a:pPr>
            <a:r>
              <a:t># Main Author: Neil Hatfield</a:t>
            </a:r>
          </a:p>
          <a:p>
            <a:pPr algn="l">
              <a:defRPr sz="2400">
                <a:solidFill>
                  <a:srgbClr val="008900"/>
                </a:solidFill>
                <a:latin typeface="Monaco"/>
                <a:ea typeface="Monaco"/>
                <a:cs typeface="Monaco"/>
                <a:sym typeface="Monaco"/>
              </a:defRPr>
            </a:pPr>
            <a:r>
              <a:t># Reviewer: Veronica Bubb</a:t>
            </a:r>
          </a:p>
          <a:p>
            <a:pPr algn="l">
              <a:defRPr sz="2400">
                <a:solidFill>
                  <a:srgbClr val="000004"/>
                </a:solidFill>
                <a:latin typeface="Monaco"/>
                <a:ea typeface="Monaco"/>
                <a:cs typeface="Monaco"/>
                <a:sym typeface="Monaco"/>
              </a:defRPr>
            </a:pPr>
            <a:r>
              <a:t># This document will use the BOAST Style Guide.</a:t>
            </a:r>
          </a:p>
          <a:p>
            <a:pPr algn="l">
              <a:defRPr sz="2400">
                <a:solidFill>
                  <a:srgbClr val="000004"/>
                </a:solidFill>
                <a:latin typeface="Monaco"/>
                <a:ea typeface="Monaco"/>
                <a:cs typeface="Monaco"/>
                <a:sym typeface="Monaco"/>
              </a:defRPr>
            </a:pPr>
            <a:endParaRPr/>
          </a:p>
          <a:p>
            <a:pPr algn="l">
              <a:defRPr sz="2400">
                <a:solidFill>
                  <a:srgbClr val="000004"/>
                </a:solidFill>
                <a:latin typeface="Monaco"/>
                <a:ea typeface="Monaco"/>
                <a:cs typeface="Monaco"/>
                <a:sym typeface="Monaco"/>
              </a:defRPr>
            </a:pPr>
            <a:r>
              <a:t># Load Packages ----</a:t>
            </a:r>
          </a:p>
          <a:p>
            <a:pPr algn="l">
              <a:defRPr sz="2400">
                <a:solidFill>
                  <a:srgbClr val="000004"/>
                </a:solidFill>
                <a:latin typeface="Monaco"/>
                <a:ea typeface="Monaco"/>
                <a:cs typeface="Monaco"/>
                <a:sym typeface="Monaco"/>
              </a:defRPr>
            </a:pPr>
            <a:r>
              <a:t>library(googlesheets4) # For loading Armed Forces Data</a:t>
            </a:r>
          </a:p>
          <a:p>
            <a:pPr algn="l">
              <a:defRPr sz="2400">
                <a:solidFill>
                  <a:srgbClr val="000004"/>
                </a:solidFill>
                <a:latin typeface="Monaco"/>
                <a:ea typeface="Monaco"/>
                <a:cs typeface="Monaco"/>
                <a:sym typeface="Monaco"/>
              </a:defRPr>
            </a:pPr>
            <a:r>
              <a:t>library(rvest) # For scraping Armed Forces Ranks</a:t>
            </a:r>
          </a:p>
          <a:p>
            <a:pPr algn="l">
              <a:defRPr sz="2400">
                <a:solidFill>
                  <a:srgbClr val="000004"/>
                </a:solidFill>
                <a:latin typeface="Monaco"/>
                <a:ea typeface="Monaco"/>
                <a:cs typeface="Monaco"/>
                <a:sym typeface="Monaco"/>
              </a:defRPr>
            </a:pPr>
            <a:r>
              <a:t>library(dcData) # For loading Baby Names Data</a:t>
            </a:r>
          </a:p>
          <a:p>
            <a:pPr algn="l">
              <a:defRPr sz="2400">
                <a:solidFill>
                  <a:srgbClr val="000004"/>
                </a:solidFill>
                <a:latin typeface="Monaco"/>
                <a:ea typeface="Monaco"/>
                <a:cs typeface="Monaco"/>
                <a:sym typeface="Monaco"/>
              </a:defRPr>
            </a:pPr>
            <a:r>
              <a:t>library(tidyverse) # For data wrangling and visualizing</a:t>
            </a:r>
          </a:p>
          <a:p>
            <a:pPr algn="l">
              <a:defRPr sz="2400">
                <a:solidFill>
                  <a:srgbClr val="000004"/>
                </a:solidFill>
                <a:latin typeface="Monaco"/>
                <a:ea typeface="Monaco"/>
                <a:cs typeface="Monaco"/>
                <a:sym typeface="Monaco"/>
              </a:defRPr>
            </a:pPr>
            <a:r>
              <a:t>library(janitor) # For making two-way table</a:t>
            </a:r>
          </a:p>
          <a:p>
            <a:pPr algn="l">
              <a:defRPr sz="2400">
                <a:solidFill>
                  <a:srgbClr val="000004"/>
                </a:solidFill>
                <a:latin typeface="Monaco"/>
                <a:ea typeface="Monaco"/>
                <a:cs typeface="Monaco"/>
                <a:sym typeface="Monaco"/>
              </a:defRPr>
            </a:pPr>
            <a:r>
              <a:t>library(knitr) # For creating professional tables</a:t>
            </a:r>
          </a:p>
          <a:p>
            <a:pPr algn="l">
              <a:defRPr sz="2400">
                <a:solidFill>
                  <a:srgbClr val="000004"/>
                </a:solidFill>
                <a:latin typeface="Monaco"/>
                <a:ea typeface="Monaco"/>
                <a:cs typeface="Monaco"/>
                <a:sym typeface="Monaco"/>
              </a:defRPr>
            </a:pPr>
            <a:r>
              <a:t>library(kableExtra) # For styling professional tables</a:t>
            </a:r>
          </a:p>
          <a:p>
            <a:pPr algn="l">
              <a:defRPr sz="2400">
                <a:solidFill>
                  <a:srgbClr val="000004"/>
                </a:solidFill>
                <a:latin typeface="Monaco"/>
                <a:ea typeface="Monaco"/>
                <a:cs typeface="Monaco"/>
                <a:sym typeface="Monaco"/>
              </a:defRPr>
            </a:pPr>
            <a:endParaRPr/>
          </a:p>
          <a:p>
            <a:pPr algn="l">
              <a:defRPr sz="2400">
                <a:solidFill>
                  <a:srgbClr val="000004"/>
                </a:solidFill>
                <a:latin typeface="Monaco"/>
                <a:ea typeface="Monaco"/>
                <a:cs typeface="Monaco"/>
                <a:sym typeface="Monaco"/>
              </a:defRPr>
            </a:pPr>
            <a:r>
              <a:t># Define global elements ----</a:t>
            </a:r>
          </a:p>
          <a:p>
            <a:pPr algn="l">
              <a:defRPr sz="2400">
                <a:solidFill>
                  <a:srgbClr val="000004"/>
                </a:solidFill>
                <a:latin typeface="Monaco"/>
                <a:ea typeface="Monaco"/>
                <a:cs typeface="Monaco"/>
                <a:sym typeface="Monaco"/>
              </a:defRPr>
            </a:pPr>
            <a:r>
              <a:t>psuPalette &lt;- c("#1E407C", "#BC204B", "#3EA39E", "#E98300",</a:t>
            </a:r>
          </a:p>
          <a:p>
            <a:pPr algn="l">
              <a:defRPr sz="2400">
                <a:solidFill>
                  <a:srgbClr val="000004"/>
                </a:solidFill>
                <a:latin typeface="Monaco"/>
                <a:ea typeface="Monaco"/>
                <a:cs typeface="Monaco"/>
                <a:sym typeface="Monaco"/>
              </a:defRPr>
            </a:pPr>
            <a:r>
              <a:t>                "#999999", "#AC8DCE", "#F2665E", "#99CC00")</a:t>
            </a:r>
          </a:p>
          <a:p>
            <a:pPr algn="l">
              <a:defRPr sz="2400">
                <a:solidFill>
                  <a:srgbClr val="000004"/>
                </a:solidFill>
                <a:latin typeface="Monaco"/>
                <a:ea typeface="Monaco"/>
                <a:cs typeface="Monaco"/>
                <a:sym typeface="Monaco"/>
              </a:defRPr>
            </a:pPr>
            <a:endParaRPr/>
          </a:p>
          <a:p>
            <a:pPr algn="l">
              <a:defRPr sz="2400">
                <a:solidFill>
                  <a:srgbClr val="000004"/>
                </a:solidFill>
                <a:latin typeface="Monaco"/>
                <a:ea typeface="Monaco"/>
                <a:cs typeface="Monaco"/>
                <a:sym typeface="Monaco"/>
              </a:defRPr>
            </a:pPr>
            <a:r>
              <a:t>```</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Slide Number"/>
          <p:cNvSpPr txBox="1">
            <a:spLocks noGrp="1"/>
          </p:cNvSpPr>
          <p:nvPr>
            <p:ph type="sldNum" sz="quarter" idx="2"/>
          </p:nvPr>
        </p:nvSpPr>
        <p:spPr>
          <a:xfrm>
            <a:off x="6345870" y="9369954"/>
            <a:ext cx="313060" cy="2565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47</a:t>
            </a:fld>
            <a:endParaRPr/>
          </a:p>
        </p:txBody>
      </p:sp>
      <p:sp>
        <p:nvSpPr>
          <p:cNvPr id="366" name="Giving Credit"/>
          <p:cNvSpPr txBox="1">
            <a:spLocks noGrp="1"/>
          </p:cNvSpPr>
          <p:nvPr>
            <p:ph type="title"/>
          </p:nvPr>
        </p:nvSpPr>
        <p:spPr>
          <a:xfrm>
            <a:off x="1911492" y="4233"/>
            <a:ext cx="9181815" cy="885826"/>
          </a:xfrm>
          <a:prstGeom prst="rect">
            <a:avLst/>
          </a:prstGeom>
        </p:spPr>
        <p:txBody>
          <a:bodyPr/>
          <a:lstStyle/>
          <a:p>
            <a:r>
              <a:t>Giving Credit</a:t>
            </a:r>
          </a:p>
        </p:txBody>
      </p:sp>
      <p:sp>
        <p:nvSpPr>
          <p:cNvPr id="367" name="Code Headers are one way to give credit for people's contributions that works well for code."/>
          <p:cNvSpPr txBox="1"/>
          <p:nvPr/>
        </p:nvSpPr>
        <p:spPr>
          <a:xfrm>
            <a:off x="118533" y="791633"/>
            <a:ext cx="12455327"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Code Headers are one way to give credit for people's contributions that works well for code.</a:t>
            </a:r>
          </a:p>
        </p:txBody>
      </p:sp>
      <p:sp>
        <p:nvSpPr>
          <p:cNvPr id="368" name="For larger projects and reports, we also want to give credit to each contributor. We can do this in two key ways."/>
          <p:cNvSpPr txBox="1"/>
          <p:nvPr/>
        </p:nvSpPr>
        <p:spPr>
          <a:xfrm>
            <a:off x="118533" y="2036233"/>
            <a:ext cx="11620104"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For larger projects and reports, we also want to give credit to each contributor. We can do this in two key ways.</a:t>
            </a:r>
          </a:p>
        </p:txBody>
      </p:sp>
      <p:sp>
        <p:nvSpPr>
          <p:cNvPr id="369" name="First, we need to make sure that list all of the authors in the author line at the top of our document. For a Quarto document, we can set up the YAML header like this:"/>
          <p:cNvSpPr txBox="1"/>
          <p:nvPr/>
        </p:nvSpPr>
        <p:spPr>
          <a:xfrm>
            <a:off x="118533" y="3306233"/>
            <a:ext cx="12767735"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First, we need to make sure that list all of the authors in the author line at the top of our document. For a Quarto document, we can set up the YAML header like this:</a:t>
            </a:r>
          </a:p>
        </p:txBody>
      </p:sp>
      <p:sp>
        <p:nvSpPr>
          <p:cNvPr id="370" name="authors:…"/>
          <p:cNvSpPr txBox="1"/>
          <p:nvPr/>
        </p:nvSpPr>
        <p:spPr>
          <a:xfrm>
            <a:off x="118533" y="5260605"/>
            <a:ext cx="12767735" cy="280771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2300">
                <a:solidFill>
                  <a:srgbClr val="000004"/>
                </a:solidFill>
                <a:latin typeface="Monaco"/>
                <a:ea typeface="Monaco"/>
                <a:cs typeface="Monaco"/>
                <a:sym typeface="Monaco"/>
              </a:defRPr>
            </a:pPr>
            <a:r>
              <a:t>authors:</a:t>
            </a:r>
          </a:p>
          <a:p>
            <a:pPr algn="l">
              <a:defRPr sz="2300">
                <a:solidFill>
                  <a:srgbClr val="000004"/>
                </a:solidFill>
                <a:latin typeface="Monaco"/>
                <a:ea typeface="Monaco"/>
                <a:cs typeface="Monaco"/>
                <a:sym typeface="Monaco"/>
              </a:defRPr>
            </a:pPr>
            <a:r>
              <a:t>  - name: Neil J. Hatfield</a:t>
            </a:r>
          </a:p>
          <a:p>
            <a:pPr algn="l">
              <a:defRPr sz="2300">
                <a:solidFill>
                  <a:srgbClr val="000004"/>
                </a:solidFill>
                <a:latin typeface="Monaco"/>
                <a:ea typeface="Monaco"/>
                <a:cs typeface="Monaco"/>
                <a:sym typeface="Monaco"/>
              </a:defRPr>
            </a:pPr>
            <a:r>
              <a:t>    orcid: 0000-0003-1807-6946</a:t>
            </a:r>
          </a:p>
          <a:p>
            <a:pPr algn="l">
              <a:defRPr sz="2300">
                <a:solidFill>
                  <a:srgbClr val="000004"/>
                </a:solidFill>
                <a:latin typeface="Monaco"/>
                <a:ea typeface="Monaco"/>
                <a:cs typeface="Monaco"/>
                <a:sym typeface="Monaco"/>
              </a:defRPr>
            </a:pPr>
            <a:r>
              <a:t>    corresponding: true</a:t>
            </a:r>
          </a:p>
          <a:p>
            <a:pPr algn="l">
              <a:defRPr sz="2300">
                <a:solidFill>
                  <a:srgbClr val="000004"/>
                </a:solidFill>
                <a:latin typeface="Monaco"/>
                <a:ea typeface="Monaco"/>
                <a:cs typeface="Monaco"/>
                <a:sym typeface="Monaco"/>
              </a:defRPr>
            </a:pPr>
            <a:r>
              <a:t>    roles: [conceptualization, data curation, formal analysis, writing]</a:t>
            </a:r>
          </a:p>
          <a:p>
            <a:pPr algn="l">
              <a:defRPr sz="2300">
                <a:solidFill>
                  <a:srgbClr val="000004"/>
                </a:solidFill>
                <a:latin typeface="Monaco"/>
                <a:ea typeface="Monaco"/>
                <a:cs typeface="Monaco"/>
                <a:sym typeface="Monaco"/>
              </a:defRPr>
            </a:pPr>
            <a:r>
              <a:t>  - name: Veronica Bubb</a:t>
            </a:r>
          </a:p>
          <a:p>
            <a:pPr algn="l">
              <a:defRPr sz="2300">
                <a:solidFill>
                  <a:srgbClr val="000004"/>
                </a:solidFill>
                <a:latin typeface="Monaco"/>
                <a:ea typeface="Monaco"/>
                <a:cs typeface="Monaco"/>
                <a:sym typeface="Monaco"/>
              </a:defRPr>
            </a:pPr>
            <a:r>
              <a:t>    roles: [formal analysis, editing]</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48</a:t>
            </a:fld>
            <a:endParaRPr/>
          </a:p>
        </p:txBody>
      </p:sp>
      <p:sp>
        <p:nvSpPr>
          <p:cNvPr id="373" name="Giving Credit"/>
          <p:cNvSpPr txBox="1">
            <a:spLocks noGrp="1"/>
          </p:cNvSpPr>
          <p:nvPr>
            <p:ph type="title"/>
          </p:nvPr>
        </p:nvSpPr>
        <p:spPr>
          <a:xfrm>
            <a:off x="1911492" y="4233"/>
            <a:ext cx="9181815" cy="885826"/>
          </a:xfrm>
          <a:prstGeom prst="rect">
            <a:avLst/>
          </a:prstGeom>
        </p:spPr>
        <p:txBody>
          <a:bodyPr/>
          <a:lstStyle/>
          <a:p>
            <a:r>
              <a:t>Giving Credit</a:t>
            </a:r>
          </a:p>
        </p:txBody>
      </p:sp>
      <p:sp>
        <p:nvSpPr>
          <p:cNvPr id="374" name="Second, at the end of our document, we will want to create a section titled Author Contributions."/>
          <p:cNvSpPr txBox="1"/>
          <p:nvPr/>
        </p:nvSpPr>
        <p:spPr>
          <a:xfrm>
            <a:off x="101599" y="825500"/>
            <a:ext cx="12428471"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Second, at the end of our document, we will want to create a section titled Author Contributions.</a:t>
            </a:r>
          </a:p>
        </p:txBody>
      </p:sp>
      <p:sp>
        <p:nvSpPr>
          <p:cNvPr id="375" name="In this section of narrative text, we list out each author and list what they contributed to the project."/>
          <p:cNvSpPr txBox="1"/>
          <p:nvPr/>
        </p:nvSpPr>
        <p:spPr>
          <a:xfrm>
            <a:off x="118533" y="1965139"/>
            <a:ext cx="1276773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In this section of narrative text, we list out each author and list what they contributed to the project.</a:t>
            </a:r>
          </a:p>
        </p:txBody>
      </p:sp>
      <p:sp>
        <p:nvSpPr>
          <p:cNvPr id="376" name="To help standardize this section, we can turn to the Contributor Role Taxonomy (CRediT) to give us key terms."/>
          <p:cNvSpPr txBox="1"/>
          <p:nvPr/>
        </p:nvSpPr>
        <p:spPr>
          <a:xfrm>
            <a:off x="118533" y="3104779"/>
            <a:ext cx="1276773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To help standardize this section, we can turn to the </a:t>
            </a:r>
            <a:r>
              <a:rPr u="sng">
                <a:solidFill>
                  <a:srgbClr val="1D2FEB"/>
                </a:solidFill>
                <a:hlinkClick r:id="rId2"/>
              </a:rPr>
              <a:t>Contributor Role Taxonomy (CRediT)</a:t>
            </a:r>
            <a:r>
              <a:t> to give us key terms.</a:t>
            </a:r>
          </a:p>
        </p:txBody>
      </p:sp>
      <p:sp>
        <p:nvSpPr>
          <p:cNvPr id="377" name="Conceptualization…"/>
          <p:cNvSpPr txBox="1"/>
          <p:nvPr/>
        </p:nvSpPr>
        <p:spPr>
          <a:xfrm>
            <a:off x="118533" y="4244419"/>
            <a:ext cx="12767734" cy="3393960"/>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numCol="2" spcCol="638386" anchor="ctr"/>
          <a:lstStyle/>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Conceptualization</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Data curation</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Formal analysis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Funding acquisition*</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Investigation</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Methodology</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Project administration†</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Resources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Software</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Supervision†</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Validation</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Visualization</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Writing-original draft</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Writing-review &amp; editing</a:t>
            </a:r>
          </a:p>
        </p:txBody>
      </p:sp>
      <p:sp>
        <p:nvSpPr>
          <p:cNvPr id="378" name="* Not applicable for your course project.…"/>
          <p:cNvSpPr txBox="1"/>
          <p:nvPr/>
        </p:nvSpPr>
        <p:spPr>
          <a:xfrm>
            <a:off x="118533" y="8008866"/>
            <a:ext cx="12767735"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 Not applicable for your course project.</a:t>
            </a:r>
          </a:p>
          <a:p>
            <a:pPr algn="l">
              <a:defRPr sz="3200">
                <a:solidFill>
                  <a:srgbClr val="000004"/>
                </a:solidFill>
                <a:latin typeface="Franklin Gothic Medium"/>
                <a:ea typeface="Franklin Gothic Medium"/>
                <a:cs typeface="Franklin Gothic Medium"/>
                <a:sym typeface="Franklin Gothic Medium"/>
              </a:defRPr>
            </a:pPr>
            <a:r>
              <a:t>† Generally restricted to a single individual and/or senior personnel. </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375"/>
                                        </p:tgtEl>
                                        <p:attrNameLst>
                                          <p:attrName>style.visibility</p:attrName>
                                        </p:attrNameLst>
                                      </p:cBhvr>
                                      <p:to>
                                        <p:strVal val="visible"/>
                                      </p:to>
                                    </p:set>
                                    <p:animEffect transition="in" filter="fade">
                                      <p:cBhvr>
                                        <p:cTn id="7" dur="1000"/>
                                        <p:tgtEl>
                                          <p:spTgt spid="3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376"/>
                                        </p:tgtEl>
                                        <p:attrNameLst>
                                          <p:attrName>style.visibility</p:attrName>
                                        </p:attrNameLst>
                                      </p:cBhvr>
                                      <p:to>
                                        <p:strVal val="visible"/>
                                      </p:to>
                                    </p:set>
                                    <p:animEffect transition="in" filter="fade">
                                      <p:cBhvr>
                                        <p:cTn id="12" dur="1000"/>
                                        <p:tgtEl>
                                          <p:spTgt spid="37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377"/>
                                        </p:tgtEl>
                                        <p:attrNameLst>
                                          <p:attrName>style.visibility</p:attrName>
                                        </p:attrNameLst>
                                      </p:cBhvr>
                                      <p:to>
                                        <p:strVal val="visible"/>
                                      </p:to>
                                    </p:set>
                                    <p:animEffect transition="in" filter="fade">
                                      <p:cBhvr>
                                        <p:cTn id="17" dur="1000"/>
                                        <p:tgtEl>
                                          <p:spTgt spid="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 grpId="1" animBg="1" advAuto="0"/>
      <p:bldP spid="376" grpId="2" animBg="1" advAuto="0"/>
      <p:bldP spid="377" grpId="3" animBg="1" advAuto="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Course Project"/>
          <p:cNvSpPr txBox="1">
            <a:spLocks noGrp="1"/>
          </p:cNvSpPr>
          <p:nvPr>
            <p:ph type="ctrTitle"/>
          </p:nvPr>
        </p:nvSpPr>
        <p:spPr>
          <a:xfrm>
            <a:off x="3363569" y="2414058"/>
            <a:ext cx="6277661" cy="2476501"/>
          </a:xfrm>
          <a:prstGeom prst="rect">
            <a:avLst/>
          </a:prstGeom>
        </p:spPr>
        <p:txBody>
          <a:bodyPr/>
          <a:lstStyle/>
          <a:p>
            <a:r>
              <a:t>Course Project</a:t>
            </a:r>
          </a:p>
        </p:txBody>
      </p:sp>
      <p:sp>
        <p:nvSpPr>
          <p:cNvPr id="38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49</a:t>
            </a:fld>
            <a:endParaRPr/>
          </a:p>
        </p:txBody>
      </p:sp>
      <p:sp>
        <p:nvSpPr>
          <p:cNvPr id="382" name="Unit 4"/>
          <p:cNvSpPr txBox="1">
            <a:spLocks noGrp="1"/>
          </p:cNvSpPr>
          <p:nvPr>
            <p:ph type="subTitle" sz="quarter" idx="1"/>
          </p:nvPr>
        </p:nvSpPr>
        <p:spPr>
          <a:prstGeom prst="rect">
            <a:avLst/>
          </a:prstGeom>
        </p:spPr>
        <p:txBody>
          <a:bodyPr/>
          <a:lstStyle/>
          <a:p>
            <a:r>
              <a:t>Unit 4</a:t>
            </a:r>
          </a:p>
        </p:txBody>
      </p:sp>
      <p:sp>
        <p:nvSpPr>
          <p:cNvPr id="383" name="🛑 TO BE UPDATED 🛑"/>
          <p:cNvSpPr txBox="1"/>
          <p:nvPr/>
        </p:nvSpPr>
        <p:spPr>
          <a:xfrm>
            <a:off x="2676723" y="6777566"/>
            <a:ext cx="7651354" cy="1143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6400">
                <a:solidFill>
                  <a:srgbClr val="C00E01"/>
                </a:solidFill>
                <a:latin typeface="Franklin Gothic Medium"/>
                <a:ea typeface="Franklin Gothic Medium"/>
                <a:cs typeface="Franklin Gothic Medium"/>
                <a:sym typeface="Franklin Gothic Medium"/>
              </a:defRPr>
            </a:lvl1pPr>
          </a:lstStyle>
          <a:p>
            <a:r>
              <a:t>🛑 TO BE UPDATED 🛑</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50</a:t>
            </a:fld>
            <a:endParaRPr/>
          </a:p>
        </p:txBody>
      </p:sp>
      <p:sp>
        <p:nvSpPr>
          <p:cNvPr id="386" name="Congratulations!"/>
          <p:cNvSpPr txBox="1">
            <a:spLocks noGrp="1"/>
          </p:cNvSpPr>
          <p:nvPr>
            <p:ph type="title"/>
          </p:nvPr>
        </p:nvSpPr>
        <p:spPr>
          <a:xfrm>
            <a:off x="1911492" y="4233"/>
            <a:ext cx="9181815" cy="885826"/>
          </a:xfrm>
          <a:prstGeom prst="rect">
            <a:avLst/>
          </a:prstGeom>
        </p:spPr>
        <p:txBody>
          <a:bodyPr/>
          <a:lstStyle/>
          <a:p>
            <a:r>
              <a:t>Congratulations!</a:t>
            </a:r>
          </a:p>
        </p:txBody>
      </p:sp>
      <p:sp>
        <p:nvSpPr>
          <p:cNvPr id="387" name="You've each gone through several phases of a hiring process at Big Data, Inc.--one of the top data analysis firms in the world."/>
          <p:cNvSpPr txBox="1"/>
          <p:nvPr/>
        </p:nvSpPr>
        <p:spPr>
          <a:xfrm>
            <a:off x="128157" y="977900"/>
            <a:ext cx="12240107"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You've each gone through several phases of a hiring process at Big Data, Inc.--one of the top data analysis firms in the world.</a:t>
            </a:r>
          </a:p>
        </p:txBody>
      </p:sp>
      <p:sp>
        <p:nvSpPr>
          <p:cNvPr id="388" name="We are looking for the best statisticians, data scientists, and data analysts to join our firm."/>
          <p:cNvSpPr txBox="1"/>
          <p:nvPr/>
        </p:nvSpPr>
        <p:spPr>
          <a:xfrm>
            <a:off x="128157" y="2544233"/>
            <a:ext cx="12748486"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We are looking for the best statisticians, data scientists, and data analysts to join our firm. </a:t>
            </a:r>
          </a:p>
        </p:txBody>
      </p:sp>
      <p:sp>
        <p:nvSpPr>
          <p:cNvPr id="389" name="We've hired you all as Probationary Data Scientists and want to see how you each work as part of a team and what you can produce."/>
          <p:cNvSpPr txBox="1"/>
          <p:nvPr/>
        </p:nvSpPr>
        <p:spPr>
          <a:xfrm>
            <a:off x="128157" y="4139406"/>
            <a:ext cx="12240107"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We've hired you all as</a:t>
            </a:r>
            <a:r>
              <a:rPr i="1"/>
              <a:t> </a:t>
            </a:r>
            <a:r>
              <a:rPr i="1">
                <a:solidFill>
                  <a:srgbClr val="BA3EB3"/>
                </a:solidFill>
              </a:rPr>
              <a:t>Probationary Data Scientists</a:t>
            </a:r>
            <a:r>
              <a:t> and want to see how you each work as part of a team and what you can produce.</a:t>
            </a:r>
          </a:p>
        </p:txBody>
      </p:sp>
      <p:sp>
        <p:nvSpPr>
          <p:cNvPr id="390" name="To this end, you will form teams of 2-3 people and prepare a reproducible analysis of data of your choosing."/>
          <p:cNvSpPr txBox="1"/>
          <p:nvPr/>
        </p:nvSpPr>
        <p:spPr>
          <a:xfrm>
            <a:off x="82856" y="5957093"/>
            <a:ext cx="12839089"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To this end, you will form teams of 2-3 people and prepare a reproducible analysis of data of your choosing. </a:t>
            </a:r>
          </a:p>
        </p:txBody>
      </p:sp>
    </p:spTree>
  </p:cSld>
  <p:clrMapOvr>
    <a:masterClrMapping/>
  </p:clrMapOvr>
  <mc:AlternateContent xmlns:mc="http://schemas.openxmlformats.org/markup-compatibility/2006" xmlns:p14="http://schemas.microsoft.com/office/powerpoint/2010/main">
    <mc:Choice Requires="p14">
      <p:transition spd="slow" p14:dur="1500">
        <p:push/>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388"/>
                                        </p:tgtEl>
                                        <p:attrNameLst>
                                          <p:attrName>style.visibility</p:attrName>
                                        </p:attrNameLst>
                                      </p:cBhvr>
                                      <p:to>
                                        <p:strVal val="visible"/>
                                      </p:to>
                                    </p:set>
                                    <p:animEffect transition="in" filter="fade">
                                      <p:cBhvr>
                                        <p:cTn id="7" dur="1000"/>
                                        <p:tgtEl>
                                          <p:spTgt spid="3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389"/>
                                        </p:tgtEl>
                                        <p:attrNameLst>
                                          <p:attrName>style.visibility</p:attrName>
                                        </p:attrNameLst>
                                      </p:cBhvr>
                                      <p:to>
                                        <p:strVal val="visible"/>
                                      </p:to>
                                    </p:set>
                                    <p:animEffect transition="in" filter="fade">
                                      <p:cBhvr>
                                        <p:cTn id="12" dur="1000"/>
                                        <p:tgtEl>
                                          <p:spTgt spid="3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390"/>
                                        </p:tgtEl>
                                        <p:attrNameLst>
                                          <p:attrName>style.visibility</p:attrName>
                                        </p:attrNameLst>
                                      </p:cBhvr>
                                      <p:to>
                                        <p:strVal val="visible"/>
                                      </p:to>
                                    </p:set>
                                    <p:animEffect transition="in" filter="fade">
                                      <p:cBhvr>
                                        <p:cTn id="17" dur="1000"/>
                                        <p:tgtEl>
                                          <p:spTgt spid="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 grpId="1" animBg="1" advAuto="0"/>
      <p:bldP spid="389" grpId="2" animBg="1" advAuto="0"/>
      <p:bldP spid="390" grpId="3" animBg="1" advAuto="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51</a:t>
            </a:fld>
            <a:endParaRPr/>
          </a:p>
        </p:txBody>
      </p:sp>
      <p:sp>
        <p:nvSpPr>
          <p:cNvPr id="393" name="Project Elements"/>
          <p:cNvSpPr txBox="1">
            <a:spLocks noGrp="1"/>
          </p:cNvSpPr>
          <p:nvPr>
            <p:ph type="title"/>
          </p:nvPr>
        </p:nvSpPr>
        <p:spPr>
          <a:prstGeom prst="rect">
            <a:avLst/>
          </a:prstGeom>
        </p:spPr>
        <p:txBody>
          <a:bodyPr/>
          <a:lstStyle/>
          <a:p>
            <a:r>
              <a:t>Project Elements</a:t>
            </a:r>
          </a:p>
        </p:txBody>
      </p:sp>
      <p:sp>
        <p:nvSpPr>
          <p:cNvPr id="394" name="To this end, you will form teams of 2-3 people and prepare a reproducible analysis of data of your choosing."/>
          <p:cNvSpPr txBox="1"/>
          <p:nvPr/>
        </p:nvSpPr>
        <p:spPr>
          <a:xfrm>
            <a:off x="61905" y="823912"/>
            <a:ext cx="12880991"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To this end, you will form teams of 2-3 people and prepare a reproducible analysis of data of your choosing. </a:t>
            </a:r>
          </a:p>
        </p:txBody>
      </p:sp>
      <p:sp>
        <p:nvSpPr>
          <p:cNvPr id="395" name="Your team's project must include…"/>
          <p:cNvSpPr txBox="1"/>
          <p:nvPr/>
        </p:nvSpPr>
        <p:spPr>
          <a:xfrm>
            <a:off x="61905" y="1947733"/>
            <a:ext cx="12880991" cy="6934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algn="l">
              <a:defRPr sz="3200">
                <a:solidFill>
                  <a:srgbClr val="000004"/>
                </a:solidFill>
                <a:latin typeface="Franklin Gothic Medium"/>
                <a:ea typeface="Franklin Gothic Medium"/>
                <a:cs typeface="Franklin Gothic Medium"/>
                <a:sym typeface="Franklin Gothic Medium"/>
              </a:defRPr>
            </a:pPr>
            <a:r>
              <a:t>Your team's project must include</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A team/group work contract (Checkpoint #1)</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A detailed plan</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A GitHub repo showing a README, proper use of commits, Issues, branches, and pull requests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Evidence of appropriate data wrangling</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A reproducible, exploratory data analysis </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Completion of all checkpoints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A Work-in-Progress presentation the week of 4/27/26</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A final report that is your reproducible data analysis document (Quarto) plus the rendered output file (PDF)</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The use of a consistent coding style</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Peer- &amp; self-evaluations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Adherence to the elements and principles of Open Science, including appropriate citations</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395"/>
                                        </p:tgtEl>
                                        <p:attrNameLst>
                                          <p:attrName>style.visibility</p:attrName>
                                        </p:attrNameLst>
                                      </p:cBhvr>
                                      <p:to>
                                        <p:strVal val="visible"/>
                                      </p:to>
                                    </p:set>
                                    <p:animEffect transition="in" filter="fade">
                                      <p:cBhvr>
                                        <p:cTn id="7" dur="1000"/>
                                        <p:tgtEl>
                                          <p:spTgt spid="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 grpId="1" animBg="1" advAuto="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52</a:t>
            </a:fld>
            <a:endParaRPr/>
          </a:p>
        </p:txBody>
      </p:sp>
      <p:sp>
        <p:nvSpPr>
          <p:cNvPr id="398" name="Project Data"/>
          <p:cNvSpPr txBox="1">
            <a:spLocks noGrp="1"/>
          </p:cNvSpPr>
          <p:nvPr>
            <p:ph type="title"/>
          </p:nvPr>
        </p:nvSpPr>
        <p:spPr>
          <a:prstGeom prst="rect">
            <a:avLst/>
          </a:prstGeom>
        </p:spPr>
        <p:txBody>
          <a:bodyPr/>
          <a:lstStyle/>
          <a:p>
            <a:r>
              <a:t>Project Data</a:t>
            </a:r>
          </a:p>
        </p:txBody>
      </p:sp>
      <p:sp>
        <p:nvSpPr>
          <p:cNvPr id="399" name="Your team will be able to choose what data you work with, provided certain conditions are met."/>
          <p:cNvSpPr txBox="1"/>
          <p:nvPr/>
        </p:nvSpPr>
        <p:spPr>
          <a:xfrm>
            <a:off x="61905" y="977900"/>
            <a:ext cx="12880991"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Your team will be able to choose what data you work with, provided certain conditions are met.</a:t>
            </a:r>
          </a:p>
        </p:txBody>
      </p:sp>
      <p:sp>
        <p:nvSpPr>
          <p:cNvPr id="400" name="The data may not be any of the collections we have used in class (examples, homework, activities, etc.).…"/>
          <p:cNvSpPr txBox="1"/>
          <p:nvPr/>
        </p:nvSpPr>
        <p:spPr>
          <a:xfrm>
            <a:off x="61905" y="1981200"/>
            <a:ext cx="12880991" cy="5791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p>
            <a:pPr marL="564444" indent="-564444" algn="l">
              <a:spcBef>
                <a:spcPts val="500"/>
              </a:spcBef>
              <a:buSzPct val="100000"/>
              <a:buAutoNum type="arabicPeriod"/>
              <a:defRPr sz="3100">
                <a:solidFill>
                  <a:srgbClr val="000004"/>
                </a:solidFill>
                <a:latin typeface="Franklin Gothic Medium"/>
                <a:ea typeface="Franklin Gothic Medium"/>
                <a:cs typeface="Franklin Gothic Medium"/>
                <a:sym typeface="Franklin Gothic Medium"/>
              </a:defRPr>
            </a:pPr>
            <a:r>
              <a:t>The data may not be any of the collections we have used in class (examples, homework, activities, etc.).</a:t>
            </a:r>
          </a:p>
          <a:p>
            <a:pPr marL="564444" indent="-564444" algn="l">
              <a:spcBef>
                <a:spcPts val="500"/>
              </a:spcBef>
              <a:buSzPct val="100000"/>
              <a:buAutoNum type="arabicPeriod"/>
              <a:defRPr sz="3100">
                <a:solidFill>
                  <a:srgbClr val="000004"/>
                </a:solidFill>
                <a:latin typeface="Franklin Gothic Medium"/>
                <a:ea typeface="Franklin Gothic Medium"/>
                <a:cs typeface="Franklin Gothic Medium"/>
                <a:sym typeface="Franklin Gothic Medium"/>
              </a:defRPr>
            </a:pPr>
            <a:r>
              <a:t>The data should be real; no fake or synthetic data. You may not use genAI tools to create or find data.</a:t>
            </a:r>
          </a:p>
          <a:p>
            <a:pPr marL="564444" indent="-564444" algn="l">
              <a:spcBef>
                <a:spcPts val="500"/>
              </a:spcBef>
              <a:buSzPct val="100000"/>
              <a:buAutoNum type="arabicPeriod"/>
              <a:defRPr sz="3100">
                <a:solidFill>
                  <a:srgbClr val="000004"/>
                </a:solidFill>
                <a:latin typeface="Franklin Gothic Medium"/>
                <a:ea typeface="Franklin Gothic Medium"/>
                <a:cs typeface="Franklin Gothic Medium"/>
                <a:sym typeface="Franklin Gothic Medium"/>
              </a:defRPr>
            </a:pPr>
            <a:r>
              <a:t>The data should be rich; that is, more than a couple of attributes. (Look for data sets that you can use to complement/supplement each other.)</a:t>
            </a:r>
          </a:p>
          <a:p>
            <a:pPr marL="564444" indent="-564444" algn="l">
              <a:spcBef>
                <a:spcPts val="500"/>
              </a:spcBef>
              <a:buSzPct val="100000"/>
              <a:buAutoNum type="arabicPeriod"/>
              <a:defRPr sz="3100">
                <a:solidFill>
                  <a:srgbClr val="000004"/>
                </a:solidFill>
                <a:latin typeface="Franklin Gothic Medium"/>
                <a:ea typeface="Franklin Gothic Medium"/>
                <a:cs typeface="Franklin Gothic Medium"/>
                <a:sym typeface="Franklin Gothic Medium"/>
              </a:defRPr>
            </a:pPr>
            <a:r>
              <a:t>You must be able to report the data provenance as fully as possible.</a:t>
            </a:r>
          </a:p>
          <a:p>
            <a:pPr marL="564444" indent="-564444" algn="l">
              <a:spcBef>
                <a:spcPts val="500"/>
              </a:spcBef>
              <a:buSzPct val="100000"/>
              <a:buAutoNum type="arabicPeriod"/>
              <a:defRPr sz="3100">
                <a:solidFill>
                  <a:srgbClr val="000004"/>
                </a:solidFill>
                <a:latin typeface="Franklin Gothic Medium"/>
                <a:ea typeface="Franklin Gothic Medium"/>
                <a:cs typeface="Franklin Gothic Medium"/>
                <a:sym typeface="Franklin Gothic Medium"/>
              </a:defRPr>
            </a:pPr>
            <a:r>
              <a:t>You must be able to explain how the data meet (or not) the FAIR and CARE principles.</a:t>
            </a:r>
          </a:p>
          <a:p>
            <a:pPr marL="564444" indent="-564444" algn="l">
              <a:spcBef>
                <a:spcPts val="500"/>
              </a:spcBef>
              <a:buSzPct val="100000"/>
              <a:buAutoNum type="arabicPeriod"/>
              <a:defRPr sz="3100">
                <a:solidFill>
                  <a:srgbClr val="000004"/>
                </a:solidFill>
                <a:latin typeface="Franklin Gothic Medium"/>
                <a:ea typeface="Franklin Gothic Medium"/>
                <a:cs typeface="Franklin Gothic Medium"/>
                <a:sym typeface="Franklin Gothic Medium"/>
              </a:defRPr>
            </a:pPr>
            <a:r>
              <a:t>Your data may not come from or be found on Kaggle.</a:t>
            </a:r>
          </a:p>
          <a:p>
            <a:pPr marL="564444" indent="-564444" algn="l">
              <a:spcBef>
                <a:spcPts val="500"/>
              </a:spcBef>
              <a:buSzPct val="100000"/>
              <a:buAutoNum type="arabicPeriod"/>
              <a:defRPr sz="3100">
                <a:solidFill>
                  <a:srgbClr val="000004"/>
                </a:solidFill>
                <a:latin typeface="Franklin Gothic Medium"/>
                <a:ea typeface="Franklin Gothic Medium"/>
                <a:cs typeface="Franklin Gothic Medium"/>
                <a:sym typeface="Franklin Gothic Medium"/>
              </a:defRPr>
            </a:pPr>
            <a:r>
              <a:t>Your data may not come from another project you are or have done for a grade in another course, without prior permission.</a:t>
            </a:r>
          </a:p>
        </p:txBody>
      </p:sp>
      <p:sp>
        <p:nvSpPr>
          <p:cNvPr id="401" name="You may use data you acquire from labs/researchers on campus, provided they have granted your permission to do so."/>
          <p:cNvSpPr txBox="1"/>
          <p:nvPr/>
        </p:nvSpPr>
        <p:spPr>
          <a:xfrm>
            <a:off x="251285" y="8018727"/>
            <a:ext cx="12502230"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You may use data you acquire from labs/researchers on campus, provided they have granted your permission to do so.</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400"/>
                                        </p:tgtEl>
                                        <p:attrNameLst>
                                          <p:attrName>style.visibility</p:attrName>
                                        </p:attrNameLst>
                                      </p:cBhvr>
                                      <p:to>
                                        <p:strVal val="visible"/>
                                      </p:to>
                                    </p:set>
                                    <p:animEffect transition="in" filter="fade">
                                      <p:cBhvr>
                                        <p:cTn id="7" dur="1000"/>
                                        <p:tgtEl>
                                          <p:spTgt spid="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 grpId="1" animBg="1" advAuto="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53</a:t>
            </a:fld>
            <a:endParaRPr/>
          </a:p>
        </p:txBody>
      </p:sp>
      <p:sp>
        <p:nvSpPr>
          <p:cNvPr id="404" name="Additional Guidelines"/>
          <p:cNvSpPr txBox="1">
            <a:spLocks noGrp="1"/>
          </p:cNvSpPr>
          <p:nvPr>
            <p:ph type="title"/>
          </p:nvPr>
        </p:nvSpPr>
        <p:spPr>
          <a:prstGeom prst="rect">
            <a:avLst/>
          </a:prstGeom>
        </p:spPr>
        <p:txBody>
          <a:bodyPr/>
          <a:lstStyle/>
          <a:p>
            <a:r>
              <a:t>Additional Guidelines</a:t>
            </a:r>
          </a:p>
        </p:txBody>
      </p:sp>
      <p:sp>
        <p:nvSpPr>
          <p:cNvPr id="405" name="All details of the project are available in the course_project_template repo in the Stat184-Spring2026 GitHub Organization."/>
          <p:cNvSpPr txBox="1"/>
          <p:nvPr/>
        </p:nvSpPr>
        <p:spPr>
          <a:xfrm>
            <a:off x="128157" y="977900"/>
            <a:ext cx="12240107"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All details of the project are available in the course_project_template repo in the Stat184-Spring2026 GitHub Organization.</a:t>
            </a:r>
          </a:p>
        </p:txBody>
      </p:sp>
      <p:sp>
        <p:nvSpPr>
          <p:cNvPr id="406" name="Use this repo as a template to create your team's repo and make sure that Stat184-Spring2026 is the owner."/>
          <p:cNvSpPr txBox="1"/>
          <p:nvPr/>
        </p:nvSpPr>
        <p:spPr>
          <a:xfrm>
            <a:off x="128157" y="2457284"/>
            <a:ext cx="12240107"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Use this repo as a template to create your team's repo and make sure that Stat184-Spring2026 is the owner.</a:t>
            </a:r>
          </a:p>
        </p:txBody>
      </p:sp>
      <p:sp>
        <p:nvSpPr>
          <p:cNvPr id="407" name="You may not re-use any project, in whole or in part, from any other course (past or current) for this project."/>
          <p:cNvSpPr txBox="1"/>
          <p:nvPr/>
        </p:nvSpPr>
        <p:spPr>
          <a:xfrm>
            <a:off x="128157" y="4178724"/>
            <a:ext cx="12240107" cy="990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You may not re-use any project, in whole or in part, from any other course (past or current) for this project.</a:t>
            </a:r>
          </a:p>
        </p:txBody>
      </p:sp>
      <p:sp>
        <p:nvSpPr>
          <p:cNvPr id="408" name="The use of genAI tools is limited to the generation of initial alt text, long descriptions, spelling/grammar checks, and the possibility of linting. All usages should be fully documented as an appendix."/>
          <p:cNvSpPr txBox="1"/>
          <p:nvPr/>
        </p:nvSpPr>
        <p:spPr>
          <a:xfrm>
            <a:off x="128157" y="5900164"/>
            <a:ext cx="12240107" cy="14478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l">
              <a:defRPr sz="3200">
                <a:solidFill>
                  <a:srgbClr val="000004"/>
                </a:solidFill>
                <a:latin typeface="Franklin Gothic Medium"/>
                <a:ea typeface="Franklin Gothic Medium"/>
                <a:cs typeface="Franklin Gothic Medium"/>
                <a:sym typeface="Franklin Gothic Medium"/>
              </a:defRPr>
            </a:lvl1pPr>
          </a:lstStyle>
          <a:p>
            <a:r>
              <a:t>The use of genAI tools is limited to the generation of initial alt text, long descriptions, spelling/grammar checks, and the possibility of linting. All usages should be fully documented as an appendix.</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406"/>
                                        </p:tgtEl>
                                        <p:attrNameLst>
                                          <p:attrName>style.visibility</p:attrName>
                                        </p:attrNameLst>
                                      </p:cBhvr>
                                      <p:to>
                                        <p:strVal val="visible"/>
                                      </p:to>
                                    </p:set>
                                    <p:animEffect transition="in" filter="fade">
                                      <p:cBhvr>
                                        <p:cTn id="7" dur="1000"/>
                                        <p:tgtEl>
                                          <p:spTgt spid="4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2" nodeType="clickEffect">
                                  <p:stCondLst>
                                    <p:cond delay="0"/>
                                  </p:stCondLst>
                                  <p:iterate>
                                    <p:tmAbs val="0"/>
                                  </p:iterate>
                                  <p:childTnLst>
                                    <p:set>
                                      <p:cBhvr>
                                        <p:cTn id="11" fill="hold"/>
                                        <p:tgtEl>
                                          <p:spTgt spid="407"/>
                                        </p:tgtEl>
                                        <p:attrNameLst>
                                          <p:attrName>style.visibility</p:attrName>
                                        </p:attrNameLst>
                                      </p:cBhvr>
                                      <p:to>
                                        <p:strVal val="visible"/>
                                      </p:to>
                                    </p:set>
                                    <p:animEffect transition="in" filter="fade">
                                      <p:cBhvr>
                                        <p:cTn id="12" dur="1000"/>
                                        <p:tgtEl>
                                          <p:spTgt spid="4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3" nodeType="clickEffect">
                                  <p:stCondLst>
                                    <p:cond delay="0"/>
                                  </p:stCondLst>
                                  <p:iterate>
                                    <p:tmAbs val="0"/>
                                  </p:iterate>
                                  <p:childTnLst>
                                    <p:set>
                                      <p:cBhvr>
                                        <p:cTn id="16" fill="hold"/>
                                        <p:tgtEl>
                                          <p:spTgt spid="408"/>
                                        </p:tgtEl>
                                        <p:attrNameLst>
                                          <p:attrName>style.visibility</p:attrName>
                                        </p:attrNameLst>
                                      </p:cBhvr>
                                      <p:to>
                                        <p:strVal val="visible"/>
                                      </p:to>
                                    </p:set>
                                    <p:animEffect transition="in" filter="fade">
                                      <p:cBhvr>
                                        <p:cTn id="17" dur="1000"/>
                                        <p:tgtEl>
                                          <p:spTgt spid="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 grpId="1" animBg="1" advAuto="0"/>
      <p:bldP spid="407" grpId="2" animBg="1" advAuto="0"/>
      <p:bldP spid="408" grpId="3" animBg="1" advAuto="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54</a:t>
            </a:fld>
            <a:endParaRPr/>
          </a:p>
        </p:txBody>
      </p:sp>
      <p:sp>
        <p:nvSpPr>
          <p:cNvPr id="411" name="Key Dates"/>
          <p:cNvSpPr txBox="1">
            <a:spLocks noGrp="1"/>
          </p:cNvSpPr>
          <p:nvPr>
            <p:ph type="title"/>
          </p:nvPr>
        </p:nvSpPr>
        <p:spPr>
          <a:prstGeom prst="rect">
            <a:avLst/>
          </a:prstGeom>
        </p:spPr>
        <p:txBody>
          <a:bodyPr/>
          <a:lstStyle/>
          <a:p>
            <a:r>
              <a:t>Key Dates</a:t>
            </a:r>
          </a:p>
        </p:txBody>
      </p:sp>
      <p:graphicFrame>
        <p:nvGraphicFramePr>
          <p:cNvPr id="412" name="Table 1"/>
          <p:cNvGraphicFramePr/>
          <p:nvPr/>
        </p:nvGraphicFramePr>
        <p:xfrm>
          <a:off x="238522" y="854706"/>
          <a:ext cx="12527756" cy="8270975"/>
        </p:xfrm>
        <a:graphic>
          <a:graphicData uri="http://schemas.openxmlformats.org/drawingml/2006/table">
            <a:tbl>
              <a:tblPr firstRow="1">
                <a:tableStyleId>{8F44A2F1-9E1F-4B54-A3A2-5F16C0AD49E2}</a:tableStyleId>
              </a:tblPr>
              <a:tblGrid>
                <a:gridCol w="3366667">
                  <a:extLst>
                    <a:ext uri="{9D8B030D-6E8A-4147-A177-3AD203B41FA5}">
                      <a16:colId xmlns:a16="http://schemas.microsoft.com/office/drawing/2014/main" val="20000"/>
                    </a:ext>
                  </a:extLst>
                </a:gridCol>
                <a:gridCol w="9161089">
                  <a:extLst>
                    <a:ext uri="{9D8B030D-6E8A-4147-A177-3AD203B41FA5}">
                      <a16:colId xmlns:a16="http://schemas.microsoft.com/office/drawing/2014/main" val="20001"/>
                    </a:ext>
                  </a:extLst>
                </a:gridCol>
              </a:tblGrid>
              <a:tr h="551927">
                <a:tc>
                  <a:txBody>
                    <a:bodyPr/>
                    <a:lstStyle/>
                    <a:p>
                      <a:pPr defTabSz="914400">
                        <a:tabLst>
                          <a:tab pos="914400" algn="l"/>
                        </a:tabLst>
                        <a:defRPr sz="1800">
                          <a:solidFill>
                            <a:srgbClr val="000000"/>
                          </a:solidFill>
                        </a:defRPr>
                      </a:pPr>
                      <a:r>
                        <a:rPr sz="3000">
                          <a:latin typeface="Times New Roman"/>
                          <a:ea typeface="Times New Roman"/>
                          <a:cs typeface="Times New Roman"/>
                          <a:sym typeface="Times New Roman"/>
                        </a:rPr>
                        <a:t>Date</a:t>
                      </a:r>
                    </a:p>
                  </a:txBody>
                  <a:tcPr marL="50800" marR="50800" marT="50800" marB="50800" anchor="ctr" horzOverflow="overflow">
                    <a:solidFill>
                      <a:srgbClr val="FFFFFF"/>
                    </a:solidFill>
                  </a:tcPr>
                </a:tc>
                <a:tc>
                  <a:txBody>
                    <a:bodyPr/>
                    <a:lstStyle/>
                    <a:p>
                      <a:pPr defTabSz="914400">
                        <a:tabLst>
                          <a:tab pos="914400" algn="l"/>
                        </a:tabLst>
                        <a:defRPr sz="1800">
                          <a:solidFill>
                            <a:srgbClr val="000000"/>
                          </a:solidFill>
                        </a:defRPr>
                      </a:pPr>
                      <a:r>
                        <a:rPr sz="3000">
                          <a:latin typeface="Times New Roman"/>
                          <a:ea typeface="Times New Roman"/>
                          <a:cs typeface="Times New Roman"/>
                          <a:sym typeface="Times New Roman"/>
                        </a:rPr>
                        <a:t>Element</a:t>
                      </a:r>
                    </a:p>
                  </a:txBody>
                  <a:tcPr marL="50800" marR="50800" marT="50800" marB="50800" anchor="ctr" horzOverflow="overflow">
                    <a:solidFill>
                      <a:srgbClr val="FFFFFF"/>
                    </a:solidFill>
                  </a:tcPr>
                </a:tc>
                <a:extLst>
                  <a:ext uri="{0D108BD9-81ED-4DB2-BD59-A6C34878D82A}">
                    <a16:rowId xmlns:a16="http://schemas.microsoft.com/office/drawing/2014/main" val="10000"/>
                  </a:ext>
                </a:extLst>
              </a:tr>
              <a:tr h="1543784">
                <a:tc>
                  <a:txBody>
                    <a:bodyPr/>
                    <a:lstStyle/>
                    <a:p>
                      <a:pPr defTabSz="914400">
                        <a:tabLst>
                          <a:tab pos="914400" algn="l"/>
                        </a:tabLst>
                        <a:defRPr sz="1800"/>
                      </a:pPr>
                      <a:r>
                        <a:rPr sz="3000">
                          <a:sym typeface="Times New Roman"/>
                        </a:rPr>
                        <a:t>4/20/26 (Sec. 1 &amp; 4)
4/21/26 (Sec. 2 &amp; 5)</a:t>
                      </a:r>
                    </a:p>
                  </a:txBody>
                  <a:tcPr marL="50800" marR="50800" marT="50800" marB="50800" anchor="ctr" horzOverflow="overflow"/>
                </a:tc>
                <a:tc>
                  <a:txBody>
                    <a:bodyPr/>
                    <a:lstStyle/>
                    <a:p>
                      <a:pPr algn="l" defTabSz="914400">
                        <a:tabLst>
                          <a:tab pos="914400" algn="l"/>
                        </a:tabLst>
                        <a:defRPr sz="3000">
                          <a:sym typeface="Times New Roman"/>
                        </a:defRPr>
                      </a:pPr>
                      <a:r>
                        <a:rPr>
                          <a:solidFill>
                            <a:srgbClr val="008900"/>
                          </a:solidFill>
                        </a:rPr>
                        <a:t>Checkpoint #1: </a:t>
                      </a:r>
                      <a:r>
                        <a:t>Form Teams and make your team contract (on paper, during class)</a:t>
                      </a:r>
                    </a:p>
                    <a:p>
                      <a:pPr algn="l" defTabSz="914400">
                        <a:tabLst>
                          <a:tab pos="914400" algn="l"/>
                        </a:tabLst>
                        <a:defRPr sz="3000">
                          <a:sym typeface="Times New Roman"/>
                        </a:defRPr>
                      </a:pPr>
                      <a:r>
                        <a:t>Begin planning and finding your data</a:t>
                      </a:r>
                    </a:p>
                  </a:txBody>
                  <a:tcPr marL="50800" marR="50800" marT="50800" marB="50800" anchor="ctr" horzOverflow="overflow"/>
                </a:tc>
                <a:extLst>
                  <a:ext uri="{0D108BD9-81ED-4DB2-BD59-A6C34878D82A}">
                    <a16:rowId xmlns:a16="http://schemas.microsoft.com/office/drawing/2014/main" val="10001"/>
                  </a:ext>
                </a:extLst>
              </a:tr>
              <a:tr h="1065175">
                <a:tc>
                  <a:txBody>
                    <a:bodyPr/>
                    <a:lstStyle/>
                    <a:p>
                      <a:pPr defTabSz="914400">
                        <a:tabLst>
                          <a:tab pos="914400" algn="l"/>
                        </a:tabLst>
                        <a:defRPr sz="1800"/>
                      </a:pPr>
                      <a:r>
                        <a:rPr sz="3000">
                          <a:sym typeface="Times New Roman"/>
                        </a:rPr>
                        <a:t>4/22/26 (Sec. 1 &amp; 4)</a:t>
                      </a:r>
                    </a:p>
                  </a:txBody>
                  <a:tcPr marL="50800" marR="50800" marT="50800" marB="50800" anchor="ctr" horzOverflow="overflow"/>
                </a:tc>
                <a:tc>
                  <a:txBody>
                    <a:bodyPr/>
                    <a:lstStyle/>
                    <a:p>
                      <a:pPr algn="l" defTabSz="914400">
                        <a:tabLst>
                          <a:tab pos="914400" algn="l"/>
                        </a:tabLst>
                        <a:defRPr sz="3000">
                          <a:sym typeface="Times New Roman"/>
                        </a:defRPr>
                      </a:pPr>
                      <a:r>
                        <a:rPr>
                          <a:solidFill>
                            <a:srgbClr val="1D2FEB"/>
                          </a:solidFill>
                        </a:rPr>
                        <a:t>Checkpoint #2: </a:t>
                      </a:r>
                      <a:r>
                        <a:t>Initial Data and Plan Approval (in MOM, during class)</a:t>
                      </a:r>
                    </a:p>
                  </a:txBody>
                  <a:tcPr marL="50800" marR="50800" marT="50800" marB="50800" anchor="ctr" horzOverflow="overflow"/>
                </a:tc>
                <a:extLst>
                  <a:ext uri="{0D108BD9-81ED-4DB2-BD59-A6C34878D82A}">
                    <a16:rowId xmlns:a16="http://schemas.microsoft.com/office/drawing/2014/main" val="10002"/>
                  </a:ext>
                </a:extLst>
              </a:tr>
              <a:tr h="974778">
                <a:tc>
                  <a:txBody>
                    <a:bodyPr/>
                    <a:lstStyle/>
                    <a:p>
                      <a:pPr defTabSz="914400">
                        <a:tabLst>
                          <a:tab pos="914400" algn="l"/>
                        </a:tabLst>
                        <a:defRPr sz="1800"/>
                      </a:pPr>
                      <a:r>
                        <a:rPr sz="3000">
                          <a:sym typeface="Times New Roman"/>
                        </a:rPr>
                        <a:t>4/24/26 (Sec. 1 &amp; 4)
4/23/26 (Sec. 2 &amp; 5)</a:t>
                      </a:r>
                    </a:p>
                  </a:txBody>
                  <a:tcPr marL="50800" marR="50800" marT="50800" marB="50800" anchor="ctr" horzOverflow="overflow"/>
                </a:tc>
                <a:tc>
                  <a:txBody>
                    <a:bodyPr/>
                    <a:lstStyle/>
                    <a:p>
                      <a:pPr algn="l" defTabSz="914400">
                        <a:tabLst>
                          <a:tab pos="914400" algn="l"/>
                        </a:tabLst>
                        <a:defRPr sz="3000">
                          <a:sym typeface="Times New Roman"/>
                        </a:defRPr>
                      </a:pPr>
                      <a:r>
                        <a:rPr>
                          <a:solidFill>
                            <a:srgbClr val="008900"/>
                          </a:solidFill>
                        </a:rPr>
                        <a:t>Checkpoint #3: </a:t>
                      </a:r>
                      <a:r>
                        <a:t>GitHub Repo Check (in MOM, during class)</a:t>
                      </a:r>
                    </a:p>
                  </a:txBody>
                  <a:tcPr marL="50800" marR="50800" marT="50800" marB="50800" anchor="ctr" horzOverflow="overflow"/>
                </a:tc>
                <a:extLst>
                  <a:ext uri="{0D108BD9-81ED-4DB2-BD59-A6C34878D82A}">
                    <a16:rowId xmlns:a16="http://schemas.microsoft.com/office/drawing/2014/main" val="10003"/>
                  </a:ext>
                </a:extLst>
              </a:tr>
              <a:tr h="1101755">
                <a:tc>
                  <a:txBody>
                    <a:bodyPr/>
                    <a:lstStyle/>
                    <a:p>
                      <a:pPr defTabSz="914400">
                        <a:tabLst>
                          <a:tab pos="914400" algn="l"/>
                        </a:tabLst>
                        <a:defRPr sz="1800"/>
                      </a:pPr>
                      <a:r>
                        <a:rPr sz="3000">
                          <a:sym typeface="Times New Roman"/>
                        </a:rPr>
                        <a:t>4/24/26 (Sec. 1 &amp; 4)
4/23/26 (Sec. 2 &amp; 5)</a:t>
                      </a:r>
                    </a:p>
                  </a:txBody>
                  <a:tcPr marL="50800" marR="50800" marT="50800" marB="50800" anchor="ctr" horzOverflow="overflow"/>
                </a:tc>
                <a:tc>
                  <a:txBody>
                    <a:bodyPr/>
                    <a:lstStyle/>
                    <a:p>
                      <a:pPr algn="l" defTabSz="914400">
                        <a:tabLst>
                          <a:tab pos="914400" algn="l"/>
                        </a:tabLst>
                        <a:defRPr sz="3000">
                          <a:sym typeface="Times New Roman"/>
                        </a:defRPr>
                      </a:pPr>
                      <a:r>
                        <a:rPr>
                          <a:solidFill>
                            <a:srgbClr val="1D2FEB"/>
                          </a:solidFill>
                        </a:rPr>
                        <a:t>Checkpoint #4: </a:t>
                      </a:r>
                      <a:r>
                        <a:t>Sign up for Work-In-Progress Presentation Slot (during class)</a:t>
                      </a:r>
                    </a:p>
                  </a:txBody>
                  <a:tcPr marL="50800" marR="50800" marT="50800" marB="50800" anchor="ctr" horzOverflow="overflow"/>
                </a:tc>
                <a:extLst>
                  <a:ext uri="{0D108BD9-81ED-4DB2-BD59-A6C34878D82A}">
                    <a16:rowId xmlns:a16="http://schemas.microsoft.com/office/drawing/2014/main" val="10004"/>
                  </a:ext>
                </a:extLst>
              </a:tr>
              <a:tr h="1050818">
                <a:tc>
                  <a:txBody>
                    <a:bodyPr/>
                    <a:lstStyle/>
                    <a:p>
                      <a:pPr defTabSz="914400">
                        <a:tabLst>
                          <a:tab pos="914400" algn="l"/>
                        </a:tabLst>
                        <a:defRPr sz="1800"/>
                      </a:pPr>
                      <a:r>
                        <a:rPr sz="3000">
                          <a:sym typeface="Times New Roman"/>
                        </a:rPr>
                        <a:t>4/27/26-5/1/26</a:t>
                      </a:r>
                    </a:p>
                  </a:txBody>
                  <a:tcPr marL="50800" marR="50800" marT="50800" marB="50800" anchor="ctr" horzOverflow="overflow"/>
                </a:tc>
                <a:tc>
                  <a:txBody>
                    <a:bodyPr/>
                    <a:lstStyle/>
                    <a:p>
                      <a:pPr algn="l" defTabSz="914400">
                        <a:tabLst>
                          <a:tab pos="914400" algn="l"/>
                        </a:tabLst>
                        <a:defRPr sz="3000">
                          <a:sym typeface="Times New Roman"/>
                        </a:defRPr>
                      </a:pPr>
                      <a:r>
                        <a:rPr>
                          <a:solidFill>
                            <a:srgbClr val="008900"/>
                          </a:solidFill>
                        </a:rPr>
                        <a:t>Checkpoint #5:</a:t>
                      </a:r>
                      <a:r>
                        <a:t> Work-In-Progress Presentations and Peer Feedback (during class)</a:t>
                      </a:r>
                    </a:p>
                  </a:txBody>
                  <a:tcPr marL="50800" marR="50800" marT="50800" marB="50800" anchor="ctr" horzOverflow="overflow"/>
                </a:tc>
                <a:extLst>
                  <a:ext uri="{0D108BD9-81ED-4DB2-BD59-A6C34878D82A}">
                    <a16:rowId xmlns:a16="http://schemas.microsoft.com/office/drawing/2014/main" val="10005"/>
                  </a:ext>
                </a:extLst>
              </a:tr>
              <a:tr h="1023870">
                <a:tc>
                  <a:txBody>
                    <a:bodyPr/>
                    <a:lstStyle/>
                    <a:p>
                      <a:pPr defTabSz="914400">
                        <a:tabLst>
                          <a:tab pos="914400" algn="l"/>
                        </a:tabLst>
                        <a:defRPr sz="1800"/>
                      </a:pPr>
                      <a:r>
                        <a:rPr sz="3000">
                          <a:sym typeface="Times New Roman"/>
                        </a:rPr>
                        <a:t>5/6/26</a:t>
                      </a:r>
                    </a:p>
                  </a:txBody>
                  <a:tcPr marL="50800" marR="50800" marT="50800" marB="50800" anchor="ctr" horzOverflow="overflow"/>
                </a:tc>
                <a:tc>
                  <a:txBody>
                    <a:bodyPr/>
                    <a:lstStyle/>
                    <a:p>
                      <a:pPr algn="l" defTabSz="914400">
                        <a:tabLst>
                          <a:tab pos="914400" algn="l"/>
                        </a:tabLst>
                        <a:defRPr sz="3000">
                          <a:sym typeface="Times New Roman"/>
                        </a:defRPr>
                      </a:pPr>
                      <a:r>
                        <a:rPr>
                          <a:solidFill>
                            <a:srgbClr val="1D2FEB"/>
                          </a:solidFill>
                        </a:rPr>
                        <a:t>Checkpoint #6:</a:t>
                      </a:r>
                      <a:r>
                        <a:t> Submission of final report (PDF) and link to repo</a:t>
                      </a:r>
                    </a:p>
                  </a:txBody>
                  <a:tcPr marL="50800" marR="50800" marT="50800" marB="50800" anchor="ctr" horzOverflow="overflow"/>
                </a:tc>
                <a:extLst>
                  <a:ext uri="{0D108BD9-81ED-4DB2-BD59-A6C34878D82A}">
                    <a16:rowId xmlns:a16="http://schemas.microsoft.com/office/drawing/2014/main" val="10006"/>
                  </a:ext>
                </a:extLst>
              </a:tr>
              <a:tr h="910773">
                <a:tc>
                  <a:txBody>
                    <a:bodyPr/>
                    <a:lstStyle/>
                    <a:p>
                      <a:pPr defTabSz="914400">
                        <a:tabLst>
                          <a:tab pos="914400" algn="l"/>
                        </a:tabLst>
                        <a:defRPr sz="1800"/>
                      </a:pPr>
                      <a:r>
                        <a:rPr sz="3000">
                          <a:sym typeface="Times New Roman"/>
                        </a:rPr>
                        <a:t>5/7/26</a:t>
                      </a:r>
                    </a:p>
                  </a:txBody>
                  <a:tcPr marL="50800" marR="50800" marT="50800" marB="50800" anchor="ctr" horzOverflow="overflow"/>
                </a:tc>
                <a:tc>
                  <a:txBody>
                    <a:bodyPr/>
                    <a:lstStyle/>
                    <a:p>
                      <a:pPr algn="l" defTabSz="914400">
                        <a:tabLst>
                          <a:tab pos="914400" algn="l"/>
                        </a:tabLst>
                        <a:defRPr sz="3000">
                          <a:sym typeface="Times New Roman"/>
                        </a:defRPr>
                      </a:pPr>
                      <a:r>
                        <a:rPr dirty="0">
                          <a:solidFill>
                            <a:srgbClr val="008900"/>
                          </a:solidFill>
                        </a:rPr>
                        <a:t>Checkpoint #7:</a:t>
                      </a:r>
                      <a:r>
                        <a:rPr dirty="0"/>
                        <a:t> Submission of Self- &amp; Peer-Evaluations</a:t>
                      </a:r>
                    </a:p>
                  </a:txBody>
                  <a:tcPr marL="50800" marR="50800" marT="50800" marB="50800" anchor="ctr" horzOverflow="overflow"/>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55</a:t>
            </a:fld>
            <a:endParaRPr/>
          </a:p>
        </p:txBody>
      </p:sp>
      <p:sp>
        <p:nvSpPr>
          <p:cNvPr id="415" name="Homework"/>
          <p:cNvSpPr txBox="1">
            <a:spLocks noGrp="1"/>
          </p:cNvSpPr>
          <p:nvPr>
            <p:ph type="title"/>
          </p:nvPr>
        </p:nvSpPr>
        <p:spPr>
          <a:prstGeom prst="rect">
            <a:avLst/>
          </a:prstGeom>
        </p:spPr>
        <p:txBody>
          <a:bodyPr/>
          <a:lstStyle/>
          <a:p>
            <a:r>
              <a:t>Homework</a:t>
            </a:r>
          </a:p>
        </p:txBody>
      </p:sp>
      <p:sp>
        <p:nvSpPr>
          <p:cNvPr id="416" name="Assignments…"/>
          <p:cNvSpPr txBox="1"/>
          <p:nvPr/>
        </p:nvSpPr>
        <p:spPr>
          <a:xfrm>
            <a:off x="263797" y="1445481"/>
            <a:ext cx="11969205" cy="3302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l">
              <a:defRPr sz="3200">
                <a:solidFill>
                  <a:srgbClr val="000004"/>
                </a:solidFill>
                <a:latin typeface="Franklin Gothic Medium"/>
                <a:ea typeface="Franklin Gothic Medium"/>
                <a:cs typeface="Franklin Gothic Medium"/>
                <a:sym typeface="Franklin Gothic Medium"/>
              </a:defRPr>
            </a:pPr>
            <a:r>
              <a:t>Assignments</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HW #4.4: GitHub Practice</a:t>
            </a:r>
          </a:p>
          <a:p>
            <a:pPr marL="1465384" lvl="1" indent="-703384" algn="l">
              <a:buSzPct val="171000"/>
              <a:buChar char="•"/>
              <a:defRPr sz="3200">
                <a:solidFill>
                  <a:srgbClr val="000004"/>
                </a:solidFill>
                <a:latin typeface="Franklin Gothic Medium"/>
                <a:ea typeface="Franklin Gothic Medium"/>
                <a:cs typeface="Franklin Gothic Medium"/>
                <a:sym typeface="Franklin Gothic Medium"/>
              </a:defRPr>
            </a:pPr>
            <a:r>
              <a:t>Due by 11:59pm, Friday, April 17, 2026</a:t>
            </a:r>
          </a:p>
          <a:p>
            <a:pPr marL="1465384" lvl="1" indent="-703384" algn="l">
              <a:buSzPct val="171000"/>
              <a:buChar char="•"/>
              <a:defRPr sz="3200">
                <a:solidFill>
                  <a:srgbClr val="000004"/>
                </a:solidFill>
                <a:latin typeface="Franklin Gothic Medium"/>
                <a:ea typeface="Franklin Gothic Medium"/>
                <a:cs typeface="Franklin Gothic Medium"/>
                <a:sym typeface="Franklin Gothic Medium"/>
              </a:defRPr>
            </a:pPr>
            <a:r>
              <a:t>Be sure to enter the URL to your repo in the first question of the assignment.</a:t>
            </a:r>
          </a:p>
          <a:p>
            <a:pPr marL="508000" indent="-508000" algn="l">
              <a:buSzPct val="171000"/>
              <a:buChar char="•"/>
              <a:defRPr sz="3200">
                <a:solidFill>
                  <a:srgbClr val="000004"/>
                </a:solidFill>
                <a:latin typeface="Franklin Gothic Medium"/>
                <a:ea typeface="Franklin Gothic Medium"/>
                <a:cs typeface="Franklin Gothic Medium"/>
                <a:sym typeface="Franklin Gothic Medium"/>
              </a:defRPr>
            </a:pPr>
            <a:r>
              <a:t>Talk with people to form your groups first thing Monday; you MUST be present in order to join a group.</a:t>
            </a:r>
          </a:p>
        </p:txBody>
      </p:sp>
    </p:spTree>
  </p:cSld>
  <p:clrMapOvr>
    <a:masterClrMapping/>
  </p:clrMapOvr>
  <mc:AlternateContent xmlns:mc="http://schemas.openxmlformats.org/markup-compatibility/2006" xmlns:p14="http://schemas.microsoft.com/office/powerpoint/2010/main">
    <mc:Choice Requires="p14">
      <p:transition spd="slow" p14:dur="1500">
        <p:fade/>
      </p:transition>
    </mc:Choice>
    <mc:Fallback xmlns:a14="http://schemas.microsoft.com/office/drawing/2010/main" xmlns:m="http://schemas.openxmlformats.org/officeDocument/2006/math"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hite">
  <a:themeElements>
    <a:clrScheme name="White">
      <a:dk1>
        <a:srgbClr val="1E407C"/>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Rockwell"/>
        <a:ea typeface="Rockwell"/>
        <a:cs typeface="Rockwell"/>
      </a:majorFont>
      <a:minorFont>
        <a:latin typeface="Rockwell"/>
        <a:ea typeface="Rockwell"/>
        <a:cs typeface="Rockwel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25400" rotWithShape="0">
              <a:srgbClr val="000000">
                <a:alpha val="50000"/>
              </a:srgbClr>
            </a:outerShdw>
          </a:effectLst>
        </a:effectStyle>
        <a:effectStyle>
          <a:effectLst>
            <a:outerShdw blurRad="25400" dist="127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solidFill>
            <a:srgbClr val="000000"/>
          </a:solidFill>
          <a:prstDash val="solid"/>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1E407C"/>
            </a:solidFill>
            <a:effectLst/>
            <a:uFillTx/>
            <a:latin typeface="Rockwell Bold"/>
            <a:ea typeface="Rockwell Bold"/>
            <a:cs typeface="Rockwell Bold"/>
            <a:sym typeface="Rockwell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Rockwell"/>
        <a:ea typeface="Rockwell"/>
        <a:cs typeface="Rockwell"/>
      </a:majorFont>
      <a:minorFont>
        <a:latin typeface="Rockwell"/>
        <a:ea typeface="Rockwell"/>
        <a:cs typeface="Rockwel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25400" rotWithShape="0">
              <a:srgbClr val="000000">
                <a:alpha val="50000"/>
              </a:srgbClr>
            </a:outerShdw>
          </a:effectLst>
        </a:effectStyle>
        <a:effectStyle>
          <a:effectLst>
            <a:outerShdw blurRad="25400" dist="127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solidFill>
            <a:srgbClr val="000000"/>
          </a:solidFill>
          <a:prstDash val="solid"/>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1E407C"/>
            </a:solidFill>
            <a:effectLst/>
            <a:uFillTx/>
            <a:latin typeface="Rockwell Bold"/>
            <a:ea typeface="Rockwell Bold"/>
            <a:cs typeface="Rockwell Bold"/>
            <a:sym typeface="Rockwell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1c51596-f30e-498a-bd78-1c3673e5420f" xsi:nil="true"/>
    <lcf76f155ced4ddcb4097134ff3c332f xmlns="98c0ccd4-65d7-4eba-ba49-a1ad4d2ac54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C92F981803B1A4C96544B4905F624A5" ma:contentTypeVersion="12" ma:contentTypeDescription="Create a new document." ma:contentTypeScope="" ma:versionID="80c54429c1845a16bdf37849ad5aebd8">
  <xsd:schema xmlns:xsd="http://www.w3.org/2001/XMLSchema" xmlns:xs="http://www.w3.org/2001/XMLSchema" xmlns:p="http://schemas.microsoft.com/office/2006/metadata/properties" xmlns:ns2="98c0ccd4-65d7-4eba-ba49-a1ad4d2ac54f" xmlns:ns3="b1c51596-f30e-498a-bd78-1c3673e5420f" targetNamespace="http://schemas.microsoft.com/office/2006/metadata/properties" ma:root="true" ma:fieldsID="f70f8e8c71177ac27f1fa1b1900b6a50" ns2:_="" ns3:_="">
    <xsd:import namespace="98c0ccd4-65d7-4eba-ba49-a1ad4d2ac54f"/>
    <xsd:import namespace="b1c51596-f30e-498a-bd78-1c3673e5420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c0ccd4-65d7-4eba-ba49-a1ad4d2ac5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8b28469-8996-4088-bd89-44d87d6385e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1c51596-f30e-498a-bd78-1c3673e5420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1539ae3e-bb04-4453-acf9-9ff9a62612b2}" ma:internalName="TaxCatchAll" ma:showField="CatchAllData" ma:web="b1c51596-f30e-498a-bd78-1c3673e5420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E88713-40E0-40B1-9B35-198FBC70A5A0}">
  <ds:schemaRefs>
    <ds:schemaRef ds:uri="http://schemas.microsoft.com/sharepoint/v3/contenttype/forms"/>
  </ds:schemaRefs>
</ds:datastoreItem>
</file>

<file path=customXml/itemProps2.xml><?xml version="1.0" encoding="utf-8"?>
<ds:datastoreItem xmlns:ds="http://schemas.openxmlformats.org/officeDocument/2006/customXml" ds:itemID="{1C9DB6E2-6B89-4917-81ED-E3BD0F9028A6}">
  <ds:schemaRefs>
    <ds:schemaRef ds:uri="http://schemas.microsoft.com/office/2006/metadata/properties"/>
    <ds:schemaRef ds:uri="http://schemas.microsoft.com/office/infopath/2007/PartnerControls"/>
    <ds:schemaRef ds:uri="b1c51596-f30e-498a-bd78-1c3673e5420f"/>
    <ds:schemaRef ds:uri="98c0ccd4-65d7-4eba-ba49-a1ad4d2ac54f"/>
  </ds:schemaRefs>
</ds:datastoreItem>
</file>

<file path=customXml/itemProps3.xml><?xml version="1.0" encoding="utf-8"?>
<ds:datastoreItem xmlns:ds="http://schemas.openxmlformats.org/officeDocument/2006/customXml" ds:itemID="{432E9910-C107-4AC3-9283-21A8CEC553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c0ccd4-65d7-4eba-ba49-a1ad4d2ac54f"/>
    <ds:schemaRef ds:uri="b1c51596-f30e-498a-bd78-1c3673e542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TotalTime>
  <Words>4948</Words>
  <Application>Microsoft Macintosh PowerPoint</Application>
  <PresentationFormat>Custom</PresentationFormat>
  <Paragraphs>468</Paragraphs>
  <Slides>55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Rockwell Bold</vt:lpstr>
      <vt:lpstr>Franklin Gothic Medium</vt:lpstr>
      <vt:lpstr>Lucida Grande</vt:lpstr>
      <vt:lpstr>Monaco</vt:lpstr>
      <vt:lpstr>Rockwell</vt:lpstr>
      <vt:lpstr>Times New Roman</vt:lpstr>
      <vt:lpstr>White</vt:lpstr>
      <vt:lpstr>Plan for the Day</vt:lpstr>
      <vt:lpstr>More with GitHub</vt:lpstr>
      <vt:lpstr>Git Branches</vt:lpstr>
      <vt:lpstr>Branches</vt:lpstr>
      <vt:lpstr>Let's Practice</vt:lpstr>
      <vt:lpstr>Writing Meaningful Commit Messages</vt:lpstr>
      <vt:lpstr>Writing Commit Messages</vt:lpstr>
      <vt:lpstr>Let's Practice</vt:lpstr>
      <vt:lpstr>Let's Practice</vt:lpstr>
      <vt:lpstr>Let's Practice</vt:lpstr>
      <vt:lpstr>Self-Check</vt:lpstr>
      <vt:lpstr>Pull Requests</vt:lpstr>
      <vt:lpstr>Pull Requests</vt:lpstr>
      <vt:lpstr>Pull Requests</vt:lpstr>
      <vt:lpstr>Updating Branches from Main</vt:lpstr>
      <vt:lpstr>Homework</vt:lpstr>
      <vt:lpstr>Plan for the Day</vt:lpstr>
      <vt:lpstr>The README</vt:lpstr>
      <vt:lpstr>README</vt:lpstr>
      <vt:lpstr>Create a README</vt:lpstr>
      <vt:lpstr>Issues in GitHub</vt:lpstr>
      <vt:lpstr>GitHub Issues</vt:lpstr>
      <vt:lpstr>Create an Issue</vt:lpstr>
      <vt:lpstr>Resolving Issues</vt:lpstr>
      <vt:lpstr>Additional GitHub Options</vt:lpstr>
      <vt:lpstr>Coming Full Circle: PCIP and Version Control</vt:lpstr>
      <vt:lpstr>Plan-Code-Improve-Polish</vt:lpstr>
      <vt:lpstr>PCIP and Open Science</vt:lpstr>
      <vt:lpstr>Adding Version Control to Your Plans</vt:lpstr>
      <vt:lpstr>GitHub Practice</vt:lpstr>
      <vt:lpstr>HW #4.4</vt:lpstr>
      <vt:lpstr>Homework</vt:lpstr>
      <vt:lpstr>Plan for the Day</vt:lpstr>
      <vt:lpstr>Making Your Code Production Ready</vt:lpstr>
      <vt:lpstr>PCIP and Production Ready Code</vt:lpstr>
      <vt:lpstr>Key Tools</vt:lpstr>
      <vt:lpstr>Linting</vt:lpstr>
      <vt:lpstr>Linting</vt:lpstr>
      <vt:lpstr>Linting</vt:lpstr>
      <vt:lpstr>Linting Example</vt:lpstr>
      <vt:lpstr>Linting Defaults</vt:lpstr>
      <vt:lpstr>Strategies for Working in Teams</vt:lpstr>
      <vt:lpstr>Coding/Data Analysis in Teams</vt:lpstr>
      <vt:lpstr>Pair Programming</vt:lpstr>
      <vt:lpstr>Code Headers</vt:lpstr>
      <vt:lpstr>Code Headers Example</vt:lpstr>
      <vt:lpstr>Giving Credit</vt:lpstr>
      <vt:lpstr>Giving Credit</vt:lpstr>
      <vt:lpstr>Course Project</vt:lpstr>
      <vt:lpstr>Congratulations!</vt:lpstr>
      <vt:lpstr>Project Elements</vt:lpstr>
      <vt:lpstr>Project Data</vt:lpstr>
      <vt:lpstr>Additional Guidelines</vt:lpstr>
      <vt:lpstr>Key Dates</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for the Day</dc:title>
  <cp:lastModifiedBy>Li, Shubo</cp:lastModifiedBy>
  <cp:revision>1</cp:revision>
  <dcterms:modified xsi:type="dcterms:W3CDTF">2026-04-13T01:52:48Z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0x0101007C92F981803B1A4C96544B4905F624A5</vt:lpwstr>
  </property>
</Properties>
</file>